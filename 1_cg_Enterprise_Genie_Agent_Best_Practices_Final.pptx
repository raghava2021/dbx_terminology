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1d680bcab4f4f08" /><Relationship Type="http://schemas.openxmlformats.org/officeDocument/2006/relationships/extended-properties" Target="/docProps/app.xml" Id="Rcd540b3d4162418e" /><Relationship Type="http://schemas.openxmlformats.org/officeDocument/2006/relationships/officeDocument" Target="/ppt/presentation.xml" Id="R450cee976583457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3746d0311014b79"/>
  </p:sldMasterIdLst>
  <p:notesMasterIdLst>
    <p:notesMasterId xmlns:r="http://schemas.openxmlformats.org/officeDocument/2006/relationships" r:id="R454d0cd707e3405b"/>
  </p:notesMasterIdLst>
  <p:sldIdLst>
    <p:sldId xmlns:r="http://schemas.openxmlformats.org/officeDocument/2006/relationships" id="256" r:id="Rc4d5da0c5ddf46f1"/>
    <p:sldId xmlns:r="http://schemas.openxmlformats.org/officeDocument/2006/relationships" id="257" r:id="Rac5f56fa8da34693"/>
    <p:sldId xmlns:r="http://schemas.openxmlformats.org/officeDocument/2006/relationships" id="258" r:id="Ree5612899bb04896"/>
    <p:sldId xmlns:r="http://schemas.openxmlformats.org/officeDocument/2006/relationships" id="259" r:id="R824b71cca1414bd5"/>
    <p:sldId xmlns:r="http://schemas.openxmlformats.org/officeDocument/2006/relationships" id="260" r:id="Rca993c0a39cc410b"/>
    <p:sldId xmlns:r="http://schemas.openxmlformats.org/officeDocument/2006/relationships" id="261" r:id="R7e58a77730ba4c73"/>
    <p:sldId xmlns:r="http://schemas.openxmlformats.org/officeDocument/2006/relationships" id="262" r:id="Rad9b3b03490f4508"/>
    <p:sldId xmlns:r="http://schemas.openxmlformats.org/officeDocument/2006/relationships" id="263" r:id="Re273b5a581484ad6"/>
    <p:sldId xmlns:r="http://schemas.openxmlformats.org/officeDocument/2006/relationships" id="264" r:id="Rae0e754eb8894e91"/>
    <p:sldId xmlns:r="http://schemas.openxmlformats.org/officeDocument/2006/relationships" id="265" r:id="Rca64382e46714b0b"/>
    <p:sldId xmlns:r="http://schemas.openxmlformats.org/officeDocument/2006/relationships" id="266" r:id="R7ad2c2133dea46d6"/>
    <p:sldId xmlns:r="http://schemas.openxmlformats.org/officeDocument/2006/relationships" id="267" r:id="R200110eea66f4706"/>
    <p:sldId xmlns:r="http://schemas.openxmlformats.org/officeDocument/2006/relationships" id="268" r:id="R2d2886c59b274ec1"/>
    <p:sldId xmlns:r="http://schemas.openxmlformats.org/officeDocument/2006/relationships" id="269" r:id="R51b5d21a63e549e1"/>
    <p:sldId xmlns:r="http://schemas.openxmlformats.org/officeDocument/2006/relationships" id="270" r:id="R8c4e03332a124ed3"/>
    <p:sldId xmlns:r="http://schemas.openxmlformats.org/officeDocument/2006/relationships" id="271" r:id="R7a559ffc1caa4e95"/>
    <p:sldId xmlns:r="http://schemas.openxmlformats.org/officeDocument/2006/relationships" id="272" r:id="R02ea2e5cb7e54fda"/>
    <p:sldId xmlns:r="http://schemas.openxmlformats.org/officeDocument/2006/relationships" id="273" r:id="R29b68477de6f4179"/>
    <p:sldId xmlns:r="http://schemas.openxmlformats.org/officeDocument/2006/relationships" id="274" r:id="R0955106b728b4295"/>
    <p:sldId xmlns:r="http://schemas.openxmlformats.org/officeDocument/2006/relationships" id="275" r:id="R0967e9f92bd2499e"/>
    <p:sldId xmlns:r="http://schemas.openxmlformats.org/officeDocument/2006/relationships" id="276" r:id="Rcc2ba86208624024"/>
    <p:sldId xmlns:r="http://schemas.openxmlformats.org/officeDocument/2006/relationships" id="277" r:id="Re59002d2ffeb4e0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7e3d439277f4d5f" /><Relationship Type="http://schemas.openxmlformats.org/officeDocument/2006/relationships/slideMaster" Target="/ppt/slideMasters/slideMaster1.xml" Id="Rc3746d0311014b79" /><Relationship Type="http://schemas.openxmlformats.org/officeDocument/2006/relationships/notesMaster" Target="/ppt/notesMasters/notesMaster1.xml" Id="R454d0cd707e3405b" /><Relationship Type="http://schemas.openxmlformats.org/officeDocument/2006/relationships/presProps" Target="/ppt/presProps.xml" Id="Rdb8582dd6e044dec" /><Relationship Type="http://schemas.openxmlformats.org/officeDocument/2006/relationships/tableStyles" Target="/ppt/tableStyles.xml" Id="Rea813ce298de46a6" /><Relationship Type="http://schemas.openxmlformats.org/officeDocument/2006/relationships/slide" Target="/ppt/slides/slide1.xml" Id="Rc4d5da0c5ddf46f1" /><Relationship Type="http://schemas.openxmlformats.org/officeDocument/2006/relationships/slide" Target="/ppt/slides/slide2.xml" Id="Rac5f56fa8da34693" /><Relationship Type="http://schemas.openxmlformats.org/officeDocument/2006/relationships/slide" Target="/ppt/slides/slide3.xml" Id="Ree5612899bb04896" /><Relationship Type="http://schemas.openxmlformats.org/officeDocument/2006/relationships/slide" Target="/ppt/slides/slide4.xml" Id="R824b71cca1414bd5" /><Relationship Type="http://schemas.openxmlformats.org/officeDocument/2006/relationships/slide" Target="/ppt/slides/slide5.xml" Id="Rca993c0a39cc410b" /><Relationship Type="http://schemas.openxmlformats.org/officeDocument/2006/relationships/slide" Target="/ppt/slides/slide6.xml" Id="R7e58a77730ba4c73" /><Relationship Type="http://schemas.openxmlformats.org/officeDocument/2006/relationships/slide" Target="/ppt/slides/slide7.xml" Id="Rad9b3b03490f4508" /><Relationship Type="http://schemas.openxmlformats.org/officeDocument/2006/relationships/slide" Target="/ppt/slides/slide8.xml" Id="Re273b5a581484ad6" /><Relationship Type="http://schemas.openxmlformats.org/officeDocument/2006/relationships/slide" Target="/ppt/slides/slide9.xml" Id="Rae0e754eb8894e91" /><Relationship Type="http://schemas.openxmlformats.org/officeDocument/2006/relationships/slide" Target="/ppt/slides/slide10.xml" Id="Rca64382e46714b0b" /><Relationship Type="http://schemas.openxmlformats.org/officeDocument/2006/relationships/slide" Target="/ppt/slides/slide11.xml" Id="R7ad2c2133dea46d6" /><Relationship Type="http://schemas.openxmlformats.org/officeDocument/2006/relationships/slide" Target="/ppt/slides/slide12.xml" Id="R200110eea66f4706" /><Relationship Type="http://schemas.openxmlformats.org/officeDocument/2006/relationships/slide" Target="/ppt/slides/slide13.xml" Id="R2d2886c59b274ec1" /><Relationship Type="http://schemas.openxmlformats.org/officeDocument/2006/relationships/slide" Target="/ppt/slides/slide14.xml" Id="R51b5d21a63e549e1" /><Relationship Type="http://schemas.openxmlformats.org/officeDocument/2006/relationships/slide" Target="/ppt/slides/slide15.xml" Id="R8c4e03332a124ed3" /><Relationship Type="http://schemas.openxmlformats.org/officeDocument/2006/relationships/slide" Target="/ppt/slides/slide16.xml" Id="R7a559ffc1caa4e95" /><Relationship Type="http://schemas.openxmlformats.org/officeDocument/2006/relationships/slide" Target="/ppt/slides/slide17.xml" Id="R02ea2e5cb7e54fda" /><Relationship Type="http://schemas.openxmlformats.org/officeDocument/2006/relationships/slide" Target="/ppt/slides/slide18.xml" Id="R29b68477de6f4179" /><Relationship Type="http://schemas.openxmlformats.org/officeDocument/2006/relationships/slide" Target="/ppt/slides/slide19.xml" Id="R0955106b728b4295" /><Relationship Type="http://schemas.openxmlformats.org/officeDocument/2006/relationships/slide" Target="/ppt/slides/slide20.xml" Id="R0967e9f92bd2499e" /><Relationship Type="http://schemas.openxmlformats.org/officeDocument/2006/relationships/slide" Target="/ppt/slides/slide21.xml" Id="Rcc2ba86208624024" /><Relationship Type="http://schemas.openxmlformats.org/officeDocument/2006/relationships/slide" Target="/ppt/slides/slide22.xml" Id="Re59002d2ffeb4e0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0165795fed4441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719e1383b774ad4" /><Relationship Type="http://schemas.openxmlformats.org/officeDocument/2006/relationships/notesMaster" Target="/ppt/notesMasters/notesMaster1.xml" Id="Radb0a094eb4a458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32badaf6bed484c" /><Relationship Type="http://schemas.openxmlformats.org/officeDocument/2006/relationships/notesMaster" Target="/ppt/notesMasters/notesMaster1.xml" Id="Re293ce3fbe8a43a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317e0a321574a00" /><Relationship Type="http://schemas.openxmlformats.org/officeDocument/2006/relationships/notesMaster" Target="/ppt/notesMasters/notesMaster1.xml" Id="Rc2a5ba922d9649a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7010c20aab840d7" /><Relationship Type="http://schemas.openxmlformats.org/officeDocument/2006/relationships/notesMaster" Target="/ppt/notesMasters/notesMaster1.xml" Id="R50274c2de41246e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3b67c75eb144d1d" /><Relationship Type="http://schemas.openxmlformats.org/officeDocument/2006/relationships/notesMaster" Target="/ppt/notesMasters/notesMaster1.xml" Id="R112bf0361aad42c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2e265558c3b40e8" /><Relationship Type="http://schemas.openxmlformats.org/officeDocument/2006/relationships/notesMaster" Target="/ppt/notesMasters/notesMaster1.xml" Id="Rcc6e45f347d7405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54065a9c04d4db1" /><Relationship Type="http://schemas.openxmlformats.org/officeDocument/2006/relationships/notesMaster" Target="/ppt/notesMasters/notesMaster1.xml" Id="Rb2c031cc47fd423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5cde1226fcd42af" /><Relationship Type="http://schemas.openxmlformats.org/officeDocument/2006/relationships/notesMaster" Target="/ppt/notesMasters/notesMaster1.xml" Id="Rd5950f8c04a14e5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4ef062a1c474fe9" /><Relationship Type="http://schemas.openxmlformats.org/officeDocument/2006/relationships/notesMaster" Target="/ppt/notesMasters/notesMaster1.xml" Id="Rf90bf12fd2d64c7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8a995b8cf4b443e" /><Relationship Type="http://schemas.openxmlformats.org/officeDocument/2006/relationships/notesMaster" Target="/ppt/notesMasters/notesMaster1.xml" Id="R0a858cf3c8594ae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7c3e7aa5cb34c81" /><Relationship Type="http://schemas.openxmlformats.org/officeDocument/2006/relationships/notesMaster" Target="/ppt/notesMasters/notesMaster1.xml" Id="R847e5ddfeb104f0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d26e94772ca4aeb" /><Relationship Type="http://schemas.openxmlformats.org/officeDocument/2006/relationships/notesMaster" Target="/ppt/notesMasters/notesMaster1.xml" Id="Rdf30be0665ba42e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aef250a6158491b" /><Relationship Type="http://schemas.openxmlformats.org/officeDocument/2006/relationships/notesMaster" Target="/ppt/notesMasters/notesMaster1.xml" Id="Rf74be372ab734ec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0f3d63c49b74fc0" /><Relationship Type="http://schemas.openxmlformats.org/officeDocument/2006/relationships/notesMaster" Target="/ppt/notesMasters/notesMaster1.xml" Id="R74e5148733df4b7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eeaba43b3f2474b" /><Relationship Type="http://schemas.openxmlformats.org/officeDocument/2006/relationships/notesMaster" Target="/ppt/notesMasters/notesMaster1.xml" Id="R2804a98e11904a8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33b2bde6dc54263" /><Relationship Type="http://schemas.openxmlformats.org/officeDocument/2006/relationships/notesMaster" Target="/ppt/notesMasters/notesMaster1.xml" Id="R09ca2a37a859434c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ee7f63509dc4bd3" /><Relationship Type="http://schemas.openxmlformats.org/officeDocument/2006/relationships/notesMaster" Target="/ppt/notesMasters/notesMaster1.xml" Id="R64c9493da33945cb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d84d93d8d614a8a" /><Relationship Type="http://schemas.openxmlformats.org/officeDocument/2006/relationships/notesMaster" Target="/ppt/notesMasters/notesMaster1.xml" Id="Rccd1f90b486945ab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d4b96fa15bbd4619" /><Relationship Type="http://schemas.openxmlformats.org/officeDocument/2006/relationships/notesMaster" Target="/ppt/notesMasters/notesMaster1.xml" Id="Rbde810002a8d4988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6489fd6fd51f402a" /><Relationship Type="http://schemas.openxmlformats.org/officeDocument/2006/relationships/notesMaster" Target="/ppt/notesMasters/notesMaster1.xml" Id="R0a6ebe1fa4d1442a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cfcfed6d462c4cac" /><Relationship Type="http://schemas.openxmlformats.org/officeDocument/2006/relationships/notesMaster" Target="/ppt/notesMasters/notesMaster1.xml" Id="R71d6276d564a418d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c1d5eef2315544bc" /><Relationship Type="http://schemas.openxmlformats.org/officeDocument/2006/relationships/notesMaster" Target="/ppt/notesMasters/notesMaster1.xml" Id="R1a45ff1df36f4c2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https://github.com/databricks/databricks-agent-skills/blob/e0af9245dd88c9d2c1c6a2de9f7133beac0cdb2d/skills/databricks-genie-agents/references/create-genie-agent.md</a:t>
            </a:r>
          </a:p>
          <a:p xmlns:a="http://schemas.openxmlformats.org/drawingml/2006/main">
            <a:r>
              <a:t>- https://learn.microsoft.com/en-us/azure/databricks/genie-agents/best-practices</a:t>
            </a:r>
          </a:p>
          <a:p xmlns:a="http://schemas.openxmlformats.org/drawingml/2006/main">
            <a:r>
              <a:t>- https://learn.microsoft.com/en-us/azure/databricks/genie-agents/set-up</a:t>
            </a:r>
          </a:p>
          <a:p xmlns:a="http://schemas.openxmlformats.org/drawingml/2006/main">
            <a:r>
              <a:t>- https://learn.microsoft.com/en-us/azure/databricks/genie-agents/tune-quality</a:t>
            </a:r>
          </a:p>
          <a:p xmlns:a="http://schemas.openxmlformats.org/drawingml/2006/main">
            <a:r>
              <a:t>- https://learn.microsoft.com/en-us/azure/databricks/genie-agents/monitor</a:t>
            </a:r>
          </a:p>
          <a:p xmlns:a="http://schemas.openxmlformats.org/drawingml/2006/main">
            <a:r>
              <a:t>- https://learn.microsoft.com/en-us/azure/databricks/uc-semantics/metric-views/</a:t>
            </a:r>
          </a:p>
          <a:p xmlns:a="http://schemas.openxmlformats.org/drawingml/2006/main">
            <a:r>
              <a:t>- https://learn.microsoft.com/en-us/azure/databricks/dev-tools/bundles/resources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https://github.com/databricks/databricks-agent-skills/blob/e0af9245dd88c9d2c1c6a2de9f7133beac0cdb2d/skills/databricks-genie-agents/references/create-genie-agent.md</a:t>
            </a:r>
          </a:p>
          <a:p xmlns:a="http://schemas.openxmlformats.org/drawingml/2006/main">
            <a:r>
              <a:t>- https://learn.microsoft.com/en-us/azure/databricks/genie-agents/best-practices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https://github.com/databricks/databricks-agent-skills/blob/e0af9245dd88c9d2c1c6a2de9f7133beac0cdb2d/skills/databricks-genie-agents/references/create-genie-agent.md</a:t>
            </a:r>
          </a:p>
          <a:p xmlns:a="http://schemas.openxmlformats.org/drawingml/2006/main">
            <a:r>
              <a:t>- https://learn.microsoft.com/en-us/azure/databricks/genie-agents/best-practices</a:t>
            </a:r>
          </a:p>
          <a:p xmlns:a="http://schemas.openxmlformats.org/drawingml/2006/main">
            <a:r>
              <a:t>- https://learn.microsoft.com/en-us/azure/databricks/genie-agents/set-up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https://github.com/databricks/databricks-agent-skills/blob/e0af9245dd88c9d2c1c6a2de9f7133beac0cdb2d/skills/databricks-genie-agents/references/create-genie-agent.md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https://github.com/databricks/databricks-agent-skills/blob/e0af9245dd88c9d2c1c6a2de9f7133beac0cdb2d/skills/databricks-genie-agents/references/create-genie-agent.md</a:t>
            </a:r>
          </a:p>
          <a:p xmlns:a="http://schemas.openxmlformats.org/drawingml/2006/main">
            <a:r>
              <a:t>- https://learn.microsoft.com/en-us/azure/databricks/genie-agents/best-practices</a:t>
            </a:r>
          </a:p>
          <a:p xmlns:a="http://schemas.openxmlformats.org/drawingml/2006/main">
            <a:r>
              <a:t>- https://learn.microsoft.com/en-us/azure/databricks/genie-agents/set-up</a:t>
            </a:r>
          </a:p>
          <a:p xmlns:a="http://schemas.openxmlformats.org/drawingml/2006/main">
            <a:r>
              <a:t>Source precedence: GitHub limit line last changed 28 Aug 2026; official page updated 11 Sep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https://learn.microsoft.com/en-us/azure/databricks/genie-agents/set-up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https://learn.microsoft.com/en-us/azure/databricks/genie-agents/set-up</a:t>
            </a:r>
          </a:p>
          <a:p xmlns:a="http://schemas.openxmlformats.org/drawingml/2006/main">
            <a:r>
              <a:t>- https://learn.microsoft.com/en-us/azure/databricks/genie-agents/best-practices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https://github.com/databricks/databricks-agent-skills/blob/e0af9245dd88c9d2c1c6a2de9f7133beac0cdb2d/skills/databricks-genie-agents/references/create-genie-agent.md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https://github.com/databricks/databricks-agent-skills/blob/e0af9245dd88c9d2c1c6a2de9f7133beac0cdb2d/skills/databricks-genie-agents/references/create-genie-agent.md</a:t>
            </a:r>
          </a:p>
          <a:p xmlns:a="http://schemas.openxmlformats.org/drawingml/2006/main">
            <a:r>
              <a:t>- https://learn.microsoft.com/en-us/azure/databricks/uc-semantics/metric-views/</a:t>
            </a:r>
          </a:p>
          <a:p xmlns:a="http://schemas.openxmlformats.org/drawingml/2006/main">
            <a:r>
              <a:t>- https://learn.microsoft.com/en-us/azure/databricks/genie-agents/best-practices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https://github.com/databricks/databricks-agent-skills/blob/e0af9245dd88c9d2c1c6a2de9f7133beac0cdb2d/skills/databricks-genie-agents/references/create-genie-agent.md</a:t>
            </a:r>
          </a:p>
          <a:p xmlns:a="http://schemas.openxmlformats.org/drawingml/2006/main">
            <a:r>
              <a:t>- https://learn.microsoft.com/en-us/azure/databricks/genie-agents/best-practices</a:t>
            </a:r>
          </a:p>
          <a:p xmlns:a="http://schemas.openxmlformats.org/drawingml/2006/main">
            <a:r>
              <a:t>- https://learn.microsoft.com/en-us/azure/databricks/genie-agents/tune-quality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https://github.com/databricks/databricks-agent-skills/blob/e0af9245dd88c9d2c1c6a2de9f7133beac0cdb2d/skills/databricks-genie-agents/references/create-genie-agent.md</a:t>
            </a:r>
          </a:p>
          <a:p xmlns:a="http://schemas.openxmlformats.org/drawingml/2006/main">
            <a:r>
              <a:t>- https://learn.microsoft.com/en-us/azure/databricks/genie-agents/tune-quality</a:t>
            </a:r>
          </a:p>
          <a:p xmlns:a="http://schemas.openxmlformats.org/drawingml/2006/main">
            <a:r>
              <a:t>Statement dates: GitHub lines 28 Aug 2026; official page 11 Sep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https://learn.microsoft.com/en-us/azure/databricks/genie-agents/tune-quality</a:t>
            </a:r>
          </a:p>
          <a:p xmlns:a="http://schemas.openxmlformats.org/drawingml/2006/main">
            <a:r>
              <a:t>- https://github.com/databricks/databricks-agent-skills/blob/e0af9245dd88c9d2c1c6a2de9f7133beac0cdb2d/skills/databricks-genie-agents/references/create-genie-agent.md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https://github.com/databricks/databricks-agent-skills/blob/e0af9245dd88c9d2c1c6a2de9f7133beac0cdb2d/skills/databricks-genie-agents/references/create-genie-agent.md</a:t>
            </a:r>
          </a:p>
          <a:p xmlns:a="http://schemas.openxmlformats.org/drawingml/2006/main">
            <a:r>
              <a:t>- https://learn.microsoft.com/en-us/azure/databricks/genie-agents/tune-quality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https://github.com/databricks/databricks-agent-skills/blob/e0af9245dd88c9d2c1c6a2de9f7133beac0cdb2d/skills/databricks-genie-agents/references/create-genie-agent.md</a:t>
            </a:r>
          </a:p>
          <a:p xmlns:a="http://schemas.openxmlformats.org/drawingml/2006/main">
            <a:r>
              <a:t>- https://learn.microsoft.com/en-us/azure/databricks/genie-agents/best-practices</a:t>
            </a:r>
          </a:p>
          <a:p xmlns:a="http://schemas.openxmlformats.org/drawingml/2006/main">
            <a:r>
              <a:t>- https://learn.microsoft.com/en-us/azure/databricks/genie-agents/tune-quality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https://github.com/databricks/databricks-agent-skills/blob/e0af9245dd88c9d2c1c6a2de9f7133beac0cdb2d/skills/databricks-genie-agents/references/create-genie-agent.md</a:t>
            </a:r>
          </a:p>
          <a:p xmlns:a="http://schemas.openxmlformats.org/drawingml/2006/main">
            <a:r>
              <a:t>- https://learn.microsoft.com/en-us/azure/databricks/genie-agents/best-practices</a:t>
            </a:r>
          </a:p>
          <a:p xmlns:a="http://schemas.openxmlformats.org/drawingml/2006/main">
            <a:r>
              <a:t>- https://learn.microsoft.com/en-us/azure/databricks/genie-agents/tune-quality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https://github.com/databricks/databricks-agent-skills/blob/e0af9245dd88c9d2c1c6a2de9f7133beac0cdb2d/skills/databricks-genie-agents/references/create-genie-agent.md</a:t>
            </a:r>
          </a:p>
          <a:p xmlns:a="http://schemas.openxmlformats.org/drawingml/2006/main">
            <a:r>
              <a:t>- https://learn.microsoft.com/en-us/azure/databricks/genie-agents/monitor</a:t>
            </a:r>
          </a:p>
          <a:p xmlns:a="http://schemas.openxmlformats.org/drawingml/2006/main">
            <a:r>
              <a:t>- https://learn.microsoft.com/en-us/azure/databricks/genie-agents/best-practices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https://github.com/databricks/databricks-agent-skills/blob/e0af9245dd88c9d2c1c6a2de9f7133beac0cdb2d/skills/databricks-genie-agents/references/create-genie-agent.md</a:t>
            </a:r>
          </a:p>
          <a:p xmlns:a="http://schemas.openxmlformats.org/drawingml/2006/main">
            <a:r>
              <a:t>- https://learn.microsoft.com/en-us/azure/databricks/genie-agents/best-practices</a:t>
            </a:r>
          </a:p>
          <a:p xmlns:a="http://schemas.openxmlformats.org/drawingml/2006/main">
            <a:r>
              <a:t>- https://learn.microsoft.com/en-us/azure/databricks/genie-agents/set-up</a:t>
            </a:r>
          </a:p>
          <a:p xmlns:a="http://schemas.openxmlformats.org/drawingml/2006/main">
            <a:r>
              <a:t>- https://learn.microsoft.com/en-us/azure/databricks/genie-agents/tune-quality</a:t>
            </a:r>
          </a:p>
          <a:p xmlns:a="http://schemas.openxmlformats.org/drawingml/2006/main">
            <a:r>
              <a:t>- https://learn.microsoft.com/en-us/azure/databricks/genie-agents/monitor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https://learn.microsoft.com/en-us/azure/databricks/genie-agents/best-practices</a:t>
            </a:r>
          </a:p>
          <a:p xmlns:a="http://schemas.openxmlformats.org/drawingml/2006/main">
            <a:r>
              <a:t>- https://learn.microsoft.com/en-us/azure/databricks/dev-tools/bundles/resources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https://learn.microsoft.com/en-us/azure/databricks/genie-agents/monitor</a:t>
            </a:r>
          </a:p>
          <a:p xmlns:a="http://schemas.openxmlformats.org/drawingml/2006/main">
            <a:r>
              <a:t>- https://learn.microsoft.com/en-us/azure/databricks/genie-agents/tune-quality</a:t>
            </a:r>
          </a:p>
          <a:p xmlns:a="http://schemas.openxmlformats.org/drawingml/2006/main">
            <a:r>
              <a:t>- https://learn.microsoft.com/en-us/azure/databricks/genie-agents/best-practices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https://github.com/databricks/databricks-agent-skills/blob/e0af9245dd88c9d2c1c6a2de9f7133beac0cdb2d/skills/databricks-genie-agents/references/create-genie-agent.md</a:t>
            </a:r>
          </a:p>
          <a:p xmlns:a="http://schemas.openxmlformats.org/drawingml/2006/main">
            <a:r>
              <a:t>- https://learn.microsoft.com/en-us/azure/databricks/genie-agents/best-practices</a:t>
            </a:r>
          </a:p>
          <a:p xmlns:a="http://schemas.openxmlformats.org/drawingml/2006/main">
            <a:r>
              <a:t>- https://learn.microsoft.com/en-us/azure/databricks/genie-agents/set-up</a:t>
            </a:r>
          </a:p>
          <a:p xmlns:a="http://schemas.openxmlformats.org/drawingml/2006/main">
            <a:r>
              <a:t>- https://learn.microsoft.com/en-us/azure/databricks/genie-agents/tune-quality</a:t>
            </a:r>
          </a:p>
          <a:p xmlns:a="http://schemas.openxmlformats.org/drawingml/2006/main">
            <a:r>
              <a:t>- https://learn.microsoft.com/en-us/azure/databricks/genie-agents/monitor</a:t>
            </a:r>
          </a:p>
          <a:p xmlns:a="http://schemas.openxmlformats.org/drawingml/2006/main">
            <a:r>
              <a:t>- https://learn.microsoft.com/en-us/azure/databricks/dev-tools/bundles/resources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https://github.com/databricks/databricks-agent-skills/blob/e0af9245dd88c9d2c1c6a2de9f7133beac0cdb2d/skills/databricks-genie-agents/references/create-genie-agent.md</a:t>
            </a:r>
          </a:p>
          <a:p xmlns:a="http://schemas.openxmlformats.org/drawingml/2006/main">
            <a:r>
              <a:t>- https://learn.microsoft.com/en-us/azure/databricks/genie-agents/best-practices</a:t>
            </a:r>
          </a:p>
          <a:p xmlns:a="http://schemas.openxmlformats.org/drawingml/2006/main">
            <a:r>
              <a:t>- https://learn.microsoft.com/en-us/azure/databricks/genie-agents/set-up</a:t>
            </a:r>
          </a:p>
          <a:p xmlns:a="http://schemas.openxmlformats.org/drawingml/2006/main">
            <a:r>
              <a:t>- https://learn.microsoft.com/en-us/azure/databricks/genie-agents/tune-quality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https://github.com/databricks/databricks-agent-skills/blob/e0af9245dd88c9d2c1c6a2de9f7133beac0cdb2d/skills/databricks-genie-agents/references/create-genie-agent.md</a:t>
            </a:r>
          </a:p>
          <a:p xmlns:a="http://schemas.openxmlformats.org/drawingml/2006/main">
            <a:r>
              <a:t>- https://learn.microsoft.com/en-us/azure/databricks/genie-agents/best-practices</a:t>
            </a:r>
          </a:p>
          <a:p xmlns:a="http://schemas.openxmlformats.org/drawingml/2006/main">
            <a:r>
              <a:t>- https://learn.microsoft.com/en-us/azure/databricks/genie-agents/set-up</a:t>
            </a:r>
          </a:p>
          <a:p xmlns:a="http://schemas.openxmlformats.org/drawingml/2006/main">
            <a:r>
              <a:t>- https://learn.microsoft.com/en-us/azure/databricks/genie-agents/tune-quality</a:t>
            </a:r>
          </a:p>
          <a:p xmlns:a="http://schemas.openxmlformats.org/drawingml/2006/main">
            <a:r>
              <a:t>- https://learn.microsoft.com/en-us/azure/databricks/genie-agents/monitor</a:t>
            </a:r>
          </a:p>
          <a:p xmlns:a="http://schemas.openxmlformats.org/drawingml/2006/main">
            <a:r>
              <a:t>- https://learn.microsoft.com/en-us/azure/databricks/uc-semantics/metric-views/</a:t>
            </a:r>
          </a:p>
          <a:p xmlns:a="http://schemas.openxmlformats.org/drawingml/2006/main">
            <a:r>
              <a:t>- https://learn.microsoft.com/en-us/azure/databricks/dev-tools/bundles/resources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895d2bf6c6437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a306bfc9eb94876" /><Relationship Type="http://schemas.openxmlformats.org/officeDocument/2006/relationships/slideLayout" Target="/ppt/slideLayouts/slideLayout1.xml" Id="Rad6232066674435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d6232066674435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6dd0beea51453a" /><Relationship Type="http://schemas.openxmlformats.org/officeDocument/2006/relationships/notesSlide" Target="/ppt/notesSlides/notesSlide1.xml" Id="Reb8350d380164af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1454328d324ed7" /><Relationship Type="http://schemas.openxmlformats.org/officeDocument/2006/relationships/notesSlide" Target="/ppt/notesSlides/notesSlide2.xml" Id="R6b1f2165d0804c9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60bb4a5e5346d7" /><Relationship Type="http://schemas.openxmlformats.org/officeDocument/2006/relationships/notesSlide" Target="/ppt/notesSlides/notesSlide3.xml" Id="R4e92399a346749a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9e15569d5148fb" /><Relationship Type="http://schemas.openxmlformats.org/officeDocument/2006/relationships/notesSlide" Target="/ppt/notesSlides/notesSlide4.xml" Id="Rf18e1f977d1c4e6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0ed4dbadbd47ba" /><Relationship Type="http://schemas.openxmlformats.org/officeDocument/2006/relationships/notesSlide" Target="/ppt/notesSlides/notesSlide5.xml" Id="Ra534a46f8b67460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ed8f3a6dc14999" /><Relationship Type="http://schemas.openxmlformats.org/officeDocument/2006/relationships/notesSlide" Target="/ppt/notesSlides/notesSlide6.xml" Id="R45bd88aa940a49e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57954883e74f12" /><Relationship Type="http://schemas.openxmlformats.org/officeDocument/2006/relationships/notesSlide" Target="/ppt/notesSlides/notesSlide7.xml" Id="R3958873d40f7470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ca06939cd543fb" /><Relationship Type="http://schemas.openxmlformats.org/officeDocument/2006/relationships/notesSlide" Target="/ppt/notesSlides/notesSlide8.xml" Id="R720d4fd4489d4a0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5dd37caeba4154" /><Relationship Type="http://schemas.openxmlformats.org/officeDocument/2006/relationships/notesSlide" Target="/ppt/notesSlides/notesSlide9.xml" Id="Rffb5431bf488432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c15427b36443c3" /><Relationship Type="http://schemas.openxmlformats.org/officeDocument/2006/relationships/notesSlide" Target="/ppt/notesSlides/notesSlide10.xml" Id="R2ef2eaef1cc749b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6a57a8e5e2471a" /><Relationship Type="http://schemas.openxmlformats.org/officeDocument/2006/relationships/notesSlide" Target="/ppt/notesSlides/notesSlide11.xml" Id="R8fecb1e343fd46c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bdedb8e4ea420b" /><Relationship Type="http://schemas.openxmlformats.org/officeDocument/2006/relationships/notesSlide" Target="/ppt/notesSlides/notesSlide12.xml" Id="R79d23319563a46e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6537d7333c4ed0" /><Relationship Type="http://schemas.openxmlformats.org/officeDocument/2006/relationships/notesSlide" Target="/ppt/notesSlides/notesSlide13.xml" Id="Rfc8f79d7663c49a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5d17339465483a" /><Relationship Type="http://schemas.openxmlformats.org/officeDocument/2006/relationships/notesSlide" Target="/ppt/notesSlides/notesSlide14.xml" Id="R730cfbba7698470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8b053ec5cd4a3b" /><Relationship Type="http://schemas.openxmlformats.org/officeDocument/2006/relationships/notesSlide" Target="/ppt/notesSlides/notesSlide15.xml" Id="Ra6286d1082df41b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3a4fbfb48d432d" /><Relationship Type="http://schemas.openxmlformats.org/officeDocument/2006/relationships/notesSlide" Target="/ppt/notesSlides/notesSlide16.xml" Id="Rc152386de1e643a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407e17f3ff4696" /><Relationship Type="http://schemas.openxmlformats.org/officeDocument/2006/relationships/notesSlide" Target="/ppt/notesSlides/notesSlide17.xml" Id="Rb4dfe592101548eb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e00404366e4b23" /><Relationship Type="http://schemas.openxmlformats.org/officeDocument/2006/relationships/notesSlide" Target="/ppt/notesSlides/notesSlide18.xml" Id="R5659194e44cc47d3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82e93ee019489a" /><Relationship Type="http://schemas.openxmlformats.org/officeDocument/2006/relationships/notesSlide" Target="/ppt/notesSlides/notesSlide19.xml" Id="R734a132b4b3740dc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7b6a6305604e50" /><Relationship Type="http://schemas.openxmlformats.org/officeDocument/2006/relationships/notesSlide" Target="/ppt/notesSlides/notesSlide20.xml" Id="R4bf2e678be7549e9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caae2f74904023" /><Relationship Type="http://schemas.openxmlformats.org/officeDocument/2006/relationships/notesSlide" Target="/ppt/notesSlides/notesSlide21.xml" Id="Rfafa6fe2ec4742f6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c9d39878aa4491" /><Relationship Type="http://schemas.openxmlformats.org/officeDocument/2006/relationships/notesSlide" Target="/ppt/notesSlides/notesSlide22.xml" Id="R9cbab34805dd49b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76A887-14A0-4628-BB73-B76CF4010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5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D19310-AF3A-48D7-A537-0690AD4A3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753EFB-8EEB-420B-9E4C-533B1B44B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914400"/>
            <a:ext cx="1714500" cy="1714500"/>
          </a:xfrm>
          <a:prstGeom xmlns:a="http://schemas.openxmlformats.org/drawingml/2006/main" prst="roundRect">
            <a:avLst>
              <a:gd name="adj" fmla="val 15556"/>
            </a:avLst>
          </a:prstGeom>
          <a:solidFill xmlns:a="http://schemas.openxmlformats.org/drawingml/2006/main">
            <a:srgbClr val="1677F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32B438-F898-4AB3-8EAF-D1A13BEF7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952750"/>
            <a:ext cx="22860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5A5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AB4E5A-91B2-452E-9E72-93181205F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524250"/>
            <a:ext cx="1143000" cy="1143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D0A39C-DC02-4601-A23D-ABDEF2446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763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86B9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>
                <a:solidFill>
                  <a:srgbClr val="86B9FF"/>
                </a:solidFill>
                <a:latin typeface="Bitstream Charter"/>
                <a:ea typeface="Bitstream Charter"/>
                <a:cs typeface="Bitstream Charter"/>
              </a:rPr>
              <a:t>ENTERPRISE DESIGN AND QUALITY GUIDE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28C7E8-C021-4F1E-9A64-2E9C9A3D7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09700"/>
            <a:ext cx="7143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43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Databricks Genie Agent</a:t>
            </a:r>
          </a:p>
          <a:p xmlns:a="http://schemas.openxmlformats.org/drawingml/2006/main">
            <a:pPr>
              <a:defRPr sz="43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43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Best Practices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856244-4875-40A5-9289-C077CEEF8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33750"/>
            <a:ext cx="6572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D5E4F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0">
                <a:solidFill>
                  <a:srgbClr val="D5E4F2"/>
                </a:solidFill>
                <a:latin typeface="Bitstream Charter"/>
                <a:ea typeface="Bitstream Charter"/>
                <a:cs typeface="Bitstream Charter"/>
              </a:rPr>
              <a:t>Design, governance, testing, deployment, and continuous improvement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A959AE-B550-4649-AF40-632B59239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91125"/>
            <a:ext cx="685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FC6D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AFC6D9"/>
                </a:solidFill>
                <a:latin typeface="Bitstream Charter"/>
                <a:ea typeface="Bitstream Charter"/>
                <a:cs typeface="Bitstream Charter"/>
              </a:rPr>
              <a:t>Source-based guidance verified against Databricks GitHub and official Azure Databricks documentation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EED61D-73C8-4C3F-B4CA-D94CC5F51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960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September 2026</a:t>
            </a:r>
          </a:p>
        </p:txBody>
      </p:sp>
    </p:spTree>
    <p:extLst>
      <p:ext uri="{BB962C8B-B14F-4D97-AF65-F5344CB8AC3E}">
        <p14:creationId xmlns:p14="http://schemas.microsoft.com/office/powerpoint/2010/main" val="210314818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7483666-8F8C-4174-9D66-4FCC438FA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5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5060C0-AAFA-4706-9D63-B07A24FB6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D5FC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0D5FCC"/>
                </a:solidFill>
                <a:latin typeface="Bitstream Charter"/>
                <a:ea typeface="Bitstream Charter"/>
                <a:cs typeface="Bitstream Charter"/>
              </a:rPr>
              <a:t>EXECUTIVE SUMMARY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972339-487D-4ADC-BAE9-CEEC99611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85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Five controls define a quality Genie Agent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13B384-9918-4801-B607-8E6AD2E57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5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F48A4D-891A-4834-9AEA-F695B119A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6657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0">
                <a:solidFill>
                  <a:srgbClr val="566575"/>
                </a:solidFill>
                <a:latin typeface="Bitstream Charter"/>
                <a:ea typeface="Bitstream Charter"/>
                <a:cs typeface="Bitstream Charter"/>
              </a:rPr>
              <a:t>Databricks Genie Agent best practices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DA8299-1538-471B-91D2-6D7BEE277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6657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0">
                <a:solidFill>
                  <a:srgbClr val="566575"/>
                </a:solidFill>
                <a:latin typeface="Bitstream Charter"/>
                <a:ea typeface="Bitstream Charter"/>
                <a:cs typeface="Bitstream Charter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EC9BE0-7A3F-4CE5-B932-DE4DFE8D9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71625"/>
            <a:ext cx="495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677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1677FF"/>
                </a:solidFill>
                <a:latin typeface="Bitstream Charter"/>
                <a:ea typeface="Bitstream Charter"/>
                <a:cs typeface="Bitstream Charter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9782FB-4D52-4946-B9AA-3CAD112A7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504950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Focused scope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6EA4CB-2B44-4FF6-9A7A-54C60F6A7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504950"/>
            <a:ext cx="7124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6657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566575"/>
                </a:solidFill>
                <a:latin typeface="Bitstream Charter"/>
                <a:ea typeface="Bitstream Charter"/>
                <a:cs typeface="Bitstream Charter"/>
              </a:rPr>
              <a:t>One audience and one business domain; begin with five or fewer sources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F9FE9D-242F-4D73-9B62-4B05F6CFF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152650"/>
            <a:ext cx="9848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36E002-9014-42D0-B110-7CA4F542A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47925"/>
            <a:ext cx="495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F766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0F766E"/>
                </a:solidFill>
                <a:latin typeface="Bitstream Charter"/>
                <a:ea typeface="Bitstream Charter"/>
                <a:cs typeface="Bitstream Charter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0EA307-3B23-4AD9-B11A-3A3C162E3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381250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Governed semantics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0C4BEC-0932-47A2-B7A9-458052974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381250"/>
            <a:ext cx="7124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6657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566575"/>
                </a:solidFill>
                <a:latin typeface="Bitstream Charter"/>
                <a:ea typeface="Bitstream Charter"/>
                <a:cs typeface="Bitstream Charter"/>
              </a:rPr>
              <a:t>Use Metric Views and structured definitions before broad text instructions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5B3AFD-0DBD-4A70-A7DA-488B8ED82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028950"/>
            <a:ext cx="9848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EC5111-FD9D-40BA-B908-ECFC6F824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24225"/>
            <a:ext cx="495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B4530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B45309"/>
                </a:solidFill>
                <a:latin typeface="Bitstream Charter"/>
                <a:ea typeface="Bitstream Charter"/>
                <a:cs typeface="Bitstream Charter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25E105-2BDD-477E-B6CA-0A1FC6C5D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257550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Validated context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2D3F6F-B529-4054-BA76-1F5F3E6AE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257550"/>
            <a:ext cx="7124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6657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566575"/>
                </a:solidFill>
                <a:latin typeface="Bitstream Charter"/>
                <a:ea typeface="Bitstream Charter"/>
                <a:cs typeface="Bitstream Charter"/>
              </a:rPr>
              <a:t>Confirm business definitions, joins, fiscal rules, and SQL with evidence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190D6A-9B29-40C5-9CC9-F1B6D2D63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905250"/>
            <a:ext cx="9848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4DA22A-641E-4680-8468-5F6D103CE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00525"/>
            <a:ext cx="495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5A5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FF5A5F"/>
                </a:solidFill>
                <a:latin typeface="Bitstream Charter"/>
                <a:ea typeface="Bitstream Charter"/>
                <a:cs typeface="Bitstream Charter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A9CA19-9129-4B65-8930-B849A138A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133850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Measured quality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2852B7-9B6B-488E-A11D-3949F49F0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133850"/>
            <a:ext cx="7124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6657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566575"/>
                </a:solidFill>
                <a:latin typeface="Bitstream Charter"/>
                <a:ea typeface="Bitstream Charter"/>
                <a:cs typeface="Bitstream Charter"/>
              </a:rPr>
              <a:t>Test realistic questions, inspect generated SQL, and maintain benchmarks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3A17F61-3D39-43EF-9802-B628EA53B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781550"/>
            <a:ext cx="9848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FC1A626-2A8A-4660-AD0D-E686CD9AD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76825"/>
            <a:ext cx="495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24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17324D"/>
                </a:solidFill>
                <a:latin typeface="Bitstream Charter"/>
                <a:ea typeface="Bitstream Charter"/>
                <a:cs typeface="Bitstream Charter"/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B71E32C-8028-462B-959D-FC445F1FA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010150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Controlled lifecycle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32C1583-7C1F-476A-90C0-04E26FA9C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010150"/>
            <a:ext cx="7124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6657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566575"/>
                </a:solidFill>
                <a:latin typeface="Bitstream Charter"/>
                <a:ea typeface="Bitstream Charter"/>
                <a:cs typeface="Bitstream Charter"/>
              </a:rPr>
              <a:t>Approve changes, promote reproducibly, monitor feedback, and refine</a:t>
            </a:r>
          </a:p>
        </p:txBody>
      </p:sp>
    </p:spTree>
    <p:extLst>
      <p:ext uri="{BB962C8B-B14F-4D97-AF65-F5344CB8AC3E}">
        <p14:creationId xmlns:p14="http://schemas.microsoft.com/office/powerpoint/2010/main" val="161838234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BF7BE8F-477F-4D1A-A87F-555C4B21A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5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2223C9-D4B9-47E9-9C84-9D4E5DF62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D5FC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0D5FCC"/>
                </a:solidFill>
                <a:latin typeface="Bitstream Charter"/>
                <a:ea typeface="Bitstream Charter"/>
                <a:cs typeface="Bitstream Charter"/>
              </a:rPr>
              <a:t>LIFECYCLE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FF29BF-FDA0-4CA6-A9F1-7D95C164F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85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A gated lifecycle connects design quality to operations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FD6A2B-EC35-4550-B63A-EA9F3BDD2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5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093C36-CE2D-4021-BACA-B56F97086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6657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0">
                <a:solidFill>
                  <a:srgbClr val="566575"/>
                </a:solidFill>
                <a:latin typeface="Bitstream Charter"/>
                <a:ea typeface="Bitstream Charter"/>
                <a:cs typeface="Bitstream Charter"/>
              </a:rPr>
              <a:t>Databricks Genie Agent best practices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A44902-9A1B-4F3F-AF97-ACB6FBFEC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6657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0">
                <a:solidFill>
                  <a:srgbClr val="566575"/>
                </a:solidFill>
                <a:latin typeface="Bitstream Charter"/>
                <a:ea typeface="Bitstream Charter"/>
                <a:cs typeface="Bitstream Charter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4F05E8-0D5D-43F3-B4DB-079F35E8F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19250"/>
            <a:ext cx="2552700" cy="3714750"/>
          </a:xfrm>
          <a:prstGeom xmlns:a="http://schemas.openxmlformats.org/drawingml/2006/main" prst="roundRect">
            <a:avLst>
              <a:gd name="adj" fmla="val 6716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7E0E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7C2DBE-243B-4933-9A56-1B7FD260D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19250"/>
            <a:ext cx="255270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1677F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4CCC8A-299C-4EF4-A9A4-61C9B5C96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14500"/>
            <a:ext cx="2209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1  Frame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91B8B3-F57D-4A29-AA6A-EA4929F9F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5745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677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1677FF"/>
                </a:solidFill>
                <a:latin typeface="Bitstream Charter"/>
                <a:ea typeface="Bitstream Charter"/>
                <a:cs typeface="Bitstream Charter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2F6A92-D616-475D-96C2-39B9C5B04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00300"/>
            <a:ext cx="1771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Audience and purpose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627035-57F2-498F-ABF6-507F0FED0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9565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677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1677FF"/>
                </a:solidFill>
                <a:latin typeface="Bitstream Charter"/>
                <a:ea typeface="Bitstream Charter"/>
                <a:cs typeface="Bitstream Charter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B5BB75-E2B4-4369-B254-8C4ABE5A9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0"/>
            <a:ext cx="1771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Real questions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8F4E26-1109-4F21-AAC3-C409E62FE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3385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677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1677FF"/>
                </a:solidFill>
                <a:latin typeface="Bitstream Charter"/>
                <a:ea typeface="Bitstream Charter"/>
                <a:cs typeface="Bitstream Charter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89F5AC-08AC-461E-BCD6-F786E4301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76700"/>
            <a:ext cx="1771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Sources and KPI terms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8DF5CC-EA90-46B8-BEF4-AD52C46EF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619250"/>
            <a:ext cx="2552700" cy="3714750"/>
          </a:xfrm>
          <a:prstGeom xmlns:a="http://schemas.openxmlformats.org/drawingml/2006/main" prst="roundRect">
            <a:avLst>
              <a:gd name="adj" fmla="val 6716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7E0EA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FA05FE-7A7D-40C3-81CA-B8DEE1701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619250"/>
            <a:ext cx="255270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0339A5-2083-4B3C-A3A7-B5E3A9E4D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714500"/>
            <a:ext cx="2209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2  Prepare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D716E6-FAB3-44FB-9A4E-99E033B30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45745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F766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0F766E"/>
                </a:solidFill>
                <a:latin typeface="Bitstream Charter"/>
                <a:ea typeface="Bitstream Charter"/>
                <a:cs typeface="Bitstream Charter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2E7E1B-0339-48C7-B7BA-731AC0F06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400300"/>
            <a:ext cx="1771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Metric View decision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9601E4-8EE9-4060-848F-0E7A861F4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29565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F766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0F766E"/>
                </a:solidFill>
                <a:latin typeface="Bitstream Charter"/>
                <a:ea typeface="Bitstream Charter"/>
                <a:cs typeface="Bitstream Charter"/>
              </a:rPr>
              <a:t>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8E0EA1D-0B92-43B1-8343-62587CE65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238500"/>
            <a:ext cx="1771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Profile data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E453E49-4CBB-4D32-8604-3FD1ED422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13385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F766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0F766E"/>
                </a:solidFill>
                <a:latin typeface="Bitstream Charter"/>
                <a:ea typeface="Bitstream Charter"/>
                <a:cs typeface="Bitstream Charter"/>
              </a:rPr>
              <a:t>06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2BEE79-EED0-43EF-BD08-6636791BC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076700"/>
            <a:ext cx="1771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Assess readiness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1690C0B-A9B1-45A6-BD38-FED99806A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619250"/>
            <a:ext cx="2552700" cy="3714750"/>
          </a:xfrm>
          <a:prstGeom xmlns:a="http://schemas.openxmlformats.org/drawingml/2006/main" prst="roundRect">
            <a:avLst>
              <a:gd name="adj" fmla="val 6716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7E0EA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A3699B3-D10F-4E89-8348-4B632EA30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619250"/>
            <a:ext cx="255270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1B976D0-2F13-4595-9F50-A8DE26C9C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714500"/>
            <a:ext cx="2209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3  Build and test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3226814-6F61-413C-933E-5DBFF815C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45745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B4530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B45309"/>
                </a:solidFill>
                <a:latin typeface="Bitstream Charter"/>
                <a:ea typeface="Bitstream Charter"/>
                <a:cs typeface="Bitstream Charter"/>
              </a:rPr>
              <a:t>07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2C98C6F-F6E5-4715-B345-93A8B627C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400300"/>
            <a:ext cx="1771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Design context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F9FF921-477D-4995-AA74-3EC0FD36C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29565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B4530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B45309"/>
                </a:solidFill>
                <a:latin typeface="Bitstream Charter"/>
                <a:ea typeface="Bitstream Charter"/>
                <a:cs typeface="Bitstream Charter"/>
              </a:rPr>
              <a:t>08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FB8C0FB-FE94-4B53-AE76-196B114AF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238500"/>
            <a:ext cx="1771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Review draft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ADA209B-51D3-4A14-AEF5-11C4CBB6E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13385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B4530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B45309"/>
                </a:solidFill>
                <a:latin typeface="Bitstream Charter"/>
                <a:ea typeface="Bitstream Charter"/>
                <a:cs typeface="Bitstream Charter"/>
              </a:rPr>
              <a:t>09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6D244F2-4FF6-44D3-B576-3A745AEE9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076700"/>
            <a:ext cx="1771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Approve and evaluate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AD15183-CA1F-4806-83D9-EA4AC11A5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619250"/>
            <a:ext cx="2552700" cy="3714750"/>
          </a:xfrm>
          <a:prstGeom xmlns:a="http://schemas.openxmlformats.org/drawingml/2006/main" prst="roundRect">
            <a:avLst>
              <a:gd name="adj" fmla="val 6716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7E0EA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251062C-FFED-424A-829D-E206F182B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619250"/>
            <a:ext cx="255270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A5F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959A0D4-7764-4F4C-B7EF-9AF0E1068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714500"/>
            <a:ext cx="2209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4  Release and operate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56533A5-E28C-4DE0-A4E5-EA341B3D4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45745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5A5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FF5A5F"/>
                </a:solidFill>
                <a:latin typeface="Bitstream Charter"/>
                <a:ea typeface="Bitstream Charter"/>
                <a:cs typeface="Bitstream Charter"/>
              </a:rPr>
              <a:t>10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E9FE82D-A2D4-41C3-BAC2-A79D45099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400300"/>
            <a:ext cx="1771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Create and configure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E5C5295-7516-438A-9D41-FA5BBF005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29565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5A5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FF5A5F"/>
                </a:solidFill>
                <a:latin typeface="Bitstream Charter"/>
                <a:ea typeface="Bitstream Charter"/>
                <a:cs typeface="Bitstream Charter"/>
              </a:rPr>
              <a:t>11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4F03600-8D79-487E-8312-BCB8DEE23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238500"/>
            <a:ext cx="1771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Version and promote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DA7F63C-FEE1-4D2F-A815-E22FE9590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13385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5A5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FF5A5F"/>
                </a:solidFill>
                <a:latin typeface="Bitstream Charter"/>
                <a:ea typeface="Bitstream Charter"/>
                <a:cs typeface="Bitstream Charter"/>
              </a:rPr>
              <a:t>12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427AEE8-DDE4-465E-A913-5A26DE9A3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076700"/>
            <a:ext cx="1771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Monitor and refine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3CEE56E-DC65-4A29-B4D0-3B9C1AA03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1975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Approval gates apply before profiling, before bypassing Metric View governance, and before live creation or update</a:t>
            </a:r>
          </a:p>
        </p:txBody>
      </p:sp>
    </p:spTree>
    <p:extLst>
      <p:ext uri="{BB962C8B-B14F-4D97-AF65-F5344CB8AC3E}">
        <p14:creationId xmlns:p14="http://schemas.microsoft.com/office/powerpoint/2010/main" val="209223161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49AE114-4900-4CB5-889A-1FCAC49E2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5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3E2D85-632B-408E-83F7-B3EDCDF4E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D5FC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0D5FCC"/>
                </a:solidFill>
                <a:latin typeface="Bitstream Charter"/>
                <a:ea typeface="Bitstream Charter"/>
                <a:cs typeface="Bitstream Charter"/>
              </a:rPr>
              <a:t>REQUIREMENTS GATE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D8C494-515C-40AF-AAC8-126310857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85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The build starts with six explicit inputs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C7C89C-835B-4BC1-B993-9DA6D7171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5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97328F-DA3E-4534-A938-E900DCEF3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6657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0">
                <a:solidFill>
                  <a:srgbClr val="566575"/>
                </a:solidFill>
                <a:latin typeface="Bitstream Charter"/>
                <a:ea typeface="Bitstream Charter"/>
                <a:cs typeface="Bitstream Charter"/>
              </a:rPr>
              <a:t>Databricks Genie Agent best practices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FD962D-B4C1-4248-8081-F35D1710D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6657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0">
                <a:solidFill>
                  <a:srgbClr val="566575"/>
                </a:solidFill>
                <a:latin typeface="Bitstream Charter"/>
                <a:ea typeface="Bitstream Charter"/>
                <a:cs typeface="Bitstream Charter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B4F281-B81A-4367-8AF9-C4DA4556F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47800"/>
            <a:ext cx="2857500" cy="304800"/>
          </a:xfrm>
          <a:prstGeom xmlns:a="http://schemas.openxmlformats.org/drawingml/2006/main" prst="roundRect">
            <a:avLst>
              <a:gd name="adj" fmla="val 43750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D5FC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0D5FCC"/>
                </a:solidFill>
                <a:latin typeface="Bitstream Charter"/>
                <a:ea typeface="Bitstream Charter"/>
                <a:cs typeface="Bitstream Charter"/>
              </a:rPr>
              <a:t>MINIMUM BEFORE PROFILING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D08AF1-CC29-48FE-9514-3FDDE049A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438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D5FC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0D5FCC"/>
                </a:solidFill>
                <a:latin typeface="Bitstream Charter"/>
                <a:ea typeface="Bitstream Charter"/>
                <a:cs typeface="Bitstream Charter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AC39EB-BA66-4466-A9C4-A694B4A32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914525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Target audience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24829E-FE8A-4589-864C-9BDE25853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933575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6657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566575"/>
                </a:solidFill>
                <a:latin typeface="Bitstream Charter"/>
                <a:ea typeface="Bitstream Charter"/>
                <a:cs typeface="Bitstream Charter"/>
              </a:rPr>
              <a:t>Users and level of domain fluency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B609C0-CB29-40FD-A3E5-F16681390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28925"/>
            <a:ext cx="438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D5FC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0D5FCC"/>
                </a:solidFill>
                <a:latin typeface="Bitstream Charter"/>
                <a:ea typeface="Bitstream Charter"/>
                <a:cs typeface="Bitstream Charter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10C573-763D-4CD5-BDE3-3B3CCD3B9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790825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Agent purpose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0372EC-2EAA-48CB-A974-22F9DCD9C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809875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6657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566575"/>
                </a:solidFill>
                <a:latin typeface="Bitstream Charter"/>
                <a:ea typeface="Bitstream Charter"/>
                <a:cs typeface="Bitstream Charter"/>
              </a:rPr>
              <a:t>Business domain and intended scope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012DB6-4FF4-4F71-8411-C1AD48D95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05225"/>
            <a:ext cx="438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D5FC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0D5FCC"/>
                </a:solidFill>
                <a:latin typeface="Bitstream Charter"/>
                <a:ea typeface="Bitstream Charter"/>
                <a:cs typeface="Bitstream Charter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0F0700-F35C-4606-9751-B768F3E9C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667125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Real questions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1AB0B2-9D85-4D65-970F-9D308C3C7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686175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6657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566575"/>
                </a:solidFill>
                <a:latin typeface="Bitstream Charter"/>
                <a:ea typeface="Bitstream Charter"/>
                <a:cs typeface="Bitstream Charter"/>
              </a:rPr>
              <a:t>Three to five concrete questions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9B539C-95CD-4149-A70C-8091AE3D3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81525"/>
            <a:ext cx="438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D5FC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0D5FCC"/>
                </a:solidFill>
                <a:latin typeface="Bitstream Charter"/>
                <a:ea typeface="Bitstream Charter"/>
                <a:cs typeface="Bitstream Charter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CD2F61-9612-4FCB-866F-97F812337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543425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Known sources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98F989-0F19-4CDB-9F39-EF17387B6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562475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6657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566575"/>
                </a:solidFill>
                <a:latin typeface="Bitstream Charter"/>
                <a:ea typeface="Bitstream Charter"/>
                <a:cs typeface="Bitstream Charter"/>
              </a:rPr>
              <a:t>Catalog, schema, table, view, or search terms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57D216E-B96C-4AC7-B576-2BBC7883C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447800"/>
            <a:ext cx="4267200" cy="3924300"/>
          </a:xfrm>
          <a:prstGeom xmlns:a="http://schemas.openxmlformats.org/drawingml/2006/main" prst="roundRect">
            <a:avLst>
              <a:gd name="adj" fmla="val 4854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25ED82-F4A3-485F-80F4-DF0096283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75260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Complete the design context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E1D1E8-9369-40BE-8FFD-A2AB21D08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4955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86B9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86B9FF"/>
                </a:solidFill>
                <a:latin typeface="Bitstream Charter"/>
                <a:ea typeface="Bitstream Charter"/>
                <a:cs typeface="Bitstream Charter"/>
              </a:rPr>
              <a:t>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5D19C93-517D-427B-B696-A8EFA9924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428875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Terminology and KPI definitions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1B2FE8F-BCF4-4E3E-97D8-10251ED29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08610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D9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C8D9E8"/>
                </a:solidFill>
                <a:latin typeface="Bitstream Charter"/>
                <a:ea typeface="Bitstream Charter"/>
                <a:cs typeface="Bitstream Charter"/>
              </a:rPr>
              <a:t>Business terms, fiscal conventions, default filters, and calculation rules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2D4F65D-26DB-42C3-BFA0-70BAC3DDF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0386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86B9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86B9FF"/>
                </a:solidFill>
                <a:latin typeface="Bitstream Charter"/>
                <a:ea typeface="Bitstream Charter"/>
                <a:cs typeface="Bitstream Charter"/>
              </a:rPr>
              <a:t>06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4FCCDEF-C406-4C30-87BA-96021E860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971925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Benchmark intent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5C43E5B-53C4-41AF-B9D5-36584D033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43865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D9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C8D9E8"/>
                </a:solidFill>
                <a:latin typeface="Bitstream Charter"/>
                <a:ea typeface="Bitstream Charter"/>
                <a:cs typeface="Bitstream Charter"/>
              </a:rPr>
              <a:t>Chat mode, Agent mode, or no initial benchmark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DD5001C-6AD9-4502-924C-B98BBFBC4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769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B4231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1">
                <a:solidFill>
                  <a:srgbClr val="B42318"/>
                </a:solidFill>
                <a:latin typeface="Bitstream Charter"/>
                <a:ea typeface="Bitstream Charter"/>
                <a:cs typeface="Bitstream Charter"/>
              </a:rPr>
              <a:t>Do not invent business definitions, joins, KPI formulas, fiscal calendars, or default filters</a:t>
            </a:r>
          </a:p>
        </p:txBody>
      </p:sp>
    </p:spTree>
    <p:extLst>
      <p:ext uri="{BB962C8B-B14F-4D97-AF65-F5344CB8AC3E}">
        <p14:creationId xmlns:p14="http://schemas.microsoft.com/office/powerpoint/2010/main" val="73502961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F25D3E-2829-465B-A169-6DF048FFB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5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B236CA-0ACC-4F90-B992-33F92859A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D5FC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0D5FCC"/>
                </a:solidFill>
                <a:latin typeface="Bitstream Charter"/>
                <a:ea typeface="Bitstream Charter"/>
                <a:cs typeface="Bitstream Charter"/>
              </a:rPr>
              <a:t>SCOPE AND SIZING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1BBE47-D6DA-475C-A6C6-0F7343216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Focused source selection improves quality and maintainability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BC7CF4-AE82-4F3F-B6E1-037A04820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5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74BF5B-D2E7-4829-B1E1-A9D0D6558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6657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0">
                <a:solidFill>
                  <a:srgbClr val="566575"/>
                </a:solidFill>
                <a:latin typeface="Bitstream Charter"/>
                <a:ea typeface="Bitstream Charter"/>
                <a:cs typeface="Bitstream Charter"/>
              </a:rPr>
              <a:t>Databricks Genie Agent best practices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FBFE48-1445-44AC-BEFE-6E48EBAFE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6657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0">
                <a:solidFill>
                  <a:srgbClr val="566575"/>
                </a:solidFill>
                <a:latin typeface="Bitstream Charter"/>
                <a:ea typeface="Bitstream Charter"/>
                <a:cs typeface="Bitstream Charter"/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5263D8-9FF5-49CA-BA53-585C9878D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24000"/>
            <a:ext cx="285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0D5FC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750" b="1">
                <a:solidFill>
                  <a:srgbClr val="0D5FCC"/>
                </a:solidFill>
                <a:latin typeface="Bitstream Charter"/>
                <a:ea typeface="Bitstream Charter"/>
                <a:cs typeface="Bitstream Charter"/>
              </a:rPr>
              <a:t>5 or fewer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2476AF-7F55-4FDD-812B-6AAD05BE9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907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6657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566575"/>
                </a:solidFill>
                <a:latin typeface="Bitstream Charter"/>
                <a:ea typeface="Bitstream Charter"/>
                <a:cs typeface="Bitstream Charter"/>
              </a:rPr>
              <a:t>recommended starting point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E379FA-5B5D-496C-9C0B-6FF11F849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1524000"/>
            <a:ext cx="171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FF5A5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750" b="1">
                <a:solidFill>
                  <a:srgbClr val="FF5A5F"/>
                </a:solidFill>
                <a:latin typeface="Bitstream Charter"/>
                <a:ea typeface="Bitstream Charter"/>
                <a:cs typeface="Bitstream Charter"/>
              </a:rPr>
              <a:t>50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798468-9265-4F13-A6C7-ACB2BC511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1907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6657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566575"/>
                </a:solidFill>
                <a:latin typeface="Bitstream Charter"/>
                <a:ea typeface="Bitstream Charter"/>
                <a:cs typeface="Bitstream Charter"/>
              </a:rPr>
              <a:t>current official maximum</a:t>
            </a:r>
          </a:p>
        </p:txBody>
      </p:sp>
      <p:graphicFrame>
        <p:nvGraphicFramePr>
          <p:cNvPr id="23" name=""/>
          <p:cNvGraphicFramePr/>
          <p:nvPr/>
        </p:nvGraphicFramePr>
        <p:xfrm>
          <a:off xmlns:a="http://schemas.openxmlformats.org/drawingml/2006/main" x="704850" y="2895600"/>
          <a:ext xmlns:a="http://schemas.openxmlformats.org/drawingml/2006/main" cx="10782300" cy="2724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3714750"/>
                <a:gridCol w="4210050"/>
              </a:tblGrid>
              <a:tr h="54483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Design question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Source-based guidance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Enterprise implication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</a:tr>
              <a:tr h="544830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02A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How should Agents be divided?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02A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By business domain or subdomain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02A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Avoid report-by-report Agents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44830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02A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What if the domain is broad?</a:t>
                      </a:r>
                    </a:p>
                  </a:txBody>
                  <a:tcPr marL="91440" marR="91440" marT="45720" marB="45720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02A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Split by subdomain</a:t>
                      </a:r>
                    </a:p>
                  </a:txBody>
                  <a:tcPr marL="91440" marR="91440" marT="45720" marB="45720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02A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Keep each question set coherent</a:t>
                      </a:r>
                    </a:p>
                  </a:txBody>
                  <a:tcPr marL="91440" marR="91440" marT="45720" marB="45720">
                    <a:solidFill>
                      <a:srgbClr val="F6F8FB"/>
                    </a:solidFill>
                  </a:tcPr>
                </a:tc>
              </a:tr>
              <a:tr h="544830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02A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How should sources be organized?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02A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Tag Agents and sources by domain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02A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Optionally mirror domains in UC schemas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44830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02A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What belongs in the Agent?</a:t>
                      </a:r>
                    </a:p>
                  </a:txBody>
                  <a:tcPr marL="91440" marR="91440" marT="45720" marB="45720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02A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Only sources and columns needed for supported questions</a:t>
                      </a:r>
                    </a:p>
                  </a:txBody>
                  <a:tcPr marL="91440" marR="91440" marT="45720" marB="45720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02A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Expand after testing and monitoring</a:t>
                      </a:r>
                    </a:p>
                  </a:txBody>
                  <a:tcPr marL="91440" marR="91440" marT="45720" marB="45720"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8430E1-D1E5-4AF9-AF34-4BCEAD318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29300"/>
            <a:ext cx="1072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6657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566575"/>
                </a:solidFill>
                <a:latin typeface="Bitstream Charter"/>
                <a:ea typeface="Bitstream Charter"/>
                <a:cs typeface="Bitstream Charter"/>
              </a:rPr>
              <a:t>The older GitHub line states 30; statement-level dates make the official 50-object value newer</a:t>
            </a:r>
          </a:p>
        </p:txBody>
      </p:sp>
    </p:spTree>
    <p:extLst>
      <p:ext uri="{BB962C8B-B14F-4D97-AF65-F5344CB8AC3E}">
        <p14:creationId xmlns:p14="http://schemas.microsoft.com/office/powerpoint/2010/main" val="4326545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FBD2181-1497-4139-AAB5-15E9ADB82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5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3327FD-A84A-4EC7-BFCB-36E664870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D5FC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0D5FCC"/>
                </a:solidFill>
                <a:latin typeface="Bitstream Charter"/>
                <a:ea typeface="Bitstream Charter"/>
                <a:cs typeface="Bitstream Charter"/>
              </a:rPr>
              <a:t>SECURITY AND ACCESS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672718-CCF9-49CC-89B6-D13CA80B1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85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Compute access and data access use separate identities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E9F633-3547-4086-9969-D8BF4F0E6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5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6664BD-0134-40D8-89FA-B52BCD91C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6657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0">
                <a:solidFill>
                  <a:srgbClr val="566575"/>
                </a:solidFill>
                <a:latin typeface="Bitstream Charter"/>
                <a:ea typeface="Bitstream Charter"/>
                <a:cs typeface="Bitstream Charter"/>
              </a:rPr>
              <a:t>Databricks Genie Agent best practices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5C4D2D-9CA2-4866-AA68-F3C6F5429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6657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0">
                <a:solidFill>
                  <a:srgbClr val="566575"/>
                </a:solidFill>
                <a:latin typeface="Bitstream Charter"/>
                <a:ea typeface="Bitstream Charter"/>
                <a:cs typeface="Bitstream Charter"/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E19566-9D6E-49DF-BDF0-A4A8CA8E3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2286000" cy="304800"/>
          </a:xfrm>
          <a:prstGeom xmlns:a="http://schemas.openxmlformats.org/drawingml/2006/main" prst="roundRect">
            <a:avLst>
              <a:gd name="adj" fmla="val 43750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D5FC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0D5FCC"/>
                </a:solidFill>
                <a:latin typeface="Bitstream Charter"/>
                <a:ea typeface="Bitstream Charter"/>
                <a:cs typeface="Bitstream Charter"/>
              </a:rPr>
              <a:t>AUTHOR CONFIGURES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0F4C68-C01F-4AC0-95DD-5196CFBDB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76650"/>
            <a:ext cx="2286000" cy="304800"/>
          </a:xfrm>
          <a:prstGeom xmlns:a="http://schemas.openxmlformats.org/drawingml/2006/main" prst="roundRect">
            <a:avLst>
              <a:gd name="adj" fmla="val 43750"/>
            </a:avLst>
          </a:prstGeom>
          <a:solidFill xmlns:a="http://schemas.openxmlformats.org/drawingml/2006/main">
            <a:srgbClr val="E8F7F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F766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0F766E"/>
                </a:solidFill>
                <a:latin typeface="Bitstream Charter"/>
                <a:ea typeface="Bitstream Charter"/>
                <a:cs typeface="Bitstream Charter"/>
              </a:rPr>
              <a:t>CONSUMER QUERIES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871FB4-6101-4592-9EA9-78CF78E23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00250"/>
            <a:ext cx="2476500" cy="1238250"/>
          </a:xfrm>
          <a:prstGeom xmlns:a="http://schemas.openxmlformats.org/drawingml/2006/main" prst="roundRect">
            <a:avLst>
              <a:gd name="adj" fmla="val 107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CC8363-1099-43FC-96D1-23ED4081B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00250"/>
            <a:ext cx="76200" cy="1238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77F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85F859-7329-4575-AE8E-94C20B531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71700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Author identity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C848A8-F454-4AF2-AF46-CE704AE2A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52700"/>
            <a:ext cx="2076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6657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0">
                <a:solidFill>
                  <a:srgbClr val="566575"/>
                </a:solidFill>
                <a:latin typeface="Bitstream Charter"/>
                <a:ea typeface="Bitstream Charter"/>
                <a:cs typeface="Bitstream Charter"/>
              </a:rPr>
              <a:t>CAN USE on a pro or serverless SQL warehouse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D7B08B-B9A1-4656-8C87-44A2F0B6A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000250"/>
            <a:ext cx="2762250" cy="1238250"/>
          </a:xfrm>
          <a:prstGeom xmlns:a="http://schemas.openxmlformats.org/drawingml/2006/main" prst="roundRect">
            <a:avLst>
              <a:gd name="adj" fmla="val 107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417AB1-B9C8-426D-873C-0288F8D6E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000250"/>
            <a:ext cx="76200" cy="1238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77F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AC12C1-35A8-4C18-B167-E40C232BF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171700"/>
            <a:ext cx="2362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SQL warehouse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B5C1BF-ABD4-4E97-BDB1-FAAFB2E13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552700"/>
            <a:ext cx="2362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6657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0">
                <a:solidFill>
                  <a:srgbClr val="566575"/>
                </a:solidFill>
                <a:latin typeface="Bitstream Charter"/>
                <a:ea typeface="Bitstream Charter"/>
                <a:cs typeface="Bitstream Charter"/>
              </a:rPr>
              <a:t>Author credentials provide compute access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86CA05-7A3B-4DAE-A1AD-406BF4DE0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52900"/>
            <a:ext cx="2476500" cy="1238250"/>
          </a:xfrm>
          <a:prstGeom xmlns:a="http://schemas.openxmlformats.org/drawingml/2006/main" prst="roundRect">
            <a:avLst>
              <a:gd name="adj" fmla="val 107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7B7076-0CA6-4A25-81CB-93F55169A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52900"/>
            <a:ext cx="76200" cy="1238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3F70D2-1113-4759-B852-D684536D7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24350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End-user identity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40A9F4-36DE-443B-9690-A46DB1B29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705350"/>
            <a:ext cx="2076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6657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0">
                <a:solidFill>
                  <a:srgbClr val="566575"/>
                </a:solidFill>
                <a:latin typeface="Bitstream Charter"/>
                <a:ea typeface="Bitstream Charter"/>
                <a:cs typeface="Bitstream Charter"/>
              </a:rPr>
              <a:t>CAN VIEW or CAN RUN on the Agent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A76A6C7-47B2-4C12-8BA9-AD23739B7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152900"/>
            <a:ext cx="2762250" cy="1238250"/>
          </a:xfrm>
          <a:prstGeom xmlns:a="http://schemas.openxmlformats.org/drawingml/2006/main" prst="roundRect">
            <a:avLst>
              <a:gd name="adj" fmla="val 107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B369DF6-098D-4CC0-BB8C-87AD48ED0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152900"/>
            <a:ext cx="76200" cy="1238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E726690-B5B8-476A-B891-A6EF57613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324350"/>
            <a:ext cx="2362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Unity Catalog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172F466-49B1-467E-918D-3D637776C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705350"/>
            <a:ext cx="2362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6657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0">
                <a:solidFill>
                  <a:srgbClr val="566575"/>
                </a:solidFill>
                <a:latin typeface="Bitstream Charter"/>
                <a:ea typeface="Bitstream Charter"/>
                <a:cs typeface="Bitstream Charter"/>
              </a:rPr>
              <a:t>SELECT, row filters, and column masks evaluated per user</a:t>
            </a:r>
          </a:p>
        </p:txBody>
      </p:sp>
      <p:cxnSp>
        <p:nvCxnSpPr>
          <p:cNvPr id="55" name=""/>
          <p:cNvCxnSpPr>
            <a:stCxn xmlns:a="http://schemas.openxmlformats.org/drawingml/2006/main" id="9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219450" y="2619375"/>
            <a:ext cx="10668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677FF"/>
            </a:solidFill>
            <a:headEnd type="arrow" w="med" len="med"/>
          </a:ln>
        </p:spPr>
      </p:cxnSp>
      <p:cxnSp>
        <p:nvCxnSpPr>
          <p:cNvPr id="56" name=""/>
          <p:cNvCxnSpPr>
            <a:stCxn xmlns:a="http://schemas.openxmlformats.org/drawingml/2006/main" id="17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3219450" y="4772025"/>
            <a:ext cx="10668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F766E"/>
            </a:solidFill>
            <a:headEnd type="arrow" w="med" len="med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D1A52E2-A125-4AFB-81C9-322DDC855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524000"/>
            <a:ext cx="3638550" cy="3867150"/>
          </a:xfrm>
          <a:prstGeom xmlns:a="http://schemas.openxmlformats.org/drawingml/2006/main" prst="roundRect">
            <a:avLst>
              <a:gd name="adj" fmla="val 4712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28CE351-6C44-481E-9C00-530E66BCD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Required platform controls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BA754B5-AEE4-42C3-97FD-7FD68B17F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00300"/>
            <a:ext cx="2952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200"/>
              </a:spcAft>
              <a:buChar char="•"/>
              <a:defRPr sz="1500" b="0">
                <a:solidFill>
                  <a:srgbClr val="D9E6F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D9E6F1"/>
                </a:solidFill>
                <a:latin typeface="Bitstream Charter"/>
                <a:ea typeface="Bitstream Charter"/>
                <a:cs typeface="Bitstream Charter"/>
              </a:rPr>
              <a:t>Unity Catalog registration</a:t>
            </a:r>
          </a:p>
          <a:p xmlns:a="http://schemas.openxmlformats.org/drawingml/2006/main">
            <a:pPr marL="228600" indent="-114300">
              <a:spcAft>
                <a:spcPts val="1200"/>
              </a:spcAft>
              <a:buChar char="•"/>
              <a:defRPr sz="1500" b="0">
                <a:solidFill>
                  <a:srgbClr val="D9E6F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D9E6F1"/>
                </a:solidFill>
                <a:latin typeface="Bitstream Charter"/>
                <a:ea typeface="Bitstream Charter"/>
                <a:cs typeface="Bitstream Charter"/>
              </a:rPr>
              <a:t>Databricks SQL entitlement</a:t>
            </a:r>
          </a:p>
          <a:p xmlns:a="http://schemas.openxmlformats.org/drawingml/2006/main">
            <a:pPr marL="228600" indent="-114300">
              <a:spcAft>
                <a:spcPts val="1200"/>
              </a:spcAft>
              <a:buChar char="•"/>
              <a:defRPr sz="1500" b="0">
                <a:solidFill>
                  <a:srgbClr val="D9E6F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D9E6F1"/>
                </a:solidFill>
                <a:latin typeface="Bitstream Charter"/>
                <a:ea typeface="Bitstream Charter"/>
                <a:cs typeface="Bitstream Charter"/>
              </a:rPr>
              <a:t>Partner-powered AI enabled</a:t>
            </a:r>
          </a:p>
          <a:p xmlns:a="http://schemas.openxmlformats.org/drawingml/2006/main">
            <a:pPr marL="228600" indent="-114300">
              <a:spcAft>
                <a:spcPts val="1200"/>
              </a:spcAft>
              <a:buChar char="•"/>
              <a:defRPr sz="1500" b="0">
                <a:solidFill>
                  <a:srgbClr val="D9E6F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D9E6F1"/>
                </a:solidFill>
                <a:latin typeface="Bitstream Charter"/>
                <a:ea typeface="Bitstream Charter"/>
                <a:cs typeface="Bitstream Charter"/>
              </a:rPr>
              <a:t>CAN EDIT for authors and editors</a:t>
            </a:r>
          </a:p>
          <a:p xmlns:a="http://schemas.openxmlformats.org/drawingml/2006/main">
            <a:pPr marL="228600" indent="-114300">
              <a:spcAft>
                <a:spcPts val="1200"/>
              </a:spcAft>
              <a:buChar char="•"/>
              <a:defRPr sz="1500" b="0">
                <a:solidFill>
                  <a:srgbClr val="D9E6F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D9E6F1"/>
                </a:solidFill>
                <a:latin typeface="Bitstream Charter"/>
                <a:ea typeface="Bitstream Charter"/>
                <a:cs typeface="Bitstream Charter"/>
              </a:rPr>
              <a:t>Data privileges for each consumer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FC11CDB-1DC4-46E6-90E8-A54685BE5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686300"/>
            <a:ext cx="295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86B9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86B9FF"/>
                </a:solidFill>
                <a:latin typeface="Bitstream Charter"/>
                <a:ea typeface="Bitstream Charter"/>
                <a:cs typeface="Bitstream Charter"/>
              </a:rPr>
              <a:t>Serverless SQL warehouse is the documented performance recommendation</a:t>
            </a:r>
          </a:p>
        </p:txBody>
      </p:sp>
    </p:spTree>
    <p:extLst>
      <p:ext uri="{BB962C8B-B14F-4D97-AF65-F5344CB8AC3E}">
        <p14:creationId xmlns:p14="http://schemas.microsoft.com/office/powerpoint/2010/main" val="170362716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27475D-D479-4FC7-ABC8-595348460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5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3A8034-B867-4EC1-8F37-CD4AE0251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D5FC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0D5FCC"/>
                </a:solidFill>
                <a:latin typeface="Bitstream Charter"/>
                <a:ea typeface="Bitstream Charter"/>
                <a:cs typeface="Bitstream Charter"/>
              </a:rPr>
              <a:t>PRODUCT BOUNDARIES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9D5F75-D8A9-4BB6-B4B1-8DD93BEFF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85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Two product boundaries shape solution design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533DA0-F353-4F47-BD24-B66101FE9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5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8A481E-2D82-4B8A-B0A7-7370BD7B2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6657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0">
                <a:solidFill>
                  <a:srgbClr val="566575"/>
                </a:solidFill>
                <a:latin typeface="Bitstream Charter"/>
                <a:ea typeface="Bitstream Charter"/>
                <a:cs typeface="Bitstream Charter"/>
              </a:rPr>
              <a:t>Databricks Genie Agent best practices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65565F-73E8-415B-BF28-723E2FDA0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6657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0">
                <a:solidFill>
                  <a:srgbClr val="566575"/>
                </a:solidFill>
                <a:latin typeface="Bitstream Charter"/>
                <a:ea typeface="Bitstream Charter"/>
                <a:cs typeface="Bitstream Charter"/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B092A1-4BC6-4542-8326-51418CD89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5143500" cy="3924300"/>
          </a:xfrm>
          <a:prstGeom xmlns:a="http://schemas.openxmlformats.org/drawingml/2006/main" prst="roundRect">
            <a:avLst>
              <a:gd name="adj" fmla="val 4854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08B195-3AC7-4385-8164-B8EAE3E55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47850"/>
            <a:ext cx="2095500" cy="304800"/>
          </a:xfrm>
          <a:prstGeom xmlns:a="http://schemas.openxmlformats.org/drawingml/2006/main" prst="roundRect">
            <a:avLst>
              <a:gd name="adj" fmla="val 43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D5FC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0D5FCC"/>
                </a:solidFill>
                <a:latin typeface="Bitstream Charter"/>
                <a:ea typeface="Bitstream Charter"/>
                <a:cs typeface="Bitstream Charter"/>
              </a:rPr>
              <a:t>ATTACHED SOURCES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1B3A4E-BEE1-44FB-8795-608A510B7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00300"/>
            <a:ext cx="4343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Genie queries only objects explicitly attached under Sources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CE9240-E4B1-44C5-94F6-499C943FE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43300"/>
            <a:ext cx="43434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500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rPr>
              <a:t>Instructions cannot make an unattached table queryable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500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rPr>
              <a:t>Metadata cannot attach a Unity Catalog function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500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rPr>
              <a:t>End-user permissions still govern every attached source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04BD46-4665-4486-B9FA-92CC064F2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581150"/>
            <a:ext cx="5143500" cy="3924300"/>
          </a:xfrm>
          <a:prstGeom xmlns:a="http://schemas.openxmlformats.org/drawingml/2006/main" prst="roundRect">
            <a:avLst>
              <a:gd name="adj" fmla="val 4854"/>
            </a:avLst>
          </a:prstGeom>
          <a:solidFill xmlns:a="http://schemas.openxmlformats.org/drawingml/2006/main">
            <a:srgbClr val="FFF4E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AEFB15-537E-40F9-A92B-6A372A6EA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47850"/>
            <a:ext cx="2095500" cy="304800"/>
          </a:xfrm>
          <a:prstGeom xmlns:a="http://schemas.openxmlformats.org/drawingml/2006/main" prst="roundRect">
            <a:avLst>
              <a:gd name="adj" fmla="val 43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B4530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B45309"/>
                </a:solidFill>
                <a:latin typeface="Bitstream Charter"/>
                <a:ea typeface="Bitstream Charter"/>
                <a:cs typeface="Bitstream Charter"/>
              </a:rPr>
              <a:t>DASHBOARD FILTERS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C0C9A6-BC23-4194-91C1-AC96BDFD1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00300"/>
            <a:ext cx="4343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Filters do not carry into an existing linked Agent's chat context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27ADFB-870D-454C-9EB7-96CA64462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543300"/>
            <a:ext cx="43434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500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rPr>
              <a:t>Do not assume dashboard state becomes Genie context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500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rPr>
              <a:t>Agents created automatically during dashboard publishing behave differently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500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rPr>
              <a:t>Test linked-dashboard scenarios explicitly</a:t>
            </a:r>
          </a:p>
        </p:txBody>
      </p:sp>
    </p:spTree>
    <p:extLst>
      <p:ext uri="{BB962C8B-B14F-4D97-AF65-F5344CB8AC3E}">
        <p14:creationId xmlns:p14="http://schemas.microsoft.com/office/powerpoint/2010/main" val="44078975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7CA8865-89D7-4A67-B5D0-9259E64C4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5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B03D40-6F9A-41C6-BA3C-448A6DDAA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D5FC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0D5FCC"/>
                </a:solidFill>
                <a:latin typeface="Bitstream Charter"/>
                <a:ea typeface="Bitstream Charter"/>
                <a:cs typeface="Bitstream Charter"/>
              </a:rPr>
              <a:t>DATA READINESS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8DC3C0-281C-4C5A-833E-0FA1C2C5F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85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Profiling connects data evidence to question readiness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84BB1F-F49B-4BCF-B07A-5DF6CC3B5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5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060CD2-7DA0-4A81-9910-E06AA610E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6657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0">
                <a:solidFill>
                  <a:srgbClr val="566575"/>
                </a:solidFill>
                <a:latin typeface="Bitstream Charter"/>
                <a:ea typeface="Bitstream Charter"/>
                <a:cs typeface="Bitstream Charter"/>
              </a:rPr>
              <a:t>Databricks Genie Agent best practices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470881-5157-4BC9-BF9F-C8CAB5E06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6657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0">
                <a:solidFill>
                  <a:srgbClr val="566575"/>
                </a:solidFill>
                <a:latin typeface="Bitstream Charter"/>
                <a:ea typeface="Bitstream Charter"/>
                <a:cs typeface="Bitstream Charter"/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678491-EA61-4358-9144-9D407EAC7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2533650" cy="2266950"/>
          </a:xfrm>
          <a:prstGeom xmlns:a="http://schemas.openxmlformats.org/drawingml/2006/main" prst="roundRect">
            <a:avLst>
              <a:gd name="adj" fmla="val 7563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7E0E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B350D3-F5F5-42E3-B9E6-11FECF98B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526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D5FC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0D5FCC"/>
                </a:solidFill>
                <a:latin typeface="Bitstream Charter"/>
                <a:ea typeface="Bitstream Charter"/>
                <a:cs typeface="Bitstream Charter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E08299-B953-4DA2-8153-773B0FD12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717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Structure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4C8615-7904-402B-BC97-E480B91B5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86050"/>
            <a:ext cx="21145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6657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566575"/>
                </a:solidFill>
                <a:latin typeface="Bitstream Charter"/>
                <a:ea typeface="Bitstream Charter"/>
                <a:cs typeface="Bitstream Charter"/>
              </a:rPr>
              <a:t>Objects, comments, columns, types, constraints, narrow samples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70382D-243E-41D5-85F0-B82AB82C1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562100"/>
            <a:ext cx="2533650" cy="2266950"/>
          </a:xfrm>
          <a:prstGeom xmlns:a="http://schemas.openxmlformats.org/drawingml/2006/main" prst="roundRect">
            <a:avLst>
              <a:gd name="adj" fmla="val 7563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7E0EA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7CDEEA-539D-4674-8A2F-43BDB74B1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7526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D5FC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0D5FCC"/>
                </a:solidFill>
                <a:latin typeface="Bitstream Charter"/>
                <a:ea typeface="Bitstream Charter"/>
                <a:cs typeface="Bitstream Charter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322ABD-2644-4A8E-8214-D6CB9EF2D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1717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Quality and usage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F696FE-CD4C-4D40-B561-E708E561E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686050"/>
            <a:ext cx="21145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6657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566575"/>
                </a:solidFill>
                <a:latin typeface="Bitstream Charter"/>
                <a:ea typeface="Bitstream Charter"/>
                <a:cs typeface="Bitstream Charter"/>
              </a:rPr>
              <a:t>Nulls, constants, distinct counts, casing, sensitive fields, lineage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F3B245-1F72-4729-B804-43214810C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562100"/>
            <a:ext cx="2533650" cy="2266950"/>
          </a:xfrm>
          <a:prstGeom xmlns:a="http://schemas.openxmlformats.org/drawingml/2006/main" prst="roundRect">
            <a:avLst>
              <a:gd name="adj" fmla="val 7563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7E0EA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9DC737-20CA-4815-BC9B-8F0521647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526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D5FC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0D5FCC"/>
                </a:solidFill>
                <a:latin typeface="Bitstream Charter"/>
                <a:ea typeface="Bitstream Charter"/>
                <a:cs typeface="Bitstream Charter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75AA48-4065-43E4-92AE-2CB580CA5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1717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Relevant columns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5B410C-2692-4BD3-A822-CAC8A8E00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86050"/>
            <a:ext cx="21145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6657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566575"/>
                </a:solidFill>
                <a:latin typeface="Bitstream Charter"/>
                <a:ea typeface="Bitstream Charter"/>
                <a:cs typeface="Bitstream Charter"/>
              </a:rPr>
              <a:t>Dates, filters, categories, join keys, and candidate measures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C8C0B2-CEE2-4F41-BA5F-528824FB4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562100"/>
            <a:ext cx="2533650" cy="2266950"/>
          </a:xfrm>
          <a:prstGeom xmlns:a="http://schemas.openxmlformats.org/drawingml/2006/main" prst="roundRect">
            <a:avLst>
              <a:gd name="adj" fmla="val 7563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D7E0EA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8C7096-9651-4D16-82FF-E186DBD99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7526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86B9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86B9FF"/>
                </a:solidFill>
                <a:latin typeface="Bitstream Charter"/>
                <a:ea typeface="Bitstream Charter"/>
                <a:cs typeface="Bitstream Charter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FAD7A9A-85A9-4C09-AA0D-0F83F4EB9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1717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Readiness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2C10E08-35D5-45C1-965D-798E75B74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686050"/>
            <a:ext cx="21145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D9E6F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D9E6F1"/>
                </a:solidFill>
                <a:latin typeface="Bitstream Charter"/>
                <a:ea typeface="Bitstream Charter"/>
                <a:cs typeface="Bitstream Charter"/>
              </a:rPr>
              <a:t>Map evidence back to each real business question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9596C0A-2A2B-4F8F-91F2-CA139758C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10050"/>
            <a:ext cx="104775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CFDF3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DD2D436-098D-4019-8478-A3AC85304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05300"/>
            <a:ext cx="114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5803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>
                <a:solidFill>
                  <a:srgbClr val="15803D"/>
                </a:solidFill>
                <a:latin typeface="Bitstream Charter"/>
                <a:ea typeface="Bitstream Charter"/>
                <a:cs typeface="Bitstream Charter"/>
              </a:rPr>
              <a:t>HIGH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BCFE5A5-76E3-406B-BEA1-8B0823CB1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276725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rPr>
              <a:t>All required fields, joins, values, and metric definitions are supported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9B9857C-D665-49FC-A12C-35CD70F0C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19650"/>
            <a:ext cx="104775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4E5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92FEE8E-AF8C-4E4D-9C2A-41E9A35B7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14900"/>
            <a:ext cx="114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B4530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>
                <a:solidFill>
                  <a:srgbClr val="B45309"/>
                </a:solidFill>
                <a:latin typeface="Bitstream Charter"/>
                <a:ea typeface="Bitstream Charter"/>
                <a:cs typeface="Bitstream Charter"/>
              </a:rPr>
              <a:t>MEDIUM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13595EC-46B7-4840-B602-CEC6312CF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886325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rPr>
              <a:t>Answerable with caveats or explicitly confirmed assumptions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5A6A452-5B8B-431D-8935-6DACCA60D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29250"/>
            <a:ext cx="104775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0E7C24B-5CFA-4A6C-8A73-3C16AF716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524500"/>
            <a:ext cx="114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B4231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>
                <a:solidFill>
                  <a:srgbClr val="B42318"/>
                </a:solidFill>
                <a:latin typeface="Bitstream Charter"/>
                <a:ea typeface="Bitstream Charter"/>
                <a:cs typeface="Bitstream Charter"/>
              </a:rPr>
              <a:t>LOW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E57DEDA-1899-4849-9CF4-8F4F7C593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495925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rPr>
              <a:t>A required source, field, join, time element, or definition is missing</a:t>
            </a:r>
          </a:p>
        </p:txBody>
      </p:sp>
    </p:spTree>
    <p:extLst>
      <p:ext uri="{BB962C8B-B14F-4D97-AF65-F5344CB8AC3E}">
        <p14:creationId xmlns:p14="http://schemas.microsoft.com/office/powerpoint/2010/main" val="53654470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33BF136-D42F-4039-A74C-F8C13C92B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5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3E606F-C27F-4F67-AA75-E7BD3F609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D5FC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0D5FCC"/>
                </a:solidFill>
                <a:latin typeface="Bitstream Charter"/>
                <a:ea typeface="Bitstream Charter"/>
                <a:cs typeface="Bitstream Charter"/>
              </a:rPr>
              <a:t>SEMANTIC GOVERNANCE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CAD9A4-6DAD-4D30-B414-8A5C2837C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85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Reusable KPIs trigger a Metric View decision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9115F4-10B8-4C61-833D-6AA6ACC0F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5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B08492-4E1B-418D-9467-4C10EE14A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6657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0">
                <a:solidFill>
                  <a:srgbClr val="566575"/>
                </a:solidFill>
                <a:latin typeface="Bitstream Charter"/>
                <a:ea typeface="Bitstream Charter"/>
                <a:cs typeface="Bitstream Charter"/>
              </a:rPr>
              <a:t>Databricks Genie Agent best practices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AD91EC-3E98-4781-8049-27380FCB2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6657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0">
                <a:solidFill>
                  <a:srgbClr val="566575"/>
                </a:solidFill>
                <a:latin typeface="Bitstream Charter"/>
                <a:ea typeface="Bitstream Charter"/>
                <a:cs typeface="Bitstream Charter"/>
              </a:rP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FF73C5-03AB-4BA9-A591-278438CD4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95500"/>
            <a:ext cx="3143250" cy="1562100"/>
          </a:xfrm>
          <a:prstGeom xmlns:a="http://schemas.openxmlformats.org/drawingml/2006/main" prst="roundRect">
            <a:avLst>
              <a:gd name="adj" fmla="val 853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9FF126-DC28-4289-8135-666A448EB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95500"/>
            <a:ext cx="76200" cy="1562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77F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19EE6F-CC7C-42AE-AB21-1FB2A58FF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66950"/>
            <a:ext cx="2743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Do questions center on reusable KPIs?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DFEE24-DE41-442B-BC8A-1066622CF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19400"/>
            <a:ext cx="2743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6657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566575"/>
                </a:solidFill>
                <a:latin typeface="Bitstream Charter"/>
                <a:ea typeface="Bitstream Charter"/>
                <a:cs typeface="Bitstream Charter"/>
              </a:rPr>
              <a:t>Examples include revenue, margin, conversion, and governed time logic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7979B9-38B2-476E-B60F-C50F2FDD2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466850"/>
            <a:ext cx="3162300" cy="1581150"/>
          </a:xfrm>
          <a:prstGeom xmlns:a="http://schemas.openxmlformats.org/drawingml/2006/main" prst="roundRect">
            <a:avLst>
              <a:gd name="adj" fmla="val 84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0CF414-EB16-4C12-AC1A-F16198355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466850"/>
            <a:ext cx="76200" cy="1581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751C64-32F0-454C-9F09-770DF90B5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63830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Yes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531ED2-F76C-4EDF-9FBF-7FEE3CD11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019300"/>
            <a:ext cx="2762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6657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0">
                <a:solidFill>
                  <a:srgbClr val="566575"/>
                </a:solidFill>
                <a:latin typeface="Bitstream Charter"/>
                <a:ea typeface="Bitstream Charter"/>
                <a:cs typeface="Bitstream Charter"/>
              </a:rPr>
              <a:t>Pause and recommend a governed Metric View before continuing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517BF4-4EB9-4738-9921-FB9C14E9A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019550"/>
            <a:ext cx="3162300" cy="1581150"/>
          </a:xfrm>
          <a:prstGeom xmlns:a="http://schemas.openxmlformats.org/drawingml/2006/main" prst="roundRect">
            <a:avLst>
              <a:gd name="adj" fmla="val 84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1650BF-C1E0-4843-A0CF-EF8A80520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019550"/>
            <a:ext cx="76200" cy="1581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9A6A0A-94C9-41B8-BCAA-B81F833FC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19100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No or raw detail required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3E6144-B26A-4757-BE69-E3B4EE203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572000"/>
            <a:ext cx="2762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6657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0">
                <a:solidFill>
                  <a:srgbClr val="566575"/>
                </a:solidFill>
                <a:latin typeface="Bitstream Charter"/>
                <a:ea typeface="Bitstream Charter"/>
                <a:cs typeface="Bitstream Charter"/>
              </a:rPr>
              <a:t>Continue with focused raw tables or views after confirmation</a:t>
            </a:r>
          </a:p>
        </p:txBody>
      </p:sp>
      <p:cxnSp>
        <p:nvCxnSpPr>
          <p:cNvPr id="42" name=""/>
          <p:cNvCxnSpPr>
            <a:stCxn xmlns:a="http://schemas.openxmlformats.org/drawingml/2006/main" id="7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 flipV="1">
            <a:off x="3848100" y="2257425"/>
            <a:ext cx="914400" cy="6191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0F766E"/>
            </a:solidFill>
            <a:headEnd type="arrow" w="med" len="med"/>
          </a:ln>
        </p:spPr>
      </p:cxnSp>
      <p:cxnSp>
        <p:nvCxnSpPr>
          <p:cNvPr id="43" name=""/>
          <p:cNvCxnSpPr>
            <a:stCxn xmlns:a="http://schemas.openxmlformats.org/drawingml/2006/main" id="7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3848100" y="2876550"/>
            <a:ext cx="914400" cy="19335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B45309"/>
            </a:solidFill>
            <a:headEnd type="arrow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55B1E8F-4EB8-4885-994D-A47E17FF0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466850"/>
            <a:ext cx="2952750" cy="4133850"/>
          </a:xfrm>
          <a:prstGeom xmlns:a="http://schemas.openxmlformats.org/drawingml/2006/main" prst="roundRect">
            <a:avLst>
              <a:gd name="adj" fmla="val 5806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952C6FC-0245-43A2-A11C-BC9572A9D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7335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Metric View rules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1281D35-35EB-44BA-975F-D8E20B804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209800"/>
            <a:ext cx="23241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600"/>
              </a:spcAft>
              <a:buChar char="•"/>
              <a:defRPr sz="1275" b="0">
                <a:solidFill>
                  <a:srgbClr val="D9E6F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D9E6F1"/>
                </a:solidFill>
                <a:latin typeface="Bitstream Charter"/>
                <a:ea typeface="Bitstream Charter"/>
                <a:cs typeface="Bitstream Charter"/>
              </a:rPr>
              <a:t>Treat semantic metadata as governed</a:t>
            </a:r>
          </a:p>
          <a:p xmlns:a="http://schemas.openxmlformats.org/drawingml/2006/main">
            <a:pPr marL="228600" indent="-114300">
              <a:spcAft>
                <a:spcPts val="600"/>
              </a:spcAft>
              <a:buChar char="•"/>
              <a:defRPr sz="1275" b="0">
                <a:solidFill>
                  <a:srgbClr val="D9E6F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D9E6F1"/>
                </a:solidFill>
                <a:latin typeface="Bitstream Charter"/>
                <a:ea typeface="Bitstream Charter"/>
                <a:cs typeface="Bitstream Charter"/>
              </a:rPr>
              <a:t>Do not duplicate governed formulas</a:t>
            </a:r>
          </a:p>
          <a:p xmlns:a="http://schemas.openxmlformats.org/drawingml/2006/main">
            <a:pPr marL="228600" indent="-114300">
              <a:spcAft>
                <a:spcPts val="600"/>
              </a:spcAft>
              <a:buChar char="•"/>
              <a:defRPr sz="1275" b="0">
                <a:solidFill>
                  <a:srgbClr val="D9E6F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D9E6F1"/>
                </a:solidFill>
                <a:latin typeface="Bitstream Charter"/>
                <a:ea typeface="Bitstream Charter"/>
                <a:cs typeface="Bitstream Charter"/>
              </a:rPr>
              <a:t>Use a direct fact source for one fact table</a:t>
            </a:r>
          </a:p>
          <a:p xmlns:a="http://schemas.openxmlformats.org/drawingml/2006/main">
            <a:pPr marL="228600" indent="-114300">
              <a:spcAft>
                <a:spcPts val="600"/>
              </a:spcAft>
              <a:buChar char="•"/>
              <a:defRPr sz="1275" b="0">
                <a:solidFill>
                  <a:srgbClr val="D9E6F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D9E6F1"/>
                </a:solidFill>
                <a:latin typeface="Bitstream Charter"/>
                <a:ea typeface="Bitstream Charter"/>
                <a:cs typeface="Bitstream Charter"/>
              </a:rPr>
              <a:t>Use base views for multiple facts or nested logic</a:t>
            </a:r>
          </a:p>
          <a:p xmlns:a="http://schemas.openxmlformats.org/drawingml/2006/main">
            <a:pPr marL="228600" indent="-114300">
              <a:spcAft>
                <a:spcPts val="600"/>
              </a:spcAft>
              <a:buChar char="•"/>
              <a:defRPr sz="1275" b="0">
                <a:solidFill>
                  <a:srgbClr val="D9E6F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D9E6F1"/>
                </a:solidFill>
                <a:latin typeface="Bitstream Charter"/>
                <a:ea typeface="Bitstream Charter"/>
                <a:cs typeface="Bitstream Charter"/>
              </a:rPr>
              <a:t>Record missing semantics as upstream gaps</a:t>
            </a:r>
          </a:p>
          <a:p xmlns:a="http://schemas.openxmlformats.org/drawingml/2006/main">
            <a:pPr marL="228600" indent="-114300">
              <a:spcAft>
                <a:spcPts val="600"/>
              </a:spcAft>
              <a:buChar char="•"/>
              <a:defRPr sz="1275" b="0">
                <a:solidFill>
                  <a:srgbClr val="D9E6F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D9E6F1"/>
                </a:solidFill>
                <a:latin typeface="Bitstream Charter"/>
                <a:ea typeface="Bitstream Charter"/>
                <a:cs typeface="Bitstream Charter"/>
              </a:rPr>
              <a:t>Avoid SELECT * in examples and benchmarks</a:t>
            </a:r>
          </a:p>
        </p:txBody>
      </p:sp>
    </p:spTree>
    <p:extLst>
      <p:ext uri="{BB962C8B-B14F-4D97-AF65-F5344CB8AC3E}">
        <p14:creationId xmlns:p14="http://schemas.microsoft.com/office/powerpoint/2010/main" val="181283681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86C10B-56E5-4F62-90B3-084D15FCE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5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0E20F6-1E62-475F-B2DE-3D010BAA3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D5FC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0D5FCC"/>
                </a:solidFill>
                <a:latin typeface="Bitstream Charter"/>
                <a:ea typeface="Bitstream Charter"/>
                <a:cs typeface="Bitstream Charter"/>
              </a:rPr>
              <a:t>CONTEXT DESIGN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095770-0BAD-483F-82AD-9BA2C0FA5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85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Structured context precedes free-form instructions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8740E5-8512-4763-A184-32D5CE308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5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376914-4D5C-4828-B7DB-C0D63116A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6657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0">
                <a:solidFill>
                  <a:srgbClr val="566575"/>
                </a:solidFill>
                <a:latin typeface="Bitstream Charter"/>
                <a:ea typeface="Bitstream Charter"/>
                <a:cs typeface="Bitstream Charter"/>
              </a:rPr>
              <a:t>Databricks Genie Agent best practices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CD9282-9994-4059-A718-3AE88CA08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6657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0">
                <a:solidFill>
                  <a:srgbClr val="566575"/>
                </a:solidFill>
                <a:latin typeface="Bitstream Charter"/>
                <a:ea typeface="Bitstream Charter"/>
                <a:cs typeface="Bitstream Charter"/>
              </a:rPr>
              <a:t>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C2EA50-77A7-401C-A4E6-BF4FCC159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504950"/>
            <a:ext cx="1038225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CB2C2F-EADB-4E35-BBB5-F565F997D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6383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GOVERNED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B375BD-4D00-4690-A949-B5599F016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62150"/>
            <a:ext cx="9925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Agent description  •  Metric View metadata  •  Focused source selection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B461CE-C12D-4196-87B6-D42DF4666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533650"/>
            <a:ext cx="10001250" cy="102870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677F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9A6EEE-0C81-417C-B23E-E4F5D053A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6670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BUSINESS METADATA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A5A04A-00C6-4F28-80B9-C5CA0643D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990850"/>
            <a:ext cx="9544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Descriptions  •  Synonyms  •  Display names  •  Prompt matching  •  Hidden fields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B55270-8F70-4304-9CF3-1B1812A92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714750"/>
            <a:ext cx="9620250" cy="102870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8F7F4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170828-A2E1-4DDE-B962-563C92A82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8481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STRUCTURED LOGIC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D4EF83-7E99-4EC8-B85B-C662A7387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171950"/>
            <a:ext cx="9163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Join specifications  •  SQL expressions  •  Example SQL  •  Unity Catalog functions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B5AA1A-2014-4BC4-9F01-A6A472C90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895850"/>
            <a:ext cx="923925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4E5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E71ADE-6176-4310-8696-0934774ED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0292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LAST RESORT AND EVALUATION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178CE5-44A1-4B5C-820E-AE0DB4773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353050"/>
            <a:ext cx="8782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Text instructions  •  Sample questions  •  Benchmarks</a:t>
            </a:r>
          </a:p>
        </p:txBody>
      </p:sp>
    </p:spTree>
    <p:extLst>
      <p:ext uri="{BB962C8B-B14F-4D97-AF65-F5344CB8AC3E}">
        <p14:creationId xmlns:p14="http://schemas.microsoft.com/office/powerpoint/2010/main" val="120265175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905A1F-3452-4705-BD5D-212DCB715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5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6EB466-5768-4DBF-BC69-08361BC87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D5FC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0D5FCC"/>
                </a:solidFill>
                <a:latin typeface="Bitstream Charter"/>
                <a:ea typeface="Bitstream Charter"/>
                <a:cs typeface="Bitstream Charter"/>
              </a:rPr>
              <a:t>COLUMN CONTEXT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7ABD9A-2E84-4A64-B75A-60E5BFDAE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Official defaults and serialized design serve different needs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5BD97F-C306-473A-9D35-157872CEA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5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F9077C-D568-43A3-AEF3-02E4B5236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6657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0">
                <a:solidFill>
                  <a:srgbClr val="566575"/>
                </a:solidFill>
                <a:latin typeface="Bitstream Charter"/>
                <a:ea typeface="Bitstream Charter"/>
                <a:cs typeface="Bitstream Charter"/>
              </a:rPr>
              <a:t>Databricks Genie Agent best practices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0EE281-D73C-4CF3-A544-D55AF7FB9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6657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0">
                <a:solidFill>
                  <a:srgbClr val="566575"/>
                </a:solidFill>
                <a:latin typeface="Bitstream Charter"/>
                <a:ea typeface="Bitstream Charter"/>
                <a:cs typeface="Bitstream Charter"/>
              </a:rPr>
              <a:t>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2471E1-1068-425C-B0C9-7F2A8EF01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5162550" cy="3790950"/>
          </a:xfrm>
          <a:prstGeom xmlns:a="http://schemas.openxmlformats.org/drawingml/2006/main" prst="roundRect">
            <a:avLst>
              <a:gd name="adj" fmla="val 4523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B0E915-AB72-478D-82D1-1802D140C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847850"/>
            <a:ext cx="2571750" cy="304800"/>
          </a:xfrm>
          <a:prstGeom xmlns:a="http://schemas.openxmlformats.org/drawingml/2006/main" prst="roundRect">
            <a:avLst>
              <a:gd name="adj" fmla="val 43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D5FC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0D5FCC"/>
                </a:solidFill>
                <a:latin typeface="Bitstream Charter"/>
                <a:ea typeface="Bitstream Charter"/>
                <a:cs typeface="Bitstream Charter"/>
              </a:rPr>
              <a:t>CURRENT OFFICIAL BEHAVIOR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8FF9C1-F5C2-4125-A6AC-EC3F11164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57450"/>
            <a:ext cx="4419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325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Prompt matching is enabled automatically for eligible columns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5C935A-BC67-426F-A353-62C30D336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00450"/>
            <a:ext cx="42862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500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rPr>
              <a:t>Authors can manage settings per column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500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rPr>
              <a:t>Format assistance supplies representative values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500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rPr>
              <a:t>Entity matching targets categorical strings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C37539-ABF4-47B5-B57E-2DC831791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562100"/>
            <a:ext cx="5162550" cy="3790950"/>
          </a:xfrm>
          <a:prstGeom xmlns:a="http://schemas.openxmlformats.org/drawingml/2006/main" prst="roundRect">
            <a:avLst>
              <a:gd name="adj" fmla="val 4523"/>
            </a:avLst>
          </a:prstGeom>
          <a:solidFill xmlns:a="http://schemas.openxmlformats.org/drawingml/2006/main">
            <a:srgbClr val="E8F7F4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033FEF-52C7-44FD-A212-2E2D2C2EA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47850"/>
            <a:ext cx="2571750" cy="304800"/>
          </a:xfrm>
          <a:prstGeom xmlns:a="http://schemas.openxmlformats.org/drawingml/2006/main" prst="roundRect">
            <a:avLst>
              <a:gd name="adj" fmla="val 43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F766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0F766E"/>
                </a:solidFill>
                <a:latin typeface="Bitstream Charter"/>
                <a:ea typeface="Bitstream Charter"/>
                <a:cs typeface="Bitstream Charter"/>
              </a:rPr>
              <a:t>GITHUB SERIALIZED DESIGN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1A90FF-FD4F-421D-8F4E-C1B3B6174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57450"/>
            <a:ext cx="4419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325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Record deliberate per-column choices through column_configs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D80FB5-14C3-42C3-A1BD-CDBA005EC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00450"/>
            <a:ext cx="42862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500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rPr>
              <a:t>Descriptions and synonyms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500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rPr>
              <a:t>Format assistance and entity matching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500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rPr>
              <a:t>Hidden or excluded fields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F31C6B-1860-4C68-929D-8811C8D6C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9595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The official page is newer at the statement level; explicit configuration remains useful for controlled serialized design</a:t>
            </a:r>
          </a:p>
        </p:txBody>
      </p:sp>
    </p:spTree>
    <p:extLst>
      <p:ext uri="{BB962C8B-B14F-4D97-AF65-F5344CB8AC3E}">
        <p14:creationId xmlns:p14="http://schemas.microsoft.com/office/powerpoint/2010/main" val="13956179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9EC448-8656-4BF5-9E2A-4E10757BB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5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EDFE58-8AAA-4B3C-B5AB-D29C4114B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D5FC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0D5FCC"/>
                </a:solidFill>
                <a:latin typeface="Bitstream Charter"/>
                <a:ea typeface="Bitstream Charter"/>
                <a:cs typeface="Bitstream Charter"/>
              </a:rPr>
              <a:t>PROMPT MATCHING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F2D527-7E08-497B-B3F1-626C2FF63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Prompt matching improves recognition but carries policy rules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F4E65D-57E9-4A44-9F8C-DC3F296EE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5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8EE88A-D098-4788-ADC7-7950BE10E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6657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0">
                <a:solidFill>
                  <a:srgbClr val="566575"/>
                </a:solidFill>
                <a:latin typeface="Bitstream Charter"/>
                <a:ea typeface="Bitstream Charter"/>
                <a:cs typeface="Bitstream Charter"/>
              </a:rPr>
              <a:t>Databricks Genie Agent best practices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927E7A-5D10-40A8-BFD2-6E14A7560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6657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0">
                <a:solidFill>
                  <a:srgbClr val="566575"/>
                </a:solidFill>
                <a:latin typeface="Bitstream Charter"/>
                <a:ea typeface="Bitstream Charter"/>
                <a:cs typeface="Bitstream Charter"/>
              </a:rPr>
              <a:t>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AFECB9-BE01-4D46-96D2-C1B83C451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43050"/>
            <a:ext cx="1619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D5FC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600" b="1">
                <a:solidFill>
                  <a:srgbClr val="0D5FCC"/>
                </a:solidFill>
                <a:latin typeface="Bitstream Charter"/>
                <a:ea typeface="Bitstream Charter"/>
                <a:cs typeface="Bitstream Charter"/>
              </a:rPr>
              <a:t>120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28FBE0-9FA3-4BDE-89F6-4721F8EB5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907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6657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566575"/>
                </a:solidFill>
                <a:latin typeface="Bitstream Charter"/>
                <a:ea typeface="Bitstream Charter"/>
                <a:cs typeface="Bitstream Charter"/>
              </a:rPr>
              <a:t>maximum entity-matched columns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8B265A-49AB-4F73-A246-63204FE07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543050"/>
            <a:ext cx="180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F766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600" b="1">
                <a:solidFill>
                  <a:srgbClr val="0F766E"/>
                </a:solidFill>
                <a:latin typeface="Bitstream Charter"/>
                <a:ea typeface="Bitstream Charter"/>
                <a:cs typeface="Bitstream Charter"/>
              </a:rPr>
              <a:t>1,024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D67A16-463C-49D0-9373-F026C5A2E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19075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6657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566575"/>
                </a:solidFill>
                <a:latin typeface="Bitstream Charter"/>
                <a:ea typeface="Bitstream Charter"/>
                <a:cs typeface="Bitstream Charter"/>
              </a:rPr>
              <a:t>distinct values per column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C49F76-92AD-4ECF-B6C6-75D94FAF2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543050"/>
            <a:ext cx="1619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F5A5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600" b="1">
                <a:solidFill>
                  <a:srgbClr val="FF5A5F"/>
                </a:solidFill>
                <a:latin typeface="Bitstream Charter"/>
                <a:ea typeface="Bitstream Charter"/>
                <a:cs typeface="Bitstream Charter"/>
              </a:rPr>
              <a:t>127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B1015A-2CB2-44A5-943D-FBF38516C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1907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6657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566575"/>
                </a:solidFill>
                <a:latin typeface="Bitstream Charter"/>
                <a:ea typeface="Bitstream Charter"/>
                <a:cs typeface="Bitstream Charter"/>
              </a:rPr>
              <a:t>characters per value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32D18F-C86D-47C0-8BC9-726FE0658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90850"/>
            <a:ext cx="5048250" cy="2438400"/>
          </a:xfrm>
          <a:prstGeom xmlns:a="http://schemas.openxmlformats.org/drawingml/2006/main" prst="roundRect">
            <a:avLst>
              <a:gd name="adj" fmla="val 7031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7E0EA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2FB298-5E22-4DC5-A448-E213A3BE1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575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Good candidates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DE31A1-B924-451D-A0C5-91C9B473A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33800"/>
            <a:ext cx="4095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500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rPr>
              <a:t>State or country codes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500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rPr>
              <a:t>Product categories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500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rPr>
              <a:t>Status codes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500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rPr>
              <a:t>Department names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23273F-090C-49F4-AF2D-9D3F62596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990850"/>
            <a:ext cx="5238750" cy="2438400"/>
          </a:xfrm>
          <a:prstGeom xmlns:a="http://schemas.openxmlformats.org/drawingml/2006/main" prst="roundRect">
            <a:avLst>
              <a:gd name="adj" fmla="val 7031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7917A5-A346-4D32-A5DE-16CE0E1EA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2575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B4231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B42318"/>
                </a:solidFill>
                <a:latin typeface="Bitstream Charter"/>
                <a:ea typeface="Bitstream Charter"/>
                <a:cs typeface="Bitstream Charter"/>
              </a:rPr>
              <a:t>Policy behavior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2F2E11-8678-499F-98F0-AB852BF6F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733800"/>
            <a:ext cx="4476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500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rPr>
              <a:t>Row filter excludes the table from prompt matching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500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rPr>
              <a:t>Column mask excludes the masked column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500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rPr>
              <a:t>Disable entity matching for affected views and dynamic views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61EF02-4431-4CFA-A701-993060D29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7340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Representative values use the author's permissions and become shared Agent context</a:t>
            </a:r>
          </a:p>
        </p:txBody>
      </p:sp>
    </p:spTree>
    <p:extLst>
      <p:ext uri="{BB962C8B-B14F-4D97-AF65-F5344CB8AC3E}">
        <p14:creationId xmlns:p14="http://schemas.microsoft.com/office/powerpoint/2010/main" val="6672629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360F2C-C27F-48C1-B7F1-D6D207E55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5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C3871D-7252-42AE-B2E5-CC47AD92F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D5FC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0D5FCC"/>
                </a:solidFill>
                <a:latin typeface="Bitstream Charter"/>
                <a:ea typeface="Bitstream Charter"/>
                <a:cs typeface="Bitstream Charter"/>
              </a:rPr>
              <a:t>SQL QUALITY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BB5FF3-55BB-409C-8DB4-64D1AC487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Evidence-backed joins and qualified SQL reduce ambiguity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C793D1-5729-4F83-AA11-6002F21F1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5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F26E44-FD05-4D55-AE61-91389F669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6657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0">
                <a:solidFill>
                  <a:srgbClr val="566575"/>
                </a:solidFill>
                <a:latin typeface="Bitstream Charter"/>
                <a:ea typeface="Bitstream Charter"/>
                <a:cs typeface="Bitstream Charter"/>
              </a:rPr>
              <a:t>Databricks Genie Agent best practices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8EC8B4-8318-4516-98DE-FAB0B2D5C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6657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0">
                <a:solidFill>
                  <a:srgbClr val="566575"/>
                </a:solidFill>
                <a:latin typeface="Bitstream Charter"/>
                <a:ea typeface="Bitstream Charter"/>
                <a:cs typeface="Bitstream Charter"/>
              </a:rPr>
              <a:t>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5DC96A-8F4F-4F56-B429-70BE5CF91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5200650" cy="40005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7E0E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029A87-0220-46AB-9367-A40F26AF1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478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Join relationships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93C2CB-3C10-4617-83E9-C263A7D9E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57450"/>
            <a:ext cx="44196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100"/>
              </a:spcAft>
              <a:buChar char="•"/>
              <a:defRPr sz="157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rPr>
              <a:t>Specify left and right objects</a:t>
            </a:r>
          </a:p>
          <a:p xmlns:a="http://schemas.openxmlformats.org/drawingml/2006/main">
            <a:pPr marL="228600" indent="-114300">
              <a:spcAft>
                <a:spcPts val="1100"/>
              </a:spcAft>
              <a:buChar char="•"/>
              <a:defRPr sz="157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rPr>
              <a:t>Use a qualified join condition</a:t>
            </a:r>
          </a:p>
          <a:p xmlns:a="http://schemas.openxmlformats.org/drawingml/2006/main">
            <a:pPr marL="228600" indent="-114300">
              <a:spcAft>
                <a:spcPts val="1100"/>
              </a:spcAft>
              <a:buChar char="•"/>
              <a:defRPr sz="157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rPr>
              <a:t>Declare many-to-one, one-to-many, or one-to-one</a:t>
            </a:r>
          </a:p>
          <a:p xmlns:a="http://schemas.openxmlformats.org/drawingml/2006/main">
            <a:pPr marL="228600" indent="-114300">
              <a:spcAft>
                <a:spcPts val="1100"/>
              </a:spcAft>
              <a:buChar char="•"/>
              <a:defRPr sz="157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rPr>
              <a:t>Support joins with constraints, naming, row counts, query history, or confirmation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E567D7-CACE-42AE-A4D5-C8B2152D0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524000"/>
            <a:ext cx="5086350" cy="40005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FE7F37-FC3D-4F0B-9E79-2868F4457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8478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SQL quality controls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885B7A-3239-4D1B-9996-75CCF7131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457450"/>
            <a:ext cx="42862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00" b="0">
                <a:solidFill>
                  <a:srgbClr val="D9E6F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D9E6F1"/>
                </a:solidFill>
                <a:latin typeface="Bitstream Charter"/>
                <a:ea typeface="Bitstream Charter"/>
                <a:cs typeface="Bitstream Charter"/>
              </a:rPr>
              <a:t>Qualify every column in expressions and joins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00" b="0">
                <a:solidFill>
                  <a:srgbClr val="D9E6F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D9E6F1"/>
                </a:solidFill>
                <a:latin typeface="Bitstream Charter"/>
                <a:ea typeface="Bitstream Charter"/>
                <a:cs typeface="Bitstream Charter"/>
              </a:rPr>
              <a:t>Qualify columns inside subqueries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00" b="0">
                <a:solidFill>
                  <a:srgbClr val="D9E6F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D9E6F1"/>
                </a:solidFill>
                <a:latin typeface="Bitstream Charter"/>
                <a:ea typeface="Bitstream Charter"/>
                <a:cs typeface="Bitstream Charter"/>
              </a:rPr>
              <a:t>Validate examples, snippets, joins, and benchmark SQL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00" b="0">
                <a:solidFill>
                  <a:srgbClr val="D9E6F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D9E6F1"/>
                </a:solidFill>
                <a:latin typeface="Bitstream Charter"/>
                <a:ea typeface="Bitstream Charter"/>
                <a:cs typeface="Bitstream Charter"/>
              </a:rPr>
              <a:t>Use bounded read-only execution or EXPLAIN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00" b="0">
                <a:solidFill>
                  <a:srgbClr val="D9E6F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D9E6F1"/>
                </a:solidFill>
                <a:latin typeface="Bitstream Charter"/>
                <a:ea typeface="Bitstream Charter"/>
                <a:cs typeface="Bitstream Charter"/>
              </a:rPr>
              <a:t>Keep examples separate from benchmark answers</a:t>
            </a:r>
          </a:p>
        </p:txBody>
      </p:sp>
    </p:spTree>
    <p:extLst>
      <p:ext uri="{BB962C8B-B14F-4D97-AF65-F5344CB8AC3E}">
        <p14:creationId xmlns:p14="http://schemas.microsoft.com/office/powerpoint/2010/main" val="195109145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E3F1AD-70E0-4432-A3FB-5A72F7F82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5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090C19-B778-455C-8A09-413B84890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D5FC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0D5FCC"/>
                </a:solidFill>
                <a:latin typeface="Bitstream Charter"/>
                <a:ea typeface="Bitstream Charter"/>
                <a:cs typeface="Bitstream Charter"/>
              </a:rPr>
              <a:t>INSTRUCTION DESIGN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C148C0-0B81-4FD7-A70A-4CCE24B57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85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Use the most structured surface that fits the need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CD2A40-BD4F-47B2-AA97-B5F44B05D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5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08C57B-60A7-49A8-ABB6-844EEB2DF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6657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0">
                <a:solidFill>
                  <a:srgbClr val="566575"/>
                </a:solidFill>
                <a:latin typeface="Bitstream Charter"/>
                <a:ea typeface="Bitstream Charter"/>
                <a:cs typeface="Bitstream Charter"/>
              </a:rPr>
              <a:t>Databricks Genie Agent best practices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62D87D-6FD5-4E2E-8F24-00E0B7035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6657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0">
                <a:solidFill>
                  <a:srgbClr val="566575"/>
                </a:solidFill>
                <a:latin typeface="Bitstream Charter"/>
                <a:ea typeface="Bitstream Charter"/>
                <a:cs typeface="Bitstream Charter"/>
              </a:rPr>
              <a:t>14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647700" y="1466850"/>
          <a:ext xmlns:a="http://schemas.openxmlformats.org/drawingml/2006/main" cx="10896600" cy="4038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52750"/>
                <a:gridCol w="3143250"/>
                <a:gridCol w="4800600"/>
              </a:tblGrid>
              <a:tr h="576943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Need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Preferred surface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Reason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</a:tr>
              <a:tr h="576943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02A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Governed KPI or business metric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02A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Metric View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02A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Central definition and reusable semantics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6943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02A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Reusable metric, filter, or field</a:t>
                      </a:r>
                    </a:p>
                  </a:txBody>
                  <a:tcPr marL="91440" marR="91440" marT="45720" marB="45720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02A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SQL expression</a:t>
                      </a:r>
                    </a:p>
                  </a:txBody>
                  <a:tcPr marL="91440" marR="91440" marT="45720" marB="45720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02A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Structured business logic</a:t>
                      </a:r>
                    </a:p>
                  </a:txBody>
                  <a:tcPr marL="91440" marR="91440" marT="45720" marB="45720">
                    <a:solidFill>
                      <a:srgbClr val="F6F8FB"/>
                    </a:solidFill>
                  </a:tcPr>
                </a:tc>
              </a:tr>
              <a:tr h="576943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02A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Complex or ambiguous question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02A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Example SQL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02A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Teaches a representative query pattern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6943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02A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Reusable registered logic</a:t>
                      </a:r>
                    </a:p>
                  </a:txBody>
                  <a:tcPr marL="91440" marR="91440" marT="45720" marB="45720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02A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Unity Catalog SQL function</a:t>
                      </a:r>
                    </a:p>
                  </a:txBody>
                  <a:tcPr marL="91440" marR="91440" marT="45720" marB="45720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02A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Trusted logic invoked with parameters</a:t>
                      </a:r>
                    </a:p>
                  </a:txBody>
                  <a:tcPr marL="91440" marR="91440" marT="45720" marB="45720">
                    <a:solidFill>
                      <a:srgbClr val="F6F8FB"/>
                    </a:solidFill>
                  </a:tcPr>
                </a:tc>
              </a:tr>
              <a:tr h="576943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02A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Business vocabulary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02A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Description or synonym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02A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Maps user language to data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6943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02A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Global response behavior</a:t>
                      </a:r>
                    </a:p>
                  </a:txBody>
                  <a:tcPr marL="91440" marR="91440" marT="45720" marB="45720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02A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Text instruction</a:t>
                      </a:r>
                    </a:p>
                  </a:txBody>
                  <a:tcPr marL="91440" marR="91440" marT="45720" marB="45720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02A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Only when structured surfaces do not fit</a:t>
                      </a:r>
                    </a:p>
                  </a:txBody>
                  <a:tcPr marL="91440" marR="91440" marT="45720" marB="45720"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3716CB-FB2E-4E3A-8DF3-1D58813AC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7721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B4231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B42318"/>
                </a:solidFill>
                <a:latin typeface="Bitstream Charter"/>
                <a:ea typeface="Bitstream Charter"/>
                <a:cs typeface="Bitstream Charter"/>
              </a:rPr>
              <a:t>Do not use text instructions as the default home for metrics, filters, joins, ranking, or window logic</a:t>
            </a:r>
          </a:p>
        </p:txBody>
      </p:sp>
    </p:spTree>
    <p:extLst>
      <p:ext uri="{BB962C8B-B14F-4D97-AF65-F5344CB8AC3E}">
        <p14:creationId xmlns:p14="http://schemas.microsoft.com/office/powerpoint/2010/main" val="40598422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39A4A89-66A2-4293-B6F3-D2B730F3E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5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C249AD-3D06-4271-8F74-0EDBAA379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D5FC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0D5FCC"/>
                </a:solidFill>
                <a:latin typeface="Bitstream Charter"/>
                <a:ea typeface="Bitstream Charter"/>
                <a:cs typeface="Bitstream Charter"/>
              </a:rPr>
              <a:t>TEXT INSTRUCTIONS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5FDE78-87DA-4EB7-8710-EE629649A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85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Text instructions stay concise, global, and specific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4838C3-D9C0-426A-981F-CBFF833F8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5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AA78B1-21A6-4064-8BE9-E42EE67AA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6657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0">
                <a:solidFill>
                  <a:srgbClr val="566575"/>
                </a:solidFill>
                <a:latin typeface="Bitstream Charter"/>
                <a:ea typeface="Bitstream Charter"/>
                <a:cs typeface="Bitstream Charter"/>
              </a:rPr>
              <a:t>Databricks Genie Agent best practices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5B8FA7-BBEA-4574-AC94-20FF8942C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6657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0">
                <a:solidFill>
                  <a:srgbClr val="566575"/>
                </a:solidFill>
                <a:latin typeface="Bitstream Charter"/>
                <a:ea typeface="Bitstream Charter"/>
                <a:cs typeface="Bitstream Charter"/>
              </a:rPr>
              <a:t>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A2D23F-D650-4920-8CC9-8136EFADE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04950"/>
            <a:ext cx="106680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7E0E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526847-3B4D-4459-83AF-FA300CA78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04950"/>
            <a:ext cx="85725" cy="57150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677F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D198A2-91C9-4582-B60E-D9CFAE19B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657350"/>
            <a:ext cx="2781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677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>
                <a:solidFill>
                  <a:srgbClr val="1677FF"/>
                </a:solidFill>
                <a:latin typeface="Bitstream Charter"/>
                <a:ea typeface="Bitstream Charter"/>
                <a:cs typeface="Bitstream Charter"/>
              </a:rPr>
              <a:t>PURPOSE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803BD3-77F2-44A4-B3D0-7EA5C93B2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628775"/>
            <a:ext cx="695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rPr>
              <a:t>Scope and audience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F31629-9162-4645-BDB5-350442D01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86000"/>
            <a:ext cx="106680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83C623-3D18-43EE-90E7-333768EF9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86000"/>
            <a:ext cx="85725" cy="57150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4FD418-4990-4BE4-9A5E-FF85E9274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38400"/>
            <a:ext cx="2781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F766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>
                <a:solidFill>
                  <a:srgbClr val="0F766E"/>
                </a:solidFill>
                <a:latin typeface="Bitstream Charter"/>
                <a:ea typeface="Bitstream Charter"/>
                <a:cs typeface="Bitstream Charter"/>
              </a:rPr>
              <a:t>DISAMBIGUATION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78984D-F882-476F-A5B1-2B9733DAE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409825"/>
            <a:ext cx="695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rPr>
              <a:t>Clarification triggers and term rules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657F4E-A2E5-4F94-9EE2-6F7E3C312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67050"/>
            <a:ext cx="106680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7E0EA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1AF0BB-5CED-48CE-8857-3494272AA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67050"/>
            <a:ext cx="85725" cy="57150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82B007-3F00-4727-A385-F3A366172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19450"/>
            <a:ext cx="2781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B4530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>
                <a:solidFill>
                  <a:srgbClr val="B45309"/>
                </a:solidFill>
                <a:latin typeface="Bitstream Charter"/>
                <a:ea typeface="Bitstream Charter"/>
                <a:cs typeface="Bitstream Charter"/>
              </a:rPr>
              <a:t>DATA QUALITY NOTES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14B609-F231-4D15-824F-F2A07465C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190875"/>
            <a:ext cx="695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rPr>
              <a:t>Relevant nulls, bad rows, and caveats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F6F8D5-E211-41E4-A664-0F83FD3CD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48100"/>
            <a:ext cx="106680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93837A-EA2D-473F-8298-6E4341611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48100"/>
            <a:ext cx="85725" cy="57150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F5A5F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6B1EF9-BDA2-41B8-9EAB-CE8F725D5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00500"/>
            <a:ext cx="2781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5A5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>
                <a:solidFill>
                  <a:srgbClr val="FF5A5F"/>
                </a:solidFill>
                <a:latin typeface="Bitstream Charter"/>
                <a:ea typeface="Bitstream Charter"/>
                <a:cs typeface="Bitstream Charter"/>
              </a:rPr>
              <a:t>CONSTRAINTS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C1F071C-8E9B-4EC9-A0D2-6CDADE691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971925"/>
            <a:ext cx="695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rPr>
              <a:t>Hard restrictions and sensitive fields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A6D2007-61A5-4827-A67E-E85348B0C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29150"/>
            <a:ext cx="106680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7E0EA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450041-1763-42A5-B01E-9587F0779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29150"/>
            <a:ext cx="85725" cy="57150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F05CE6A-BFFF-4887-958A-5DD39CECB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81550"/>
            <a:ext cx="2781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324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>
                <a:solidFill>
                  <a:srgbClr val="17324D"/>
                </a:solidFill>
                <a:latin typeface="Bitstream Charter"/>
                <a:ea typeface="Bitstream Charter"/>
                <a:cs typeface="Bitstream Charter"/>
              </a:rPr>
              <a:t>SUMMARY INSTRUCTIONS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AB1ACC6-CB55-41D1-A0F0-0144FDCC4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752975"/>
            <a:ext cx="695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rPr>
              <a:t>Rounding, caveats, and required date ranges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5830471-2159-4658-A925-307023AE2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43550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GitHub guidance: keep total text under 2,000 characters; no SQL inside bullets; document why structured surfaces were insufficient</a:t>
            </a:r>
          </a:p>
        </p:txBody>
      </p:sp>
    </p:spTree>
    <p:extLst>
      <p:ext uri="{BB962C8B-B14F-4D97-AF65-F5344CB8AC3E}">
        <p14:creationId xmlns:p14="http://schemas.microsoft.com/office/powerpoint/2010/main" val="152678129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560A08-6390-4F0F-9314-36BFB6182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5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07C2BE-1B19-45F7-8554-446E6952A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D5FC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0D5FCC"/>
                </a:solidFill>
                <a:latin typeface="Bitstream Charter"/>
                <a:ea typeface="Bitstream Charter"/>
                <a:cs typeface="Bitstream Charter"/>
              </a:rPr>
              <a:t>TESTING AND EVALUATION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63195E-6BB1-4D97-AB7D-1F9366BE8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Benchmarks separate deterministic SQL checks from response judging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BA62E4-16C2-492C-94ED-12977A882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5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9A77DA-53DE-4B7F-B3E2-C9EE8C126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6657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0">
                <a:solidFill>
                  <a:srgbClr val="566575"/>
                </a:solidFill>
                <a:latin typeface="Bitstream Charter"/>
                <a:ea typeface="Bitstream Charter"/>
                <a:cs typeface="Bitstream Charter"/>
              </a:rPr>
              <a:t>Databricks Genie Agent best practices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3F546E-1078-48EA-9B65-73D709ABC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6657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0">
                <a:solidFill>
                  <a:srgbClr val="566575"/>
                </a:solidFill>
                <a:latin typeface="Bitstream Charter"/>
                <a:ea typeface="Bitstream Charter"/>
                <a:cs typeface="Bitstream Charter"/>
              </a:rPr>
              <a:t>16</a:t>
            </a:r>
          </a:p>
        </p:txBody>
      </p:sp>
      <p:graphicFrame>
        <p:nvGraphicFramePr>
          <p:cNvPr id="30" name=""/>
          <p:cNvGraphicFramePr/>
          <p:nvPr/>
        </p:nvGraphicFramePr>
        <p:xfrm>
          <a:off xmlns:a="http://schemas.openxmlformats.org/drawingml/2006/main" x="685800" y="1504950"/>
          <a:ext xmlns:a="http://schemas.openxmlformats.org/drawingml/2006/main" cx="10820400" cy="1714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5905500"/>
                <a:gridCol w="2819400"/>
              </a:tblGrid>
              <a:tr h="57150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Mode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Evaluation basis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Ground truth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202A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Chat mode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202A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Generated SQL results compared with a supplied SQL answer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202A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Checked SQL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202A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Agent mode</a:t>
                      </a:r>
                    </a:p>
                  </a:txBody>
                  <a:tcPr marL="91440" marR="91440" marT="45720" marB="45720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202A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Multi-step response graded by an LLM judge</a:t>
                      </a:r>
                    </a:p>
                  </a:txBody>
                  <a:tcPr marL="91440" marR="91440" marT="45720" marB="45720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202A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Evaluation note</a:t>
                      </a:r>
                    </a:p>
                  </a:txBody>
                  <a:tcPr marL="91440" marR="91440" marT="45720" marB="45720"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78083D-312F-4919-8102-F2B7ECAD6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90950"/>
            <a:ext cx="2000250" cy="1219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7E0EA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E6991E-27FB-459C-99BA-AAC9D6B45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4335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D5FC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0D5FCC"/>
                </a:solidFill>
                <a:latin typeface="Bitstream Charter"/>
                <a:ea typeface="Bitstream Charter"/>
                <a:cs typeface="Bitstream Charter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E57B6C-4013-4690-B66F-A58EE2324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24350"/>
            <a:ext cx="1676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Ask realistic questions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6CB311-B94D-4FFB-A062-B9805ED42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790950"/>
            <a:ext cx="2000250" cy="1219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7E0EA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470D62-C408-48A8-ADF6-66DC31C89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94335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D5FC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0D5FCC"/>
                </a:solidFill>
                <a:latin typeface="Bitstream Charter"/>
                <a:ea typeface="Bitstream Charter"/>
                <a:cs typeface="Bitstream Charter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B934BA-2FD9-4B5E-90FC-8EBE0111F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324350"/>
            <a:ext cx="1676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Inspect SQL and results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9827B3-7F49-4B47-BB42-C2A0D7BB4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790950"/>
            <a:ext cx="2000250" cy="1219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7E0EA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6E137A-F9C2-4191-BB2C-521FA9CB5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94335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D5FC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0D5FCC"/>
                </a:solidFill>
                <a:latin typeface="Bitstream Charter"/>
                <a:ea typeface="Bitstream Charter"/>
                <a:cs typeface="Bitstream Charter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D6C374-3EF7-4668-95DB-3899912FD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324350"/>
            <a:ext cx="1676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Correct reusable patterns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2101F7-762D-4C46-B8E2-2162823EE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790950"/>
            <a:ext cx="2000250" cy="1219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7E0EA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A14DD6-1710-4522-A227-899E16059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94335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D5FC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0D5FCC"/>
                </a:solidFill>
                <a:latin typeface="Bitstream Charter"/>
                <a:ea typeface="Bitstream Charter"/>
                <a:cs typeface="Bitstream Charter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32F3F2-FA49-4A3D-9564-9C45C9B3B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324350"/>
            <a:ext cx="1676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Run all or selected benchmarks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77359B-496E-4B26-8124-07E7E6C15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790950"/>
            <a:ext cx="2000250" cy="1219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D7E0EA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3876CD-733B-46F4-92C1-0A51CC93C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94335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86B9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86B9FF"/>
                </a:solidFill>
                <a:latin typeface="Bitstream Charter"/>
                <a:ea typeface="Bitstream Charter"/>
                <a:cs typeface="Bitstream Charter"/>
              </a:rPr>
              <a:t>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DCBEE32-68A1-4009-8EF7-77BE4794B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4324350"/>
            <a:ext cx="1676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Review failures and refine context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3E02B1E-3C24-4BC2-BF54-57FA5D1B8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29250"/>
            <a:ext cx="10363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Benchmarks run as new conversations; each Agent supports up to 500 benchmark questions</a:t>
            </a:r>
          </a:p>
        </p:txBody>
      </p:sp>
    </p:spTree>
    <p:extLst>
      <p:ext uri="{BB962C8B-B14F-4D97-AF65-F5344CB8AC3E}">
        <p14:creationId xmlns:p14="http://schemas.microsoft.com/office/powerpoint/2010/main" val="197114183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925D02-AE05-49A3-AF79-A520A11EF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5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C351C2-BF84-42D7-991F-533E852AF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D5FC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0D5FCC"/>
                </a:solidFill>
                <a:latin typeface="Bitstream Charter"/>
                <a:ea typeface="Bitstream Charter"/>
                <a:cs typeface="Bitstream Charter"/>
              </a:rPr>
              <a:t>PRODUCT AND DESIGN LIMITS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F7EFE4-CCE7-430A-A87F-10123A51A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85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Current limits shape curation and operating scale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176B37-25D3-4E2A-95AC-120BF3D7F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5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BB503D-B367-4954-8B0F-D286150B2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6657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0">
                <a:solidFill>
                  <a:srgbClr val="566575"/>
                </a:solidFill>
                <a:latin typeface="Bitstream Charter"/>
                <a:ea typeface="Bitstream Charter"/>
                <a:cs typeface="Bitstream Charter"/>
              </a:rPr>
              <a:t>Databricks Genie Agent best practices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2D054C-CF6B-4EF9-81DD-F2A028030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6657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0">
                <a:solidFill>
                  <a:srgbClr val="566575"/>
                </a:solidFill>
                <a:latin typeface="Bitstream Charter"/>
                <a:ea typeface="Bitstream Charter"/>
                <a:cs typeface="Bitstream Charter"/>
              </a:rPr>
              <a:t>17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666750" y="1466850"/>
          <a:ext xmlns:a="http://schemas.openxmlformats.org/drawingml/2006/main" cx="10858500" cy="3905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33750"/>
                <a:gridCol w="2190750"/>
                <a:gridCol w="5334000"/>
              </a:tblGrid>
              <a:tr h="557893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Configuration area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Current limit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Source context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</a:tr>
              <a:tr h="557893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02A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Attached data objects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02A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50 per Agent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02A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Official current maximum; start with five or fewer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7893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02A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Instructions</a:t>
                      </a:r>
                    </a:p>
                  </a:txBody>
                  <a:tcPr marL="91440" marR="91440" marT="45720" marB="45720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02A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100 per Agent</a:t>
                      </a:r>
                    </a:p>
                  </a:txBody>
                  <a:tcPr marL="91440" marR="91440" marT="45720" marB="45720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02A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Each example SQL, function, and general block counts</a:t>
                      </a:r>
                    </a:p>
                  </a:txBody>
                  <a:tcPr marL="91440" marR="91440" marT="45720" marB="45720">
                    <a:solidFill>
                      <a:srgbClr val="F6F8FB"/>
                    </a:solidFill>
                  </a:tcPr>
                </a:tc>
              </a:tr>
              <a:tr h="557893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02A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Knowledge-store snippets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02A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200 per Agent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02A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Table descriptions, joins, and SQL expressions share capacity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7893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02A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Benchmark questions</a:t>
                      </a:r>
                    </a:p>
                  </a:txBody>
                  <a:tcPr marL="91440" marR="91440" marT="45720" marB="45720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02A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500 per Agent</a:t>
                      </a:r>
                    </a:p>
                  </a:txBody>
                  <a:tcPr marL="91440" marR="91440" marT="45720" marB="45720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02A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Chat or Agent mode</a:t>
                      </a:r>
                    </a:p>
                  </a:txBody>
                  <a:tcPr marL="91440" marR="91440" marT="45720" marB="45720">
                    <a:solidFill>
                      <a:srgbClr val="F6F8FB"/>
                    </a:solidFill>
                  </a:tcPr>
                </a:tc>
              </a:tr>
              <a:tr h="557893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02A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Conversations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02A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200,000 per Agent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02A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Product capacity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7893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02A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Messages</a:t>
                      </a:r>
                    </a:p>
                  </a:txBody>
                  <a:tcPr marL="91440" marR="91440" marT="45720" marB="45720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02A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10,000 per conversation</a:t>
                      </a:r>
                    </a:p>
                  </a:txBody>
                  <a:tcPr marL="91440" marR="91440" marT="45720" marB="45720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02A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Product capacity</a:t>
                      </a:r>
                    </a:p>
                  </a:txBody>
                  <a:tcPr marL="91440" marR="91440" marT="45720" marB="45720"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83141B-A035-48FB-ACB1-4E570ACEF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76900"/>
            <a:ext cx="10363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56657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0">
                <a:solidFill>
                  <a:srgbClr val="566575"/>
                </a:solidFill>
                <a:latin typeface="Bitstream Charter"/>
                <a:ea typeface="Bitstream Charter"/>
                <a:cs typeface="Bitstream Charter"/>
              </a:rPr>
              <a:t>The older GitHub limit of 30 data objects is retained only as dated historical guidance</a:t>
            </a:r>
          </a:p>
        </p:txBody>
      </p:sp>
    </p:spTree>
    <p:extLst>
      <p:ext uri="{BB962C8B-B14F-4D97-AF65-F5344CB8AC3E}">
        <p14:creationId xmlns:p14="http://schemas.microsoft.com/office/powerpoint/2010/main" val="169620925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029B050-8C41-4907-8557-6819A6ED4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5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3AD159-F7C0-4511-9BFE-C96C5EA41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D5FC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0D5FCC"/>
                </a:solidFill>
                <a:latin typeface="Bitstream Charter"/>
                <a:ea typeface="Bitstream Charter"/>
                <a:cs typeface="Bitstream Charter"/>
              </a:rPr>
              <a:t>DEPLOYMENT AND VERSION CONTROL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7B20C6-E321-4C8B-92D0-0A7523B41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Declarative Automation Bundles support controlled promotion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DBD107-24D7-4C92-ABFC-BDE97EA74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5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17D5CA-99B1-4F17-8302-756112BD1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6657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0">
                <a:solidFill>
                  <a:srgbClr val="566575"/>
                </a:solidFill>
                <a:latin typeface="Bitstream Charter"/>
                <a:ea typeface="Bitstream Charter"/>
                <a:cs typeface="Bitstream Charter"/>
              </a:rPr>
              <a:t>Databricks Genie Agent best practices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87AAC5-C80C-41B1-87C5-404AD80E1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6657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0">
                <a:solidFill>
                  <a:srgbClr val="566575"/>
                </a:solidFill>
                <a:latin typeface="Bitstream Charter"/>
                <a:ea typeface="Bitstream Charter"/>
                <a:cs typeface="Bitstream Charter"/>
              </a:rPr>
              <a:t>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280173-BBAA-4246-A021-A1D73FA48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76400"/>
            <a:ext cx="3238500" cy="1619250"/>
          </a:xfrm>
          <a:prstGeom xmlns:a="http://schemas.openxmlformats.org/drawingml/2006/main" prst="roundRect">
            <a:avLst>
              <a:gd name="adj" fmla="val 10588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7E0E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ED99A8-A79F-4465-A708-927C20DBE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76400"/>
            <a:ext cx="3238500" cy="49530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1677F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9D313C-1F9B-4EAB-8B01-D248B28FD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907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DEV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50AD44-98C1-48DF-9359-877D793FE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38400"/>
            <a:ext cx="276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Build, validate, and tune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A954FD-3D3E-427F-B986-0E11E8973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352675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88AF8F-4F06-4E61-A599-3B902B51C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352675"/>
            <a:ext cx="171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CC5E18-77FF-411C-8578-BD5A1D103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676400"/>
            <a:ext cx="3238500" cy="1619250"/>
          </a:xfrm>
          <a:prstGeom xmlns:a="http://schemas.openxmlformats.org/drawingml/2006/main" prst="roundRect">
            <a:avLst>
              <a:gd name="adj" fmla="val 10588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7E0EA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B32197-7D60-49B6-9AF3-0D489BFBD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676400"/>
            <a:ext cx="3238500" cy="49530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18B906-AB56-4E1B-8E0A-931D4D64D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17907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STAGING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43499B-E6C9-4811-B542-A457EE5AD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438400"/>
            <a:ext cx="276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Run evaluation and business testing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962B07-2AAB-4F93-A178-D9C91C452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352675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ABA01E-061F-420F-A6A9-A6BD380E5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352675"/>
            <a:ext cx="171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93180B-F913-401A-8B6D-D5571E9E5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676400"/>
            <a:ext cx="3238500" cy="1619250"/>
          </a:xfrm>
          <a:prstGeom xmlns:a="http://schemas.openxmlformats.org/drawingml/2006/main" prst="roundRect">
            <a:avLst>
              <a:gd name="adj" fmla="val 10588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7E0EA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77B9BF-D9C4-46D9-AD98-87EAAE249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676400"/>
            <a:ext cx="3238500" cy="49530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A468A1B-6D6A-47AB-9AE8-FCF0EF7D0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7907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PRODUCTION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4D10D23-1FBC-4E6F-8F00-B869536EF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438400"/>
            <a:ext cx="276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Release approved configuration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747CE1F-57C0-42C5-9F36-0B1216EA0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90950"/>
            <a:ext cx="10706100" cy="1714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3640EB7-6D3A-4774-A42A-7E492B68B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576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Bundle requirements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F123127-7EC3-4D42-9BB9-8BC0836CB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291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86B9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1">
                <a:solidFill>
                  <a:srgbClr val="86B9FF"/>
                </a:solidFill>
                <a:latin typeface="Bitstream Charter"/>
                <a:ea typeface="Bitstream Charter"/>
                <a:cs typeface="Bitstream Charter"/>
              </a:rPr>
              <a:t>Direct deployment engine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A045CCC-A039-4975-B993-BCA8091D1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0576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86B9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86B9FF"/>
                </a:solidFill>
                <a:latin typeface="Bitstream Charter"/>
                <a:ea typeface="Bitstream Charter"/>
                <a:cs typeface="Bitstream Charter"/>
              </a:rPr>
              <a:t>Genie resource key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0EF7C74-DDB7-48B0-BFDB-5E82A294C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438650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genie_spaces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4C2F00D-A676-4066-BC99-5A5597358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05765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86B9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86B9FF"/>
                </a:solidFill>
                <a:latin typeface="Bitstream Charter"/>
                <a:ea typeface="Bitstream Charter"/>
                <a:cs typeface="Bitstream Charter"/>
              </a:rPr>
              <a:t>Core fields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5356210-72E7-4B11-B0F7-64FC63B46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438650"/>
            <a:ext cx="4000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title, description, warehouse_id, file_path or serialized_space, permissions</a:t>
            </a:r>
          </a:p>
        </p:txBody>
      </p:sp>
    </p:spTree>
    <p:extLst>
      <p:ext uri="{BB962C8B-B14F-4D97-AF65-F5344CB8AC3E}">
        <p14:creationId xmlns:p14="http://schemas.microsoft.com/office/powerpoint/2010/main" val="72863934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EE8E624-4506-42AE-B9D7-97E29B401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5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3E6B9E-C70D-456A-8A32-71A628F5E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D5FC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0D5FCC"/>
                </a:solidFill>
                <a:latin typeface="Bitstream Charter"/>
                <a:ea typeface="Bitstream Charter"/>
                <a:cs typeface="Bitstream Charter"/>
              </a:rPr>
              <a:t>OPERATING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D865F2-5D7A-4B2E-A72A-7B5A9ED32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Monitoring turns user evidence into controlled improvements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D7272D-7D93-4F7A-B0D7-43F5A2E42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5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199EA4-ACCC-4C4D-BB30-8EB777F7E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6657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0">
                <a:solidFill>
                  <a:srgbClr val="566575"/>
                </a:solidFill>
                <a:latin typeface="Bitstream Charter"/>
                <a:ea typeface="Bitstream Charter"/>
                <a:cs typeface="Bitstream Charter"/>
              </a:rPr>
              <a:t>Databricks Genie Agent best practices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82D097-AE0B-47E7-9AE3-4DDDA4865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6657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0">
                <a:solidFill>
                  <a:srgbClr val="566575"/>
                </a:solidFill>
                <a:latin typeface="Bitstream Charter"/>
                <a:ea typeface="Bitstream Charter"/>
                <a:cs typeface="Bitstream Charter"/>
              </a:rPr>
              <a:t>19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22BCA9-71AA-4184-A047-340A22375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81200"/>
            <a:ext cx="2000250" cy="20383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7E0E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665482-1F26-4C24-A5A0-1B1C02B3D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526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677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1677FF"/>
                </a:solidFill>
                <a:latin typeface="Bitstream Charter"/>
                <a:ea typeface="Bitstream Charter"/>
                <a:cs typeface="Bitstream Charter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544F12-13DB-4093-B14C-BB3EF206A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09850"/>
            <a:ext cx="1657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Observe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C7BF38-24B7-4765-AAE5-6576FCCC5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05150"/>
            <a:ext cx="1657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6657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566575"/>
                </a:solidFill>
                <a:latin typeface="Bitstream Charter"/>
                <a:ea typeface="Bitstream Charter"/>
                <a:cs typeface="Bitstream Charter"/>
              </a:rPr>
              <a:t>Questions, feedback, and review requests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9E5CD1-9E3A-4F2B-B63C-1AC693F12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981200"/>
            <a:ext cx="2000250" cy="20383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7E0EA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119719-AE50-4DF3-B36B-A1EBD15DB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1526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F766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0F766E"/>
                </a:solidFill>
                <a:latin typeface="Bitstream Charter"/>
                <a:ea typeface="Bitstream Charter"/>
                <a:cs typeface="Bitstream Charter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994D72-6296-4C5D-BF5B-7DA74FFBA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609850"/>
            <a:ext cx="1657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Diagnose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BD4E26-CFEE-4E6B-991F-0DC7A7822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105150"/>
            <a:ext cx="1657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6657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566575"/>
                </a:solidFill>
                <a:latin typeface="Bitstream Charter"/>
                <a:ea typeface="Bitstream Charter"/>
                <a:cs typeface="Bitstream Charter"/>
              </a:rPr>
              <a:t>Inspect generated SQL and response context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C9C322-CF03-496C-8181-57C94197E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1981200"/>
            <a:ext cx="2000250" cy="20383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7E0EA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A05794-FC76-472B-A7C1-4DA036EFC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1526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B4530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B45309"/>
                </a:solidFill>
                <a:latin typeface="Bitstream Charter"/>
                <a:ea typeface="Bitstream Charter"/>
                <a:cs typeface="Bitstream Charter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949FBD-AC0F-4DC1-AF96-40829D372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609850"/>
            <a:ext cx="1657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Correct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2E8215-68A9-4A0D-B884-0C3052D16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105150"/>
            <a:ext cx="1657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6657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566575"/>
                </a:solidFill>
                <a:latin typeface="Bitstream Charter"/>
                <a:ea typeface="Bitstream Charter"/>
                <a:cs typeface="Bitstream Charter"/>
              </a:rPr>
              <a:t>Update the most structured surface that fits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1E58CD-8642-438E-82EC-761181971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981200"/>
            <a:ext cx="2000250" cy="20383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7E0EA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F422EF-FBF5-4950-8178-62750AD74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1526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5A5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FF5A5F"/>
                </a:solidFill>
                <a:latin typeface="Bitstream Charter"/>
                <a:ea typeface="Bitstream Charter"/>
                <a:cs typeface="Bitstream Charter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07BC338-F18A-4934-98DF-C872BB9B8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609850"/>
            <a:ext cx="1657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Evaluate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0C42917-E5D6-420F-8116-1AD4C361A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105150"/>
            <a:ext cx="1657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6657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566575"/>
                </a:solidFill>
                <a:latin typeface="Bitstream Charter"/>
                <a:ea typeface="Bitstream Charter"/>
                <a:cs typeface="Bitstream Charter"/>
              </a:rPr>
              <a:t>Rerun the affected benchmark subset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78A9BDC-735A-4D2F-9864-5409156C2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981200"/>
            <a:ext cx="2000250" cy="20383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D7E0EA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9746DA5-60EB-4A46-9DE9-8476AB4E3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1526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86B9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86B9FF"/>
                </a:solidFill>
                <a:latin typeface="Bitstream Charter"/>
                <a:ea typeface="Bitstream Charter"/>
                <a:cs typeface="Bitstream Charter"/>
              </a:rPr>
              <a:t>05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06330C7-894D-4AA8-B25F-3A9C9B151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609850"/>
            <a:ext cx="1657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Release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9B404A3-4CB5-4DF5-88A6-F4F19E30D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105150"/>
            <a:ext cx="1657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D9E6F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D9E6F1"/>
                </a:solidFill>
                <a:latin typeface="Bitstream Charter"/>
                <a:ea typeface="Bitstream Charter"/>
                <a:cs typeface="Bitstream Charter"/>
              </a:rPr>
              <a:t>Approve and promote the revised configuration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896F1BC-9F34-463A-A332-77EA8335E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3E9AA29-22A8-412D-B04B-E0CE70658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625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D5FC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0D5FCC"/>
                </a:solidFill>
                <a:latin typeface="Bitstream Charter"/>
                <a:ea typeface="Bitstream Charter"/>
                <a:cs typeface="Bitstream Charter"/>
              </a:rPr>
              <a:t>Knowledge mining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071B818-31FC-4657-BE97-CB325152F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705350"/>
            <a:ext cx="77533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rPr>
              <a:t>Primary and foreign keys can become joins. Author feedback and downloads can lead to suggested SQL expressions or relationships. Review every suggestion before retaining it.</a:t>
            </a:r>
          </a:p>
        </p:txBody>
      </p:sp>
    </p:spTree>
    <p:extLst>
      <p:ext uri="{BB962C8B-B14F-4D97-AF65-F5344CB8AC3E}">
        <p14:creationId xmlns:p14="http://schemas.microsoft.com/office/powerpoint/2010/main" val="487292326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D5AD214-087A-4430-BF8F-DB0C854FA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5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DA0CE3-4D9C-4BA5-9C59-06BA5E30F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D5FC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0D5FCC"/>
                </a:solidFill>
                <a:latin typeface="Bitstream Charter"/>
                <a:ea typeface="Bitstream Charter"/>
                <a:cs typeface="Bitstream Charter"/>
              </a:rPr>
              <a:t>RELEASE CHECKLIST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E2B48A-8FCB-4D9D-BEBB-5A7B71D19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Release readiness covers semantics, access, quality, and ownership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6BC174-CAA6-492E-88B1-CEB990BFD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5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5D1EA3-987A-425E-AD7D-C6104DE0D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6657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0">
                <a:solidFill>
                  <a:srgbClr val="566575"/>
                </a:solidFill>
                <a:latin typeface="Bitstream Charter"/>
                <a:ea typeface="Bitstream Charter"/>
                <a:cs typeface="Bitstream Charter"/>
              </a:rPr>
              <a:t>Databricks Genie Agent best practices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A59CE7-2367-4121-A1FA-980619E43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6657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0">
                <a:solidFill>
                  <a:srgbClr val="566575"/>
                </a:solidFill>
                <a:latin typeface="Bitstream Charter"/>
                <a:ea typeface="Bitstream Charter"/>
                <a:cs typeface="Bitstream Charter"/>
              </a:rPr>
              <a:t>20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B13B0B-2D23-460A-802B-6D9508462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04950"/>
            <a:ext cx="2571750" cy="304800"/>
          </a:xfrm>
          <a:prstGeom xmlns:a="http://schemas.openxmlformats.org/drawingml/2006/main" prst="roundRect">
            <a:avLst>
              <a:gd name="adj" fmla="val 43750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D5FC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0D5FCC"/>
                </a:solidFill>
                <a:latin typeface="Bitstream Charter"/>
                <a:ea typeface="Bitstream Charter"/>
                <a:cs typeface="Bitstream Charter"/>
              </a:rPr>
              <a:t>SEMANTICS AND SOURCES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C36045-9E89-4DA2-A141-76341B7F6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504950"/>
            <a:ext cx="2571750" cy="304800"/>
          </a:xfrm>
          <a:prstGeom xmlns:a="http://schemas.openxmlformats.org/drawingml/2006/main" prst="roundRect">
            <a:avLst>
              <a:gd name="adj" fmla="val 43750"/>
            </a:avLst>
          </a:prstGeom>
          <a:solidFill xmlns:a="http://schemas.openxmlformats.org/drawingml/2006/main">
            <a:srgbClr val="E8F7F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F766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0F766E"/>
                </a:solidFill>
                <a:latin typeface="Bitstream Charter"/>
                <a:ea typeface="Bitstream Charter"/>
                <a:cs typeface="Bitstream Charter"/>
              </a:rPr>
              <a:t>QUALITY AND OPERATIONS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4D23A0-873A-4759-A2AB-FCD61269B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7645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5803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15803D"/>
                </a:solidFill>
                <a:latin typeface="Bitstream Charter"/>
                <a:ea typeface="Bitstream Charter"/>
                <a:cs typeface="Bitstream Charter"/>
              </a:rPr>
              <a:t>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B31C1D-0849-430A-8C6B-91400953A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038350"/>
            <a:ext cx="447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rPr>
              <a:t>Purpose, audience, and domain are explicit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98705B-8CBB-41E7-8452-48951DB05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6225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5803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15803D"/>
                </a:solidFill>
                <a:latin typeface="Bitstream Charter"/>
                <a:ea typeface="Bitstream Charter"/>
                <a:cs typeface="Bitstream Charter"/>
              </a:rPr>
              <a:t>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BAE75E-E4BF-43E5-93A3-8C97D7B19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724150"/>
            <a:ext cx="447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rPr>
              <a:t>Sources answer the supported real questions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255B0A-4B2B-4309-82E9-237BBB04B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4805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5803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15803D"/>
                </a:solidFill>
                <a:latin typeface="Bitstream Charter"/>
                <a:ea typeface="Bitstream Charter"/>
                <a:cs typeface="Bitstream Charter"/>
              </a:rPr>
              <a:t>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D6E182-6D4A-46DE-A797-3243307F8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409950"/>
            <a:ext cx="447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rPr>
              <a:t>All referenced tables and functions are attached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63D31E-AB4A-48E4-9A6C-1D74245F6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3385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5803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15803D"/>
                </a:solidFill>
                <a:latin typeface="Bitstream Charter"/>
                <a:ea typeface="Bitstream Charter"/>
                <a:cs typeface="Bitstream Charter"/>
              </a:rPr>
              <a:t>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94ADD8-F20E-4470-8DAC-4AE7CF473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095750"/>
            <a:ext cx="447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rPr>
              <a:t>Metric View governance has been assessed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C7401F-EFBA-4AE1-80C1-DC707FE37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1965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5803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15803D"/>
                </a:solidFill>
                <a:latin typeface="Bitstream Charter"/>
                <a:ea typeface="Bitstream Charter"/>
                <a:cs typeface="Bitstream Charter"/>
              </a:rPr>
              <a:t>✓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7E37F9-D840-439C-8801-152B6FBEA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781550"/>
            <a:ext cx="447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rPr>
              <a:t>Descriptions, synonyms, hidden fields, and prompt matching are reviewed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3BB947-39DF-4F26-AF08-7A97F0F7C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07645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5803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15803D"/>
                </a:solidFill>
                <a:latin typeface="Bitstream Charter"/>
                <a:ea typeface="Bitstream Charter"/>
                <a:cs typeface="Bitstream Charter"/>
              </a:rPr>
              <a:t>✓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A1AA51-9881-43C8-A633-0DDC458C2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038350"/>
            <a:ext cx="4514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rPr>
              <a:t>Joins and SQL are evidence-backed and validated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6A92F5-31DA-406E-8969-07E6C8D1A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76225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5803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15803D"/>
                </a:solidFill>
                <a:latin typeface="Bitstream Charter"/>
                <a:ea typeface="Bitstream Charter"/>
                <a:cs typeface="Bitstream Charter"/>
              </a:rPr>
              <a:t>✓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F0E0AF2-5E00-4CA1-9EB2-4E43D284D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724150"/>
            <a:ext cx="4514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rPr>
              <a:t>Low-confidence questions are resolved or limited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BE8BAFE-A959-46A7-B298-4351EB549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44805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5803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15803D"/>
                </a:solidFill>
                <a:latin typeface="Bitstream Charter"/>
                <a:ea typeface="Bitstream Charter"/>
                <a:cs typeface="Bitstream Charter"/>
              </a:rPr>
              <a:t>✓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1D4CC20-525E-474D-AFB1-0EA0047BB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409950"/>
            <a:ext cx="4514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rPr>
              <a:t>Realistic tests and relevant benchmarks have passed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B65C5A5-FBE2-481D-9174-5411800EB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13385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5803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15803D"/>
                </a:solidFill>
                <a:latin typeface="Bitstream Charter"/>
                <a:ea typeface="Bitstream Charter"/>
                <a:cs typeface="Bitstream Charter"/>
              </a:rPr>
              <a:t>✓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01EBEC6-D710-4B97-9400-6F1B4D2BA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095750"/>
            <a:ext cx="4514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rPr>
              <a:t>Approved configuration is versioned and promoted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E1A53F6-8997-4461-A600-D4B8E9827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81965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5803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15803D"/>
                </a:solidFill>
                <a:latin typeface="Bitstream Charter"/>
                <a:ea typeface="Bitstream Charter"/>
                <a:cs typeface="Bitstream Charter"/>
              </a:rPr>
              <a:t>✓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5C5D9EA-5D79-400A-8BF4-B85192A58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781550"/>
            <a:ext cx="4514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rPr>
              <a:t>Monitoring ownership and refinement process are established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A800479-9E39-4D5C-AC7B-6AA072D1E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72150"/>
            <a:ext cx="10363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6657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566575"/>
                </a:solidFill>
                <a:latin typeface="Bitstream Charter"/>
                <a:ea typeface="Bitstream Charter"/>
                <a:cs typeface="Bitstream Charter"/>
              </a:rPr>
              <a:t>The checklist consolidates the referenced guidance; it is not a separately published Databricks release standard</a:t>
            </a:r>
          </a:p>
        </p:txBody>
      </p:sp>
    </p:spTree>
    <p:extLst>
      <p:ext uri="{BB962C8B-B14F-4D97-AF65-F5344CB8AC3E}">
        <p14:creationId xmlns:p14="http://schemas.microsoft.com/office/powerpoint/2010/main" val="71498084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622310-BE0A-4D84-A8F5-BD72D4A2B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5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CE68E9-609B-41EB-952C-F5343A1E9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D5FC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0D5FCC"/>
                </a:solidFill>
                <a:latin typeface="Bitstream Charter"/>
                <a:ea typeface="Bitstream Charter"/>
                <a:cs typeface="Bitstream Charter"/>
              </a:rPr>
              <a:t>ANTI-PATTERNS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74AA77-9F43-42DA-9FC5-1B1A8FE55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85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Common anti-patterns have direct design corrections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508A0F-D8ED-4339-982D-F253A07EB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5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0CF47F-8F5F-4B9D-B765-9794020CA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6657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0">
                <a:solidFill>
                  <a:srgbClr val="566575"/>
                </a:solidFill>
                <a:latin typeface="Bitstream Charter"/>
                <a:ea typeface="Bitstream Charter"/>
                <a:cs typeface="Bitstream Charter"/>
              </a:rPr>
              <a:t>Databricks Genie Agent best practices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A3A23A-9217-4AB5-8C09-A1C27142C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6657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0">
                <a:solidFill>
                  <a:srgbClr val="566575"/>
                </a:solidFill>
                <a:latin typeface="Bitstream Charter"/>
                <a:ea typeface="Bitstream Charter"/>
                <a:cs typeface="Bitstream Charter"/>
              </a:rPr>
              <a:t>21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514350" y="1428750"/>
          <a:ext xmlns:a="http://schemas.openxmlformats.org/drawingml/2006/main" cx="11163300" cy="4171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3714750"/>
                <a:gridCol w="4305300"/>
              </a:tblGrid>
              <a:tr h="595993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Anti-pattern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Why it fails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Correction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</a:tr>
              <a:tr h="595993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2A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Base view and Metric View both attached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2A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Genie can re-derive governed aggregation logic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2A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Remove the base source unless raw detail is required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95993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2A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Long text rulebook</a:t>
                      </a:r>
                    </a:p>
                  </a:txBody>
                  <a:tcPr marL="91440" marR="91440" marT="45720" marB="45720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2A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Natural language can conflict or overreach</a:t>
                      </a:r>
                    </a:p>
                  </a:txBody>
                  <a:tcPr marL="91440" marR="91440" marT="45720" marB="45720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2A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Use structured semantic surfaces first</a:t>
                      </a:r>
                    </a:p>
                  </a:txBody>
                  <a:tcPr marL="91440" marR="91440" marT="45720" marB="45720">
                    <a:solidFill>
                      <a:srgbClr val="F6F8FB"/>
                    </a:solidFill>
                  </a:tcPr>
                </a:tc>
              </a:tr>
              <a:tr h="595993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2A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Bare column references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2A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Composed SQL can fail or become ambiguous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2A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Qualify columns with a source or alias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95993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2A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Prompt matching enabled everywhere</a:t>
                      </a:r>
                    </a:p>
                  </a:txBody>
                  <a:tcPr marL="91440" marR="91440" marT="45720" marB="45720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2A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IDs, hashes, and free text consume context</a:t>
                      </a:r>
                    </a:p>
                  </a:txBody>
                  <a:tcPr marL="91440" marR="91440" marT="45720" marB="45720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2A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Review eligible categorical dimensions and filters</a:t>
                      </a:r>
                    </a:p>
                  </a:txBody>
                  <a:tcPr marL="91440" marR="91440" marT="45720" marB="45720">
                    <a:solidFill>
                      <a:srgbClr val="F6F8FB"/>
                    </a:solidFill>
                  </a:tcPr>
                </a:tc>
              </a:tr>
              <a:tr h="595993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2A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Unattached source named in instructions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2A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Genie cannot query it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2A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Attach every required table or function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95993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2A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Dashboard filters assumed in chat</a:t>
                      </a:r>
                    </a:p>
                  </a:txBody>
                  <a:tcPr marL="91440" marR="91440" marT="45720" marB="45720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2A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Existing linked Agents do not inherit filter context</a:t>
                      </a:r>
                    </a:p>
                  </a:txBody>
                  <a:tcPr marL="91440" marR="91440" marT="45720" marB="45720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2A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Design and test without that assumption</a:t>
                      </a:r>
                    </a:p>
                  </a:txBody>
                  <a:tcPr marL="91440" marR="91440" marT="45720" marB="45720"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05907604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05B1F5-3B6E-4317-8830-336636F0D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5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DA6A18-026C-4EB8-AB85-3E93E1C02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D5FC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0D5FCC"/>
                </a:solidFill>
                <a:latin typeface="Bitstream Charter"/>
                <a:ea typeface="Bitstream Charter"/>
                <a:cs typeface="Bitstream Charter"/>
              </a:rPr>
              <a:t>REFERENCES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EF4D62-2C1A-4003-A0C4-D29D0FE8B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85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Source set and precedence are explicit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81E618-D020-4403-93A1-7462C49CB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5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71A0D6-9B4A-4658-A859-FCE471946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6657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0">
                <a:solidFill>
                  <a:srgbClr val="566575"/>
                </a:solidFill>
                <a:latin typeface="Bitstream Charter"/>
                <a:ea typeface="Bitstream Charter"/>
                <a:cs typeface="Bitstream Charter"/>
              </a:rPr>
              <a:t>Databricks Genie Agent best practices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6DB218-D414-4796-9CB0-163FEEC2A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6657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0">
                <a:solidFill>
                  <a:srgbClr val="566575"/>
                </a:solidFill>
                <a:latin typeface="Bitstream Charter"/>
                <a:ea typeface="Bitstream Charter"/>
                <a:cs typeface="Bitstream Charter"/>
              </a:rPr>
              <a:t>22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590550" y="1390650"/>
          <a:ext xmlns:a="http://schemas.openxmlformats.org/drawingml/2006/main" cx="11010900" cy="42100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95750"/>
                <a:gridCol w="6915150"/>
              </a:tblGrid>
              <a:tr h="526256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Reference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Primary coverage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</a:tr>
              <a:tr h="52625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2A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Databricks Agent Skills: Create Genie Agent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2A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Design workflow, gates, profiling, context order, SQL controls, anti-patterns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2625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2A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Curate an effective Genie Agent</a:t>
                      </a:r>
                    </a:p>
                  </a:txBody>
                  <a:tcPr marL="91440" marR="91440" marT="45720" marB="45720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2A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Official best practices, scope, examples, testing, and bundle recommendation</a:t>
                      </a:r>
                    </a:p>
                  </a:txBody>
                  <a:tcPr marL="91440" marR="91440" marT="45720" marB="45720">
                    <a:solidFill>
                      <a:srgbClr val="F6F8FB"/>
                    </a:solidFill>
                  </a:tcPr>
                </a:tc>
              </a:tr>
              <a:tr h="52625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2A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Create and manage a Genie Agent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2A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Requirements, permissions, access model, sources, sharing, and limits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2625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2A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Tune Genie Agent quality</a:t>
                      </a:r>
                    </a:p>
                  </a:txBody>
                  <a:tcPr marL="91440" marR="91440" marT="45720" marB="45720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2A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Examples, functions, knowledge store, prompt matching, joins, and expressions</a:t>
                      </a:r>
                    </a:p>
                  </a:txBody>
                  <a:tcPr marL="91440" marR="91440" marT="45720" marB="45720">
                    <a:solidFill>
                      <a:srgbClr val="F6F8FB"/>
                    </a:solidFill>
                  </a:tcPr>
                </a:tc>
              </a:tr>
              <a:tr h="52625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2A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Test and monitor a Genie Agent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2A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Feedback, benchmarks, evaluation, and monitoring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2625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2A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Unity Catalog metric views</a:t>
                      </a:r>
                    </a:p>
                  </a:txBody>
                  <a:tcPr marL="91440" marR="91440" marT="45720" marB="45720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2A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Central metric definitions and runtime aggregation</a:t>
                      </a:r>
                    </a:p>
                  </a:txBody>
                  <a:tcPr marL="91440" marR="91440" marT="45720" marB="45720">
                    <a:solidFill>
                      <a:srgbClr val="F6F8FB"/>
                    </a:solidFill>
                  </a:tcPr>
                </a:tc>
              </a:tr>
              <a:tr h="52625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2A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Declarative Automation Bundles resources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2A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Genie resource definition and direct deployment engine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C6C7CD-2BE8-4E4A-926F-575F1F548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72150"/>
            <a:ext cx="108204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4E5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7E17AC-47E0-4F32-9DF6-FBD9C5C91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857875"/>
            <a:ext cx="10401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Precedence rule: compare the last-change date of the exact conflicting statement. If an official page has no date, use the official value.</a:t>
            </a:r>
          </a:p>
        </p:txBody>
      </p:sp>
    </p:spTree>
    <p:extLst>
      <p:ext uri="{BB962C8B-B14F-4D97-AF65-F5344CB8AC3E}">
        <p14:creationId xmlns:p14="http://schemas.microsoft.com/office/powerpoint/2010/main" val="18109356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2026-09-19T13:46:23.1850000Z</dcterms:created>
  <dcterms:modified xsi:type="dcterms:W3CDTF">2026-09-19T13:46:23.1850000Z</dcterms:modified>
</coreProperties>
</file>