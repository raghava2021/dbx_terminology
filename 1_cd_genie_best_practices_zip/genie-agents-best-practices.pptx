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compiled from the Curate an effective Genie Agent, Tune Genie Agent quality, Create and manage a Genie Agent, Test and monitor a Genie Agent, Troubleshoot Genie Agents and Use the Genie Agents API pages, plus create-genie-agent.md from databricks/databricks-agent-skills. Genie Agents were formerly known as Genie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sections map to the corresponding sections of the source markdown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curator's job is to bridge the gap between Genie's general world knowledge and the specialised language used in a specific domain or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Genie operates in a nondeterministic manner, guidance must be free from conflicting or ambiguous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GitHub skill expresses the same hierarchy as a 13-surface priority order, shown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assistance and entity matching have no Metric View equivalent, so emit column_configs even for a fully governed Metric View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limit counts each example SQL query, each SQL function, and the whole General instructions block as one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official pages are current as of the compilation date: set-up page updated 2026-08-20, best-practices page updated 2026-09-11.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 AI-generated column descriptions for accuracy and use them only if they match what you would have written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gates are the points at which the workflow stops and waits for the user: requirements, the Metric View recommendation, and final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query history as evidence for joins, sample questions, examples and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store configurations are scoped to the agent and do not affect Unity Catalog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SQL complements expressions: expressions define reusable concepts, examples teach Genie how to approach common prompt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proposed instruction names specific tables, columns, joins, filters or ranking logic, encode it structurally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questions run as new conversations with no threaded context. Never copy benchmark questions or answer SQL into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Genie Code also debugs single responses, analyses six months of usage, and reviews a whole benchmark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filters and column masks in Unity Catalog are enforced per user automatically, regardless of how the agent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identifiers must use the three-level namespace catalog.schema.table. Each benchmark question needs exactly one answer with format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recruit a business user: set the expectation that their job is to refine the agent, and have them upvote correct final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table limit in your own workspace before finalising any design that approaches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E8553F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ENABLEMENT  ·  AI/BI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Genie Agents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Design, Governance and Operation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657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entirely from Databricks and Azure Databricks official documentation and the databricks-agent-skills repository. No content from outside those sources.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709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4709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2026-09-19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709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0992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Genie consumes 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709928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guiding principles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curation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481328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170992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504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88552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hierarchy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first, text last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5968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2825496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sizing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99032" y="3054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governs your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25968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8254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0288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workflow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193792" y="3054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three gates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25968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85048" y="2825496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85048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3054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prompt matching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371246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5528" y="394106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99032" y="3877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surfaces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399032" y="4169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Expressions, examples, joins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371246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0288" y="3941064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90288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93792" y="3877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193792" y="4169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accuracy at scale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83880" y="371246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85048" y="394106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85048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988552" y="3877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988552" y="4169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to fix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" y="482803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95528" y="5056632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5528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399032" y="4992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399032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permissions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89120" y="482803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90288" y="50566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90288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193792" y="4992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5193792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API, validation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83880" y="482803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385048" y="5056632"/>
            <a:ext cx="475488" cy="475488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85048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4992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checklist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8988552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share 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Genie as a new data analyst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187452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“Think of Genie as a new data analyst joining your company. Like any new team member, Genie needs clear context to be effective.”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3886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 effective Genie Agent — official documentation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554480"/>
            <a:ext cx="56509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44768" y="1691640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column descriptions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93408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Genie understands what the data represents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404872"/>
            <a:ext cx="56509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2542032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44768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2496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SQL queries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2752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Genie learns how to solve common problems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255264"/>
            <a:ext cx="56509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3392424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4768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93408" y="33467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expressions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Genie knows your business terminology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4105656"/>
            <a:ext cx="5650992" cy="713232"/>
          </a:xfrm>
          <a:prstGeom prst="roundRect">
            <a:avLst>
              <a:gd name="adj" fmla="val 10256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4242816"/>
            <a:ext cx="438912" cy="438912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44768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93408" y="4197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93408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other methods do not apply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02920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structured context you provide, the more accurately Genie can interpret questions and generate correct results.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44068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long-term collaboration tool between data teams and business users. It accumulates knowledge over time rather than serving as a one-time deployment.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Agents were formerly known as Genie Spaces. Genie is non-deterministic — example SQL makes responses more consistent.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guiding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513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well-documented datasets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871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table and column descriptions in Unity Catalog are critical. Resolve column ambiguities and pre-join or de-normalise using views or metric views.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36792" y="1572768"/>
            <a:ext cx="5513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189280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6832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prose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4871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expressions for business semantics and example SQL for ambiguous prompts. Structured definitions are more reliable and maintainable than plain 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5513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7764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4005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specific instructions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“ask clarification questions about sales”, but “when users ask about sales metrics without product name or channel, ask for both”.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36792" y="3657600"/>
            <a:ext cx="5513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397764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005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conflicting guidance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4572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text instructions round to two decimals, example SQL must round to two decimals. Resolving inconsistencies is a key setup task.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Curate an effective Genie Agent; Tune Genie Agent quality.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instruction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37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029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expressions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metrics, filters and dimensions that represent standard business concepts — revenue, active_customers, gross_margin, recent_sales.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536192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2F4C8C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81728" y="1737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029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SQL queries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Hard-to-interpret, multi-part or complex questions. Complete queries that show intricate patterns and multi-step logic.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536192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E8553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76488" y="1737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029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instructions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needs natural language: clarification triggers, summary rounding rules. Never metrics, filters or query patterns expressible in SQL.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110002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matters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02352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business logic as SQL expressions produces more consistent results, because Genie applies the logic exactly as written rather than interpreting it.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perform best with a limited, focused set of instructions — too many reduce effectiveness in longer conversations as Genie struggles to prioritise.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 apply globally. Anything relevant to only a subset of prompts belongs in an example query, a function, or table metadata.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surface priority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6187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surfaces first; free text is the last resort. Surfaces 4–7 are applied per column through column_configs.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177393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1801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description — set first; required for routing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177393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0296" y="1801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View semantic metadata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" y="241401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97864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data source selection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6792" y="233172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83096" y="241401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0296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Metric View and column descriptions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297180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" y="305409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97864" y="3081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and display names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36792" y="297180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83096" y="305409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3096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0296" y="3081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assistance and entity matching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361188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" y="369417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97864" y="3721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fields (exclude)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61188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83096" y="369417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83096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40296" y="3721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specs for raw tables exposed together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25196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0664" y="433425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0664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97864" y="43616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snippets (reusable filters and measures)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36792" y="425196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83096" y="433425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83096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940296" y="43616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SQL for complex question patterns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" y="489204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0664" y="497433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0664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97864" y="5001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 — trusted registered UC logic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36792" y="489204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83096" y="4974336"/>
            <a:ext cx="365760" cy="365760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83096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940296" y="5001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 — last resort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" y="553212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0664" y="561441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0664" y="5614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197864" y="5641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and benchmarks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36792" y="5532120"/>
            <a:ext cx="5513832" cy="530352"/>
          </a:xfrm>
          <a:prstGeom prst="roundRect">
            <a:avLst>
              <a:gd name="adj" fmla="val 13793"/>
            </a:avLst>
          </a:prstGeom>
          <a:solidFill>
            <a:srgbClr val="EDF3F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6483096" y="560527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created without column_configs ships with no per-column descriptions, synonyms, format assistance, entity matching or hidden fields.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create-genie-agent.md, databricks/databricks-agent-skills.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 that govern your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22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or views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8132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1645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22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48132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58200" y="1645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322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05409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2186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895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05409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63440" y="32186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95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entity-matching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305409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58200" y="32186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895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709160"/>
            <a:ext cx="11000232" cy="1280160"/>
          </a:xfrm>
          <a:prstGeom prst="roundRect">
            <a:avLst>
              <a:gd name="adj" fmla="val 5714"/>
            </a:avLst>
          </a:prstGeom>
          <a:solidFill>
            <a:srgbClr val="EDF3F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86968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enforced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5138928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values per entity-matched column (127 chars each)  ·  10,000 messages per conversation  ·  5,000 rows compared in Chat-mode benchmarks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1 text instruction object in serialized_space  ·  25,000 characters per string  ·  ~1 GB CSV download per response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instructions, example SQL, SQL functions, column descriptions and prompt matching settings do not count toward the 200-snippet limit.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discrepancy: how many tables?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a Genie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5292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carrying the Technical requirements and limits heading. States you can add up to 30 tables or views, and repeats 30 tables plus 10,000 conversations in its summary.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664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A9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 effective Genie Agent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5292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best-practices page states agents support up to 50 tables, views or metric views, and to pre-join into views or metric views beyond that.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1664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create-genie-agent.md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85292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Databricks agent-skills reference states a hard limit of 30 tables, views or Metric Views per Genie Agent.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343400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enterprise position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sources — including the dedicated limits page — state 30. Design to 30 and confirm the limit in your own workspace before planning anything above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504688"/>
            <a:ext cx="110002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pages agree on what actually matters: aim for five or fewer objects, and organise agents by business domain or subdomain — never by report.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small, then iterate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51383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rules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2996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only the tables needed for the questions in scope — aim for five or fewer, and limit columns too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 into views or metric views rather than adding more objects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minimal and add guidance as you refine, rather than aiming for perfection initially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36792" y="1536192"/>
            <a:ext cx="551383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56832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the estate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56832" y="202996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business domain; split broad domains by subdomain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agents and their underlying tables with domain and subdomain for discoverability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mirror the hierarchy in Unity Catalog — one schema per domain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1148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views pre-define metrics, dimensions and aggregations — they keep you inside the object limit, simplify the data model, and can improve accuracy.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7273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5193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caveat for your governance review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864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can query tables beyond those explicitly added to an agent. Access is controlled by Unity Catalog permissions, not by the agent itself — users can prompt for joins or edit SQL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workflow: nine steps, three 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1682496"/>
            <a:ext cx="457200" cy="457200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0744" y="19751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PAUSE AND ASK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231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purpose, 3–5 real questions,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6824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or confirm data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084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terms, synonyms, naming patterns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481328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1682496"/>
            <a:ext cx="457200" cy="457200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2162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View check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70264" y="19751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PAUSE AND ASK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2231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KPIs on raw tables? Build an MV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871216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" y="30723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80744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profile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first, then bounded read-only 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2871216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30723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2686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75504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MV semantics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26864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Measures, dimensions, joins, time, formatting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2871216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21624" y="30723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2162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70264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readiness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421624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question High / Medium / 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261104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104" y="4462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surfaces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first, text last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4261104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26864" y="4462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26864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175504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626864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and anti-patterns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83880" y="4261104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21624" y="4462272"/>
            <a:ext cx="457200" cy="457200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21624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970264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approve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970264" y="47548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PAUSE AND ASK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421624" y="5010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create-space or update-space until approved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rules: read-only SQL only, never mutate Unity Catalog, never invent business definitions, never update a live agent without explicit approval.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and readiness scoring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51383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inspection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039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2951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comments, columns, types, constraints, sample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898648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880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usage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36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constants, distinct counts, casing, sensitive fields, lineage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739896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7216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profiling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affects quality: dates, filters, categoricals, keys, measures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581144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562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818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findings back to the 3–5 business questions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36792" y="1536192"/>
            <a:ext cx="551383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56832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question before you build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19933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semantic coverage, data quality and freshness, modelability, and GenAI context readiness.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56832" y="2542032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269748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39712" y="26974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sources, fields, values and join or metric definitions are supported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56832" y="3456432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39712" y="361188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B4762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39712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584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with caveats, missing descriptions, uncertain filters or assumptions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56832" y="4370832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39712" y="452628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E8553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39712" y="45262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44988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source, measure, dimension, time field, join path or governed metric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present Low-confidence questions as fully supported: add data, revise the question, confirm with the user, or mark the draft with limitations.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matching: the accuracy multiplier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6187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car sales in Florida for Q1” — asked against a table that stores state codes as FL.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513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ENTITY MATCHING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76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state ILIKE '%Florida%'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 results — the prompt value never matches the stored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513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56832" y="1847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ENTITY MATCHING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176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state = 'FL'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reads curated values and maps the user's word to the stored code.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639312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assistance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46227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values for eligible columns, generated with the author's data permissions. Must be on before entity matching can be enabled.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4747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639312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matching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46227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distinct values for columns users name directly. String columns only — state codes, product categories, status codes, department names.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34747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58200" y="3639312"/>
            <a:ext cx="420624" cy="420624"/>
          </a:xfrm>
          <a:prstGeom prst="ellipse">
            <a:avLst/>
          </a:prstGeom>
          <a:solidFill>
            <a:srgbClr val="E8553F"/>
          </a:solidFill>
          <a:ln w="12700">
            <a:solidFill>
              <a:srgbClr val="E855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limits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46227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filter excludes the whole table; a column mask excludes the masked columns. Authors must disable it manually for views over filtered tables and for dynamic views.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blanket-enable prompt matching: it wastes context on IDs, hashes, free text, lat/long and raw measures. Refresh values when data or formats change.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expressions: three types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6187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defined with a name, code, synonyms and instructions. Genie applies the logic exactly as written.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orders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670048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EEF1F7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74320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orders.amount &gt; 10000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condition. Synonyms: large orders, big deals, significant orders.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74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1874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2670048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EEF1F7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274320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COUNT(CASE WHEN stage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'Closed Won' THEN 1 END)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NULLIF(COUNT(*), 0)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over rows. Synonyms: close rate, conversion rate.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1874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8200" y="1874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size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58200" y="2670048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EEF1F7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67928" y="274320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amount &lt; 10000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'Small' ... ELSE 'Large' END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Alters each row's value. Synonyms: deal tier, contract size.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12064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EDF3F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4400" y="5285232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qualify every column reference in SQL snippets and join specs — a bare backtick-quoted column raises “Table name or alias is required for column” when Genie composes the snippet into a larger statement.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text instructions are unavoidable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035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19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section headers, in this order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84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PURPOSE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112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audience, in one or two bullets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523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DISAMBIGUATION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7797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triggers and term resolution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198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DATA QUALITY NOTES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known bad rows, semantics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87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CONSTRAINTS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guardrails — PII columns never shown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54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5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Instructions you must follow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5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providing summaries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4782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Rounding, caveats, date ranges. Exact heading.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0" y="17373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45059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ceiling on the whole instruction block. One idea per dash bullet, no SQL inside bullets, and every bullet naming a concrete asset or a specific behavioural rule.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3611880"/>
            <a:ext cx="4983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0" y="3767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before you add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0690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instruction text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structured surfaces were insufficient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global behaviour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overreach or regression risk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will be reviewed or validated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text instructions affect summary generation. SQL examples and SQL expressions do not.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Benchmarks: scoring accuracy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513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mode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 Accuracy is assessed by comparing Genie's generated result set against a provided SQL Answer. Only questions with a SQL Answer can be scored automatically.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exact SQL match, exact result match, same data sorted differently, or values rounding to the same 4 significant digits.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36792" y="1536192"/>
            <a:ext cx="5513832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56832" y="1691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0574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questions with the same multi-step reasoning as Genie's Agent mode. An LLM judge grades responses, guided by an optional evaluation note that can reference expected content in the generated report.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is selected per run, not per question, and applies to every question in that run.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822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questions per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57600" y="3822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phrasings of each core question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3822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questions, minimum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26880" y="3822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week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 results expire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5029200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DF0E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5,000-row trap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4406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 compares up to 5,000 rows per result set. Beyond that, if row order differs, truncation can rate a genuinely matching result Bad. Keep SQL Answers under 5,000 rows, or add ORDER BY to both sides.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55648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" y="1600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Misunderstood jargon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88366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shorthand to concepts explicitly in instructions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36792" y="1481328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755648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600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table or column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88366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descriptions, add examples, hide overlapping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14016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2688336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61288" y="2532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errors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816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and refresh example values and value dictionaries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36792" y="2414016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688336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2532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joins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816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UC foreign keys, then knowledge-store joins, then pre-join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3621024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61288" y="34655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calculation issues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3749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metrics as SQL expressions; document valid roll-ups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36792" y="3346704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3621024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3720" y="34655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time calculations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749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source timezone, conversion function and target zone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279392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" y="4553712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61288" y="43982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ignored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6817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example queries, hide columns, simplify, start a new chat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36792" y="4279392"/>
            <a:ext cx="5513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4553712"/>
            <a:ext cx="256032" cy="256032"/>
          </a:xfrm>
          <a:prstGeom prst="ellipse">
            <a:avLst/>
          </a:prstGeom>
          <a:solidFill>
            <a:srgbClr val="E8553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03720" y="43982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timeouts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6817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SQL via query history; use trusted assets or views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5285232"/>
            <a:ext cx="1100023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0120" y="544068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of these problems the fastest path to a fix is Genie Code — describe the problem and review the context changes it proposes.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operational risks to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3619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exceeded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67712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metadata become tokens. A warning appears first and context filtering degrades quality — but once the limit is exceeded, no messages can be sent or received at all.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41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hide unnecessary columns, streamline descriptions, prune redundant example SQL, simplify instructions.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3619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3619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author removed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67712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reaches its warehouse using the embedded credentials of the author who last configured it. If that person leaves the workspace, queries fail for everyone.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041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user with at least CAN EDIT reconfigures the warehouse, embedding their credentials instead.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153619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53619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Cross-Geo 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267712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is a Designated Service using Databricks Geos for data residency. In some regions data cannot be processed in the workspace's own Geo.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041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administrator must enable cross-Geo processing for the affected workspaces.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credentials: compute access uses the author's embedded credentials; data access is always evaluated as the end user's own Unity Catalog identity.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Lifecycle: version, deploy, validate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513832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19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as code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2140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Declarative Automation Bundles to define, deploy and version-control agents. A bundle repository gives reproducible deployments, change history, and promotion across development, staging and production.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36792" y="1536192"/>
            <a:ext cx="55138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56832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management actions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56832" y="20574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— copies tables, settings, instructions, example SQL and functions; not chat threads or Monitor data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metric view — turns the agent's semantic context into a governed metric view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certification — Certified or Deprecated, via the system.certification_status governed tag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110002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serialized_space validation rules — invalid JSON is rejected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352544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25296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 for new agents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4352544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37176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37176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32-char lowercase hex, no hyphens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4352544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49056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49056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must be pre-sorted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5010912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25296" y="4937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unique across instruction types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5010912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37176" y="4937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37176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object per agent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8160" y="5010912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49056" y="4937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specs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49056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elements, with --rt= annotation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62636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practice: exponential backoff, poll every 1–5 seconds, and start a new conversation per session — reused threads reduce accuracy through unintended context reuse.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Pre-launch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673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states purpose and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2331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97864" y="2322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source set, ideally five or fewer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52928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2990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2980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state business purpose and grain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648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97864" y="3639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audit, hash, embedding and sensitive fields hidden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169664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4306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97864" y="4297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matching only on useful categorical strings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828032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49651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97864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supported by constraints, naming or confirmation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1536192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1673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rulebook-style text instructions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36792" y="2194560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2331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40296" y="2322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instructions justified where they remain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2852928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37960" y="2990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40296" y="2980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SQL teaches patterns, not test answers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3511296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37960" y="3648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3796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40296" y="3639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have real defaults and descriptions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36792" y="4169664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37960" y="4306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3796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40296" y="4297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five tested example SQL queries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36792" y="4828032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537960" y="49651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4C8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37960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940296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five benchmark questions with ground truth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4360" y="548640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914400" y="56235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the agent's first user: ask realistic questions, inspect every generated query, correct the SQL, and save the corrected version as an instruction.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943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REGISTER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this deck is traceable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 effective Genie Agent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74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· updated 2026-09-11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36792" y="1709928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02552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Genie Agent quality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1874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· updated 2026-09-11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45973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350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a Genie Agent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24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· updated 2026-08-20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36792" y="245973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02552" y="2350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monitor a Genie Agent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2624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docs.databricks.com · updated 2026-09-17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209544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099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Genie Agents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3741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docs.databricks.com · updated 2026-09-11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2" y="3209544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02552" y="3099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Genie Agents 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33741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· updated 2026-08-27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3849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create-genie-agent.md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123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databricks/databricks-agent-skills · fetched 2026-09-19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892040"/>
            <a:ext cx="1100023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30352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sibling skill files — serialized-space.md, diagnose-genie-agent.md, optimize-genie-agent.md, genie-agent-cicd.md and query-genie-agent.md — could not be fetched directly, so nothing in this deck is drawn from them.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Genie Agents - Enterprise Best Practices</dc:title>
  <dc:subject>PptxGenJS Presentation</dc:subject>
  <dc:creator>Compiled from Databricks official documentation and databricks-agent-skills</dc:creator>
  <cp:lastModifiedBy>Compiled from Databricks official documentation and databricks-agent-skills</cp:lastModifiedBy>
  <cp:revision>1</cp:revision>
  <dcterms:created xsi:type="dcterms:W3CDTF">2026-09-19T13:55:43Z</dcterms:created>
  <dcterms:modified xsi:type="dcterms:W3CDTF">2026-09-19T13:55:43Z</dcterms:modified>
</cp:coreProperties>
</file>