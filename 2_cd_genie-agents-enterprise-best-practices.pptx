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1417320"/>
            <a:ext cx="566928" cy="566928"/>
          </a:xfrm>
          <a:prstGeom prst="roundRect">
            <a:avLst>
              <a:gd name="adj" fmla="val 11290"/>
            </a:avLst>
          </a:prstGeom>
          <a:solidFill>
            <a:srgbClr val="E8552D"/>
          </a:solidFill>
          <a:ln/>
        </p:spPr>
      </p:sp>
      <p:sp>
        <p:nvSpPr>
          <p:cNvPr id="3" name="Text 1"/>
          <p:cNvSpPr txBox="1"/>
          <p:nvPr/>
        </p:nvSpPr>
        <p:spPr>
          <a:xfrm>
            <a:off x="822960" y="141732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G</a:t>
            </a:r>
            <a:endParaRPr lang="en-US" sz="2600" dirty="0"/>
          </a:p>
        </p:txBody>
      </p:sp>
      <p:sp>
        <p:nvSpPr>
          <p:cNvPr id="4" name="Text 2"/>
          <p:cNvSpPr txBox="1"/>
          <p:nvPr/>
        </p:nvSpPr>
        <p:spPr>
          <a:xfrm>
            <a:off x="1572768" y="1536192"/>
            <a:ext cx="7315200" cy="274320"/>
          </a:xfrm>
          <a:prstGeom prst="rect">
            <a:avLst/>
          </a:prstGeom>
          <a:noFill/>
          <a:ln/>
        </p:spPr>
        <p:txBody>
          <a:bodyPr wrap="square" lIns="0" tIns="0" rIns="0" bIns="0" rtlCol="0" anchor="ctr"/>
          <a:lstStyle/>
          <a:p>
            <a:pPr indent="0" marL="0">
              <a:buNone/>
            </a:pPr>
            <a:r>
              <a:rPr lang="en-US" sz="1000" b="1" spc="240" kern="0" dirty="0">
                <a:solidFill>
                  <a:srgbClr val="F0A34A"/>
                </a:solidFill>
                <a:latin typeface="Calibri" pitchFamily="34" charset="0"/>
                <a:ea typeface="Calibri" pitchFamily="34" charset="-122"/>
                <a:cs typeface="Calibri" pitchFamily="34" charset="-120"/>
              </a:rPr>
              <a:t>DATABRICKS DATA INTELLIGENCE PLATFORM</a:t>
            </a:r>
            <a:endParaRPr lang="en-US" sz="1000" dirty="0"/>
          </a:p>
        </p:txBody>
      </p:sp>
      <p:sp>
        <p:nvSpPr>
          <p:cNvPr id="5" name="Text 3"/>
          <p:cNvSpPr txBox="1"/>
          <p:nvPr/>
        </p:nvSpPr>
        <p:spPr>
          <a:xfrm>
            <a:off x="822960" y="2240280"/>
            <a:ext cx="7863840" cy="1645920"/>
          </a:xfrm>
          <a:prstGeom prst="rect">
            <a:avLst/>
          </a:prstGeom>
          <a:noFill/>
          <a:ln/>
        </p:spPr>
        <p:txBody>
          <a:bodyPr wrap="square" lIns="0" tIns="0" rIns="0" bIns="0" rtlCol="0" anchor="t"/>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Genie Agents:</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Enterprise Best Practices</a:t>
            </a:r>
            <a:endParaRPr lang="en-US" sz="4200" dirty="0"/>
          </a:p>
        </p:txBody>
      </p:sp>
      <p:sp>
        <p:nvSpPr>
          <p:cNvPr id="6" name="Text 4"/>
          <p:cNvSpPr txBox="1"/>
          <p:nvPr/>
        </p:nvSpPr>
        <p:spPr>
          <a:xfrm>
            <a:off x="822960" y="3977640"/>
            <a:ext cx="6766560" cy="914400"/>
          </a:xfrm>
          <a:prstGeom prst="rect">
            <a:avLst/>
          </a:prstGeom>
          <a:noFill/>
          <a:ln/>
        </p:spPr>
        <p:txBody>
          <a:bodyPr wrap="square" lIns="0" tIns="0" rIns="0" bIns="0" rtlCol="0" anchor="t"/>
          <a:lstStyle/>
          <a:p>
            <a:pPr indent="0" marL="0">
              <a:lnSpc>
                <a:spcPts val="1900"/>
              </a:lnSpc>
              <a:buNone/>
            </a:pPr>
            <a:r>
              <a:rPr lang="en-US" sz="1300" dirty="0">
                <a:solidFill>
                  <a:srgbClr val="A9BCD0"/>
                </a:solidFill>
                <a:latin typeface="Calibri" pitchFamily="34" charset="0"/>
                <a:ea typeface="Calibri" pitchFamily="34" charset="-122"/>
                <a:cs typeface="Calibri" pitchFamily="34" charset="-120"/>
              </a:rPr>
              <a:t>A curator's playbook for building, tuning, benchmarking and operating production Genie Agents — every rule traced to an official Databricks page or the databricks-agent-skills repository.</a:t>
            </a:r>
            <a:endParaRPr lang="en-US" sz="1300" dirty="0"/>
          </a:p>
        </p:txBody>
      </p:sp>
      <p:sp>
        <p:nvSpPr>
          <p:cNvPr id="7" name="Shape 5"/>
          <p:cNvSpPr/>
          <p:nvPr/>
        </p:nvSpPr>
        <p:spPr>
          <a:xfrm>
            <a:off x="822960" y="5120640"/>
            <a:ext cx="1568196" cy="749808"/>
          </a:xfrm>
          <a:prstGeom prst="roundRect">
            <a:avLst>
              <a:gd name="adj" fmla="val 7317"/>
            </a:avLst>
          </a:prstGeom>
          <a:solidFill>
            <a:srgbClr val="17293F"/>
          </a:solidFill>
          <a:ln w="9525">
            <a:solidFill>
              <a:srgbClr val="2A3F58"/>
            </a:solidFill>
            <a:prstDash val="solid"/>
          </a:ln>
        </p:spPr>
      </p:sp>
      <p:sp>
        <p:nvSpPr>
          <p:cNvPr id="8" name="Text 6"/>
          <p:cNvSpPr txBox="1"/>
          <p:nvPr/>
        </p:nvSpPr>
        <p:spPr>
          <a:xfrm>
            <a:off x="950976" y="5193792"/>
            <a:ext cx="1312164" cy="347472"/>
          </a:xfrm>
          <a:prstGeom prst="rect">
            <a:avLst/>
          </a:prstGeom>
          <a:noFill/>
          <a:ln/>
        </p:spPr>
        <p:txBody>
          <a:bodyPr wrap="square" lIns="0" tIns="0" rIns="0" bIns="0" rtlCol="0" anchor="t"/>
          <a:lstStyle/>
          <a:p>
            <a:pPr indent="0" marL="0">
              <a:buNone/>
            </a:pPr>
            <a:r>
              <a:rPr lang="en-US" sz="2000" b="1" dirty="0">
                <a:solidFill>
                  <a:srgbClr val="F0A34A"/>
                </a:solidFill>
                <a:latin typeface="Cambria" pitchFamily="34" charset="0"/>
                <a:ea typeface="Cambria" pitchFamily="34" charset="-122"/>
                <a:cs typeface="Cambria" pitchFamily="34" charset="-120"/>
              </a:rPr>
              <a:t>7</a:t>
            </a:r>
            <a:endParaRPr lang="en-US" sz="2000" dirty="0"/>
          </a:p>
        </p:txBody>
      </p:sp>
      <p:sp>
        <p:nvSpPr>
          <p:cNvPr id="9" name="Text 7"/>
          <p:cNvSpPr txBox="1"/>
          <p:nvPr/>
        </p:nvSpPr>
        <p:spPr>
          <a:xfrm>
            <a:off x="950976" y="5541264"/>
            <a:ext cx="1312164" cy="274320"/>
          </a:xfrm>
          <a:prstGeom prst="rect">
            <a:avLst/>
          </a:prstGeom>
          <a:noFill/>
          <a:ln/>
        </p:spPr>
        <p:txBody>
          <a:bodyPr wrap="square" lIns="0" tIns="0" rIns="0" bIns="0" rtlCol="0" anchor="t"/>
          <a:lstStyle/>
          <a:p>
            <a:pPr indent="0" marL="0">
              <a:buNone/>
            </a:pPr>
            <a:r>
              <a:rPr lang="en-US" sz="850" dirty="0">
                <a:solidFill>
                  <a:srgbClr val="8FA5BC"/>
                </a:solidFill>
                <a:latin typeface="Calibri" pitchFamily="34" charset="0"/>
                <a:ea typeface="Calibri" pitchFamily="34" charset="-122"/>
                <a:cs typeface="Calibri" pitchFamily="34" charset="-120"/>
              </a:rPr>
              <a:t>primary sources</a:t>
            </a:r>
            <a:endParaRPr lang="en-US" sz="850" dirty="0"/>
          </a:p>
        </p:txBody>
      </p:sp>
      <p:sp>
        <p:nvSpPr>
          <p:cNvPr id="10" name="Shape 8"/>
          <p:cNvSpPr/>
          <p:nvPr/>
        </p:nvSpPr>
        <p:spPr>
          <a:xfrm>
            <a:off x="2555748" y="5120640"/>
            <a:ext cx="1568196" cy="749808"/>
          </a:xfrm>
          <a:prstGeom prst="roundRect">
            <a:avLst>
              <a:gd name="adj" fmla="val 7317"/>
            </a:avLst>
          </a:prstGeom>
          <a:solidFill>
            <a:srgbClr val="17293F"/>
          </a:solidFill>
          <a:ln w="9525">
            <a:solidFill>
              <a:srgbClr val="2A3F58"/>
            </a:solidFill>
            <a:prstDash val="solid"/>
          </a:ln>
        </p:spPr>
      </p:sp>
      <p:sp>
        <p:nvSpPr>
          <p:cNvPr id="11" name="Text 9"/>
          <p:cNvSpPr txBox="1"/>
          <p:nvPr/>
        </p:nvSpPr>
        <p:spPr>
          <a:xfrm>
            <a:off x="2683764" y="5193792"/>
            <a:ext cx="1312164" cy="347472"/>
          </a:xfrm>
          <a:prstGeom prst="rect">
            <a:avLst/>
          </a:prstGeom>
          <a:noFill/>
          <a:ln/>
        </p:spPr>
        <p:txBody>
          <a:bodyPr wrap="square" lIns="0" tIns="0" rIns="0" bIns="0" rtlCol="0" anchor="t"/>
          <a:lstStyle/>
          <a:p>
            <a:pPr indent="0" marL="0">
              <a:buNone/>
            </a:pPr>
            <a:r>
              <a:rPr lang="en-US" sz="2000" b="1" dirty="0">
                <a:solidFill>
                  <a:srgbClr val="F0A34A"/>
                </a:solidFill>
                <a:latin typeface="Cambria" pitchFamily="34" charset="0"/>
                <a:ea typeface="Cambria" pitchFamily="34" charset="-122"/>
                <a:cs typeface="Cambria" pitchFamily="34" charset="-120"/>
              </a:rPr>
              <a:t>13</a:t>
            </a:r>
            <a:endParaRPr lang="en-US" sz="2000" dirty="0"/>
          </a:p>
        </p:txBody>
      </p:sp>
      <p:sp>
        <p:nvSpPr>
          <p:cNvPr id="12" name="Text 10"/>
          <p:cNvSpPr txBox="1"/>
          <p:nvPr/>
        </p:nvSpPr>
        <p:spPr>
          <a:xfrm>
            <a:off x="2683764" y="5541264"/>
            <a:ext cx="1312164" cy="274320"/>
          </a:xfrm>
          <a:prstGeom prst="rect">
            <a:avLst/>
          </a:prstGeom>
          <a:noFill/>
          <a:ln/>
        </p:spPr>
        <p:txBody>
          <a:bodyPr wrap="square" lIns="0" tIns="0" rIns="0" bIns="0" rtlCol="0" anchor="t"/>
          <a:lstStyle/>
          <a:p>
            <a:pPr indent="0" marL="0">
              <a:buNone/>
            </a:pPr>
            <a:r>
              <a:rPr lang="en-US" sz="850" dirty="0">
                <a:solidFill>
                  <a:srgbClr val="8FA5BC"/>
                </a:solidFill>
                <a:latin typeface="Calibri" pitchFamily="34" charset="0"/>
                <a:ea typeface="Calibri" pitchFamily="34" charset="-122"/>
                <a:cs typeface="Calibri" pitchFamily="34" charset="-120"/>
              </a:rPr>
              <a:t>sections</a:t>
            </a:r>
            <a:endParaRPr lang="en-US" sz="850" dirty="0"/>
          </a:p>
        </p:txBody>
      </p:sp>
      <p:sp>
        <p:nvSpPr>
          <p:cNvPr id="13" name="Shape 11"/>
          <p:cNvSpPr/>
          <p:nvPr/>
        </p:nvSpPr>
        <p:spPr>
          <a:xfrm>
            <a:off x="4288536" y="5120640"/>
            <a:ext cx="1568196" cy="749808"/>
          </a:xfrm>
          <a:prstGeom prst="roundRect">
            <a:avLst>
              <a:gd name="adj" fmla="val 7317"/>
            </a:avLst>
          </a:prstGeom>
          <a:solidFill>
            <a:srgbClr val="17293F"/>
          </a:solidFill>
          <a:ln w="9525">
            <a:solidFill>
              <a:srgbClr val="2A3F58"/>
            </a:solidFill>
            <a:prstDash val="solid"/>
          </a:ln>
        </p:spPr>
      </p:sp>
      <p:sp>
        <p:nvSpPr>
          <p:cNvPr id="14" name="Text 12"/>
          <p:cNvSpPr txBox="1"/>
          <p:nvPr/>
        </p:nvSpPr>
        <p:spPr>
          <a:xfrm>
            <a:off x="4416552" y="5193792"/>
            <a:ext cx="1312164" cy="347472"/>
          </a:xfrm>
          <a:prstGeom prst="rect">
            <a:avLst/>
          </a:prstGeom>
          <a:noFill/>
          <a:ln/>
        </p:spPr>
        <p:txBody>
          <a:bodyPr wrap="square" lIns="0" tIns="0" rIns="0" bIns="0" rtlCol="0" anchor="t"/>
          <a:lstStyle/>
          <a:p>
            <a:pPr indent="0" marL="0">
              <a:buNone/>
            </a:pPr>
            <a:r>
              <a:rPr lang="en-US" sz="2000" b="1" dirty="0">
                <a:solidFill>
                  <a:srgbClr val="F0A34A"/>
                </a:solidFill>
                <a:latin typeface="Cambria" pitchFamily="34" charset="0"/>
                <a:ea typeface="Cambria" pitchFamily="34" charset="-122"/>
                <a:cs typeface="Cambria" pitchFamily="34" charset="-120"/>
              </a:rPr>
              <a:t>30</a:t>
            </a:r>
            <a:endParaRPr lang="en-US" sz="2000" dirty="0"/>
          </a:p>
        </p:txBody>
      </p:sp>
      <p:sp>
        <p:nvSpPr>
          <p:cNvPr id="15" name="Text 13"/>
          <p:cNvSpPr txBox="1"/>
          <p:nvPr/>
        </p:nvSpPr>
        <p:spPr>
          <a:xfrm>
            <a:off x="4416552" y="5541264"/>
            <a:ext cx="1312164" cy="274320"/>
          </a:xfrm>
          <a:prstGeom prst="rect">
            <a:avLst/>
          </a:prstGeom>
          <a:noFill/>
          <a:ln/>
        </p:spPr>
        <p:txBody>
          <a:bodyPr wrap="square" lIns="0" tIns="0" rIns="0" bIns="0" rtlCol="0" anchor="t"/>
          <a:lstStyle/>
          <a:p>
            <a:pPr indent="0" marL="0">
              <a:buNone/>
            </a:pPr>
            <a:r>
              <a:rPr lang="en-US" sz="850" dirty="0">
                <a:solidFill>
                  <a:srgbClr val="8FA5BC"/>
                </a:solidFill>
                <a:latin typeface="Calibri" pitchFamily="34" charset="0"/>
                <a:ea typeface="Calibri" pitchFamily="34" charset="-122"/>
                <a:cs typeface="Calibri" pitchFamily="34" charset="-120"/>
              </a:rPr>
              <a:t>object design limit</a:t>
            </a:r>
            <a:endParaRPr lang="en-US" sz="850" dirty="0"/>
          </a:p>
        </p:txBody>
      </p:sp>
      <p:sp>
        <p:nvSpPr>
          <p:cNvPr id="16" name="Shape 14"/>
          <p:cNvSpPr/>
          <p:nvPr/>
        </p:nvSpPr>
        <p:spPr>
          <a:xfrm>
            <a:off x="6021324" y="5120640"/>
            <a:ext cx="1568196" cy="749808"/>
          </a:xfrm>
          <a:prstGeom prst="roundRect">
            <a:avLst>
              <a:gd name="adj" fmla="val 7317"/>
            </a:avLst>
          </a:prstGeom>
          <a:solidFill>
            <a:srgbClr val="17293F"/>
          </a:solidFill>
          <a:ln w="9525">
            <a:solidFill>
              <a:srgbClr val="2A3F58"/>
            </a:solidFill>
            <a:prstDash val="solid"/>
          </a:ln>
        </p:spPr>
      </p:sp>
      <p:sp>
        <p:nvSpPr>
          <p:cNvPr id="17" name="Text 15"/>
          <p:cNvSpPr txBox="1"/>
          <p:nvPr/>
        </p:nvSpPr>
        <p:spPr>
          <a:xfrm>
            <a:off x="6149340" y="5193792"/>
            <a:ext cx="1312164" cy="347472"/>
          </a:xfrm>
          <a:prstGeom prst="rect">
            <a:avLst/>
          </a:prstGeom>
          <a:noFill/>
          <a:ln/>
        </p:spPr>
        <p:txBody>
          <a:bodyPr wrap="square" lIns="0" tIns="0" rIns="0" bIns="0" rtlCol="0" anchor="t"/>
          <a:lstStyle/>
          <a:p>
            <a:pPr indent="0" marL="0">
              <a:buNone/>
            </a:pPr>
            <a:r>
              <a:rPr lang="en-US" sz="2000" b="1" dirty="0">
                <a:solidFill>
                  <a:srgbClr val="F0A34A"/>
                </a:solidFill>
                <a:latin typeface="Cambria" pitchFamily="34" charset="0"/>
                <a:ea typeface="Cambria" pitchFamily="34" charset="-122"/>
                <a:cs typeface="Cambria" pitchFamily="34" charset="-120"/>
              </a:rPr>
              <a:t>v2</a:t>
            </a:r>
            <a:endParaRPr lang="en-US" sz="2000" dirty="0"/>
          </a:p>
        </p:txBody>
      </p:sp>
      <p:sp>
        <p:nvSpPr>
          <p:cNvPr id="18" name="Text 16"/>
          <p:cNvSpPr txBox="1"/>
          <p:nvPr/>
        </p:nvSpPr>
        <p:spPr>
          <a:xfrm>
            <a:off x="6149340" y="5541264"/>
            <a:ext cx="1312164" cy="274320"/>
          </a:xfrm>
          <a:prstGeom prst="rect">
            <a:avLst/>
          </a:prstGeom>
          <a:noFill/>
          <a:ln/>
        </p:spPr>
        <p:txBody>
          <a:bodyPr wrap="square" lIns="0" tIns="0" rIns="0" bIns="0" rtlCol="0" anchor="t"/>
          <a:lstStyle/>
          <a:p>
            <a:pPr indent="0" marL="0">
              <a:buNone/>
            </a:pPr>
            <a:r>
              <a:rPr lang="en-US" sz="850" dirty="0">
                <a:solidFill>
                  <a:srgbClr val="8FA5BC"/>
                </a:solidFill>
                <a:latin typeface="Calibri" pitchFamily="34" charset="0"/>
                <a:ea typeface="Calibri" pitchFamily="34" charset="-122"/>
                <a:cs typeface="Calibri" pitchFamily="34" charset="-120"/>
              </a:rPr>
              <a:t>verified 19 Sep 2026</a:t>
            </a:r>
            <a:endParaRPr lang="en-US" sz="850" dirty="0"/>
          </a:p>
        </p:txBody>
      </p:sp>
      <p:sp>
        <p:nvSpPr>
          <p:cNvPr id="19" name="Shape 17"/>
          <p:cNvSpPr/>
          <p:nvPr/>
        </p:nvSpPr>
        <p:spPr>
          <a:xfrm>
            <a:off x="9052560" y="1417320"/>
            <a:ext cx="2651760" cy="4453128"/>
          </a:xfrm>
          <a:prstGeom prst="roundRect">
            <a:avLst>
              <a:gd name="adj" fmla="val 2069"/>
            </a:avLst>
          </a:prstGeom>
          <a:solidFill>
            <a:srgbClr val="17293F"/>
          </a:solidFill>
          <a:ln w="9525">
            <a:solidFill>
              <a:srgbClr val="2A3F58"/>
            </a:solidFill>
            <a:prstDash val="solid"/>
          </a:ln>
        </p:spPr>
      </p:sp>
      <p:sp>
        <p:nvSpPr>
          <p:cNvPr id="20" name="Text 18"/>
          <p:cNvSpPr txBox="1"/>
          <p:nvPr/>
        </p:nvSpPr>
        <p:spPr>
          <a:xfrm>
            <a:off x="9281160" y="1627632"/>
            <a:ext cx="2194560" cy="219456"/>
          </a:xfrm>
          <a:prstGeom prst="rect">
            <a:avLst/>
          </a:prstGeom>
          <a:noFill/>
          <a:ln/>
        </p:spPr>
        <p:txBody>
          <a:bodyPr wrap="square" lIns="0" tIns="0" rIns="0" bIns="0" rtlCol="0" anchor="t"/>
          <a:lstStyle/>
          <a:p>
            <a:pPr indent="0" marL="0">
              <a:buNone/>
            </a:pPr>
            <a:r>
              <a:rPr lang="en-US" sz="850" b="1" spc="160" kern="0" dirty="0">
                <a:solidFill>
                  <a:srgbClr val="E8552D"/>
                </a:solidFill>
                <a:latin typeface="Calibri" pitchFamily="34" charset="0"/>
                <a:ea typeface="Calibri" pitchFamily="34" charset="-122"/>
                <a:cs typeface="Calibri" pitchFamily="34" charset="-120"/>
              </a:rPr>
              <a:t>THE CONTEXT LADDER</a:t>
            </a:r>
            <a:endParaRPr lang="en-US" sz="850" dirty="0"/>
          </a:p>
        </p:txBody>
      </p:sp>
      <p:sp>
        <p:nvSpPr>
          <p:cNvPr id="21" name="Shape 19"/>
          <p:cNvSpPr/>
          <p:nvPr/>
        </p:nvSpPr>
        <p:spPr>
          <a:xfrm>
            <a:off x="9281160" y="1993392"/>
            <a:ext cx="2194560" cy="365760"/>
          </a:xfrm>
          <a:prstGeom prst="roundRect">
            <a:avLst>
              <a:gd name="adj" fmla="val 10000"/>
            </a:avLst>
          </a:prstGeom>
          <a:solidFill>
            <a:srgbClr val="1E3450"/>
          </a:solidFill>
          <a:ln/>
        </p:spPr>
      </p:sp>
      <p:sp>
        <p:nvSpPr>
          <p:cNvPr id="22" name="Shape 20"/>
          <p:cNvSpPr/>
          <p:nvPr/>
        </p:nvSpPr>
        <p:spPr>
          <a:xfrm>
            <a:off x="9390888" y="2103120"/>
            <a:ext cx="146304" cy="146304"/>
          </a:xfrm>
          <a:prstGeom prst="ellipse">
            <a:avLst/>
          </a:prstGeom>
          <a:solidFill>
            <a:srgbClr val="F0A34A"/>
          </a:solidFill>
          <a:ln/>
        </p:spPr>
      </p:sp>
      <p:sp>
        <p:nvSpPr>
          <p:cNvPr id="23" name="Text 21"/>
          <p:cNvSpPr txBox="1"/>
          <p:nvPr/>
        </p:nvSpPr>
        <p:spPr>
          <a:xfrm>
            <a:off x="9619488" y="19933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Agent description</a:t>
            </a:r>
            <a:endParaRPr lang="en-US" sz="950" dirty="0"/>
          </a:p>
        </p:txBody>
      </p:sp>
      <p:sp>
        <p:nvSpPr>
          <p:cNvPr id="24" name="Shape 22"/>
          <p:cNvSpPr/>
          <p:nvPr/>
        </p:nvSpPr>
        <p:spPr>
          <a:xfrm>
            <a:off x="9281160" y="2450592"/>
            <a:ext cx="2194560" cy="365760"/>
          </a:xfrm>
          <a:prstGeom prst="roundRect">
            <a:avLst>
              <a:gd name="adj" fmla="val 10000"/>
            </a:avLst>
          </a:prstGeom>
          <a:solidFill>
            <a:srgbClr val="1E3450"/>
          </a:solidFill>
          <a:ln/>
        </p:spPr>
      </p:sp>
      <p:sp>
        <p:nvSpPr>
          <p:cNvPr id="25" name="Shape 23"/>
          <p:cNvSpPr/>
          <p:nvPr/>
        </p:nvSpPr>
        <p:spPr>
          <a:xfrm>
            <a:off x="9390888" y="2560320"/>
            <a:ext cx="146304" cy="146304"/>
          </a:xfrm>
          <a:prstGeom prst="ellipse">
            <a:avLst/>
          </a:prstGeom>
          <a:solidFill>
            <a:srgbClr val="F0A34A"/>
          </a:solidFill>
          <a:ln/>
        </p:spPr>
      </p:sp>
      <p:sp>
        <p:nvSpPr>
          <p:cNvPr id="26" name="Text 24"/>
          <p:cNvSpPr txBox="1"/>
          <p:nvPr/>
        </p:nvSpPr>
        <p:spPr>
          <a:xfrm>
            <a:off x="9619488" y="24505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Table + column metadata</a:t>
            </a:r>
            <a:endParaRPr lang="en-US" sz="950" dirty="0"/>
          </a:p>
        </p:txBody>
      </p:sp>
      <p:sp>
        <p:nvSpPr>
          <p:cNvPr id="27" name="Shape 25"/>
          <p:cNvSpPr/>
          <p:nvPr/>
        </p:nvSpPr>
        <p:spPr>
          <a:xfrm>
            <a:off x="9281160" y="2907792"/>
            <a:ext cx="2194560" cy="365760"/>
          </a:xfrm>
          <a:prstGeom prst="roundRect">
            <a:avLst>
              <a:gd name="adj" fmla="val 10000"/>
            </a:avLst>
          </a:prstGeom>
          <a:solidFill>
            <a:srgbClr val="1E3450"/>
          </a:solidFill>
          <a:ln/>
        </p:spPr>
      </p:sp>
      <p:sp>
        <p:nvSpPr>
          <p:cNvPr id="28" name="Shape 26"/>
          <p:cNvSpPr/>
          <p:nvPr/>
        </p:nvSpPr>
        <p:spPr>
          <a:xfrm>
            <a:off x="9390888" y="3017520"/>
            <a:ext cx="146304" cy="146304"/>
          </a:xfrm>
          <a:prstGeom prst="ellipse">
            <a:avLst/>
          </a:prstGeom>
          <a:solidFill>
            <a:srgbClr val="F0A34A"/>
          </a:solidFill>
          <a:ln/>
        </p:spPr>
      </p:sp>
      <p:sp>
        <p:nvSpPr>
          <p:cNvPr id="29" name="Text 27"/>
          <p:cNvSpPr txBox="1"/>
          <p:nvPr/>
        </p:nvSpPr>
        <p:spPr>
          <a:xfrm>
            <a:off x="9619488" y="29077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Prompt matching</a:t>
            </a:r>
            <a:endParaRPr lang="en-US" sz="950" dirty="0"/>
          </a:p>
        </p:txBody>
      </p:sp>
      <p:sp>
        <p:nvSpPr>
          <p:cNvPr id="30" name="Shape 28"/>
          <p:cNvSpPr/>
          <p:nvPr/>
        </p:nvSpPr>
        <p:spPr>
          <a:xfrm>
            <a:off x="9281160" y="3364992"/>
            <a:ext cx="2194560" cy="365760"/>
          </a:xfrm>
          <a:prstGeom prst="roundRect">
            <a:avLst>
              <a:gd name="adj" fmla="val 10000"/>
            </a:avLst>
          </a:prstGeom>
          <a:solidFill>
            <a:srgbClr val="1E3450"/>
          </a:solidFill>
          <a:ln/>
        </p:spPr>
      </p:sp>
      <p:sp>
        <p:nvSpPr>
          <p:cNvPr id="31" name="Shape 29"/>
          <p:cNvSpPr/>
          <p:nvPr/>
        </p:nvSpPr>
        <p:spPr>
          <a:xfrm>
            <a:off x="9390888" y="3474720"/>
            <a:ext cx="146304" cy="146304"/>
          </a:xfrm>
          <a:prstGeom prst="ellipse">
            <a:avLst/>
          </a:prstGeom>
          <a:solidFill>
            <a:srgbClr val="2D6EA5"/>
          </a:solidFill>
          <a:ln/>
        </p:spPr>
      </p:sp>
      <p:sp>
        <p:nvSpPr>
          <p:cNvPr id="32" name="Text 30"/>
          <p:cNvSpPr txBox="1"/>
          <p:nvPr/>
        </p:nvSpPr>
        <p:spPr>
          <a:xfrm>
            <a:off x="9619488" y="33649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Join specifications</a:t>
            </a:r>
            <a:endParaRPr lang="en-US" sz="950" dirty="0"/>
          </a:p>
        </p:txBody>
      </p:sp>
      <p:sp>
        <p:nvSpPr>
          <p:cNvPr id="33" name="Shape 31"/>
          <p:cNvSpPr/>
          <p:nvPr/>
        </p:nvSpPr>
        <p:spPr>
          <a:xfrm>
            <a:off x="9281160" y="3822192"/>
            <a:ext cx="2194560" cy="365760"/>
          </a:xfrm>
          <a:prstGeom prst="roundRect">
            <a:avLst>
              <a:gd name="adj" fmla="val 10000"/>
            </a:avLst>
          </a:prstGeom>
          <a:solidFill>
            <a:srgbClr val="1E3450"/>
          </a:solidFill>
          <a:ln/>
        </p:spPr>
      </p:sp>
      <p:sp>
        <p:nvSpPr>
          <p:cNvPr id="34" name="Shape 32"/>
          <p:cNvSpPr/>
          <p:nvPr/>
        </p:nvSpPr>
        <p:spPr>
          <a:xfrm>
            <a:off x="9390888" y="3931920"/>
            <a:ext cx="146304" cy="146304"/>
          </a:xfrm>
          <a:prstGeom prst="ellipse">
            <a:avLst/>
          </a:prstGeom>
          <a:solidFill>
            <a:srgbClr val="2D6EA5"/>
          </a:solidFill>
          <a:ln/>
        </p:spPr>
      </p:sp>
      <p:sp>
        <p:nvSpPr>
          <p:cNvPr id="35" name="Text 33"/>
          <p:cNvSpPr txBox="1"/>
          <p:nvPr/>
        </p:nvSpPr>
        <p:spPr>
          <a:xfrm>
            <a:off x="9619488" y="38221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SQL expressions</a:t>
            </a:r>
            <a:endParaRPr lang="en-US" sz="950" dirty="0"/>
          </a:p>
        </p:txBody>
      </p:sp>
      <p:sp>
        <p:nvSpPr>
          <p:cNvPr id="36" name="Shape 34"/>
          <p:cNvSpPr/>
          <p:nvPr/>
        </p:nvSpPr>
        <p:spPr>
          <a:xfrm>
            <a:off x="9281160" y="4279392"/>
            <a:ext cx="2194560" cy="365760"/>
          </a:xfrm>
          <a:prstGeom prst="roundRect">
            <a:avLst>
              <a:gd name="adj" fmla="val 10000"/>
            </a:avLst>
          </a:prstGeom>
          <a:solidFill>
            <a:srgbClr val="1E3450"/>
          </a:solidFill>
          <a:ln/>
        </p:spPr>
      </p:sp>
      <p:sp>
        <p:nvSpPr>
          <p:cNvPr id="37" name="Shape 35"/>
          <p:cNvSpPr/>
          <p:nvPr/>
        </p:nvSpPr>
        <p:spPr>
          <a:xfrm>
            <a:off x="9390888" y="4389120"/>
            <a:ext cx="146304" cy="146304"/>
          </a:xfrm>
          <a:prstGeom prst="ellipse">
            <a:avLst/>
          </a:prstGeom>
          <a:solidFill>
            <a:srgbClr val="2D6EA5"/>
          </a:solidFill>
          <a:ln/>
        </p:spPr>
      </p:sp>
      <p:sp>
        <p:nvSpPr>
          <p:cNvPr id="38" name="Text 36"/>
          <p:cNvSpPr txBox="1"/>
          <p:nvPr/>
        </p:nvSpPr>
        <p:spPr>
          <a:xfrm>
            <a:off x="9619488" y="42793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Example SQL</a:t>
            </a:r>
            <a:endParaRPr lang="en-US" sz="950" dirty="0"/>
          </a:p>
        </p:txBody>
      </p:sp>
      <p:sp>
        <p:nvSpPr>
          <p:cNvPr id="39" name="Shape 37"/>
          <p:cNvSpPr/>
          <p:nvPr/>
        </p:nvSpPr>
        <p:spPr>
          <a:xfrm>
            <a:off x="9281160" y="4736592"/>
            <a:ext cx="2194560" cy="365760"/>
          </a:xfrm>
          <a:prstGeom prst="roundRect">
            <a:avLst>
              <a:gd name="adj" fmla="val 10000"/>
            </a:avLst>
          </a:prstGeom>
          <a:solidFill>
            <a:srgbClr val="1E3450"/>
          </a:solidFill>
          <a:ln/>
        </p:spPr>
      </p:sp>
      <p:sp>
        <p:nvSpPr>
          <p:cNvPr id="40" name="Shape 38"/>
          <p:cNvSpPr/>
          <p:nvPr/>
        </p:nvSpPr>
        <p:spPr>
          <a:xfrm>
            <a:off x="9390888" y="4846320"/>
            <a:ext cx="146304" cy="146304"/>
          </a:xfrm>
          <a:prstGeom prst="ellipse">
            <a:avLst/>
          </a:prstGeom>
          <a:solidFill>
            <a:srgbClr val="2D6EA5"/>
          </a:solidFill>
          <a:ln/>
        </p:spPr>
      </p:sp>
      <p:sp>
        <p:nvSpPr>
          <p:cNvPr id="41" name="Text 39"/>
          <p:cNvSpPr txBox="1"/>
          <p:nvPr/>
        </p:nvSpPr>
        <p:spPr>
          <a:xfrm>
            <a:off x="9619488" y="47365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SQL functions</a:t>
            </a:r>
            <a:endParaRPr lang="en-US" sz="950" dirty="0"/>
          </a:p>
        </p:txBody>
      </p:sp>
      <p:sp>
        <p:nvSpPr>
          <p:cNvPr id="42" name="Shape 40"/>
          <p:cNvSpPr/>
          <p:nvPr/>
        </p:nvSpPr>
        <p:spPr>
          <a:xfrm>
            <a:off x="9281160" y="5193792"/>
            <a:ext cx="2194560" cy="365760"/>
          </a:xfrm>
          <a:prstGeom prst="roundRect">
            <a:avLst>
              <a:gd name="adj" fmla="val 10000"/>
            </a:avLst>
          </a:prstGeom>
          <a:solidFill>
            <a:srgbClr val="1E3450"/>
          </a:solidFill>
          <a:ln/>
        </p:spPr>
      </p:sp>
      <p:sp>
        <p:nvSpPr>
          <p:cNvPr id="43" name="Shape 41"/>
          <p:cNvSpPr/>
          <p:nvPr/>
        </p:nvSpPr>
        <p:spPr>
          <a:xfrm>
            <a:off x="9390888" y="5303520"/>
            <a:ext cx="146304" cy="146304"/>
          </a:xfrm>
          <a:prstGeom prst="ellipse">
            <a:avLst/>
          </a:prstGeom>
          <a:solidFill>
            <a:srgbClr val="E8552D"/>
          </a:solidFill>
          <a:ln/>
        </p:spPr>
      </p:sp>
      <p:sp>
        <p:nvSpPr>
          <p:cNvPr id="44" name="Text 42"/>
          <p:cNvSpPr txBox="1"/>
          <p:nvPr/>
        </p:nvSpPr>
        <p:spPr>
          <a:xfrm>
            <a:off x="9619488" y="5193792"/>
            <a:ext cx="1810512" cy="365760"/>
          </a:xfrm>
          <a:prstGeom prst="rect">
            <a:avLst/>
          </a:prstGeom>
          <a:noFill/>
          <a:ln/>
        </p:spPr>
        <p:txBody>
          <a:bodyPr wrap="square" lIns="0" tIns="0" rIns="0" bIns="0" rtlCol="0" anchor="ctr"/>
          <a:lstStyle/>
          <a:p>
            <a:pPr indent="0" marL="0">
              <a:buNone/>
            </a:pPr>
            <a:r>
              <a:rPr lang="en-US" sz="950" dirty="0">
                <a:solidFill>
                  <a:srgbClr val="CBD8E6"/>
                </a:solidFill>
                <a:latin typeface="Calibri" pitchFamily="34" charset="0"/>
                <a:ea typeface="Calibri" pitchFamily="34" charset="-122"/>
                <a:cs typeface="Calibri" pitchFamily="34" charset="-120"/>
              </a:rPr>
              <a:t>Text instructions</a:t>
            </a:r>
            <a:endParaRPr lang="en-US" sz="950" dirty="0"/>
          </a:p>
        </p:txBody>
      </p:sp>
      <p:sp>
        <p:nvSpPr>
          <p:cNvPr id="45" name="Text 43"/>
          <p:cNvSpPr txBox="1"/>
          <p:nvPr/>
        </p:nvSpPr>
        <p:spPr>
          <a:xfrm>
            <a:off x="9281160" y="5742432"/>
            <a:ext cx="2194560" cy="201168"/>
          </a:xfrm>
          <a:prstGeom prst="rect">
            <a:avLst/>
          </a:prstGeom>
          <a:noFill/>
          <a:ln/>
        </p:spPr>
        <p:txBody>
          <a:bodyPr wrap="square" lIns="0" tIns="0" rIns="0" bIns="0" rtlCol="0" anchor="t"/>
          <a:lstStyle/>
          <a:p>
            <a:pPr indent="0" marL="0">
              <a:buNone/>
            </a:pPr>
            <a:r>
              <a:rPr lang="en-US" sz="800" i="1" dirty="0">
                <a:solidFill>
                  <a:srgbClr val="7E93AB"/>
                </a:solidFill>
                <a:latin typeface="Calibri" pitchFamily="34" charset="0"/>
                <a:ea typeface="Calibri" pitchFamily="34" charset="-122"/>
                <a:cs typeface="Calibri" pitchFamily="34" charset="-120"/>
              </a:rPr>
              <a:t>Structured first · text last</a:t>
            </a:r>
            <a:endParaRPr lang="en-US" sz="800" dirty="0"/>
          </a:p>
        </p:txBody>
      </p:sp>
      <p:sp>
        <p:nvSpPr>
          <p:cNvPr id="46" name="Text 44"/>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47" name="Text 45"/>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PROVENANCE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Evidence base: every claim in this deck is traceable</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777240"/>
                <a:gridCol w="3291840"/>
                <a:gridCol w="1143000"/>
                <a:gridCol w="597103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Ref</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Last updated</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Scope it governs in this deck</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OFF-1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Curate an effective Genie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2026-09-11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Mental model, four principles, start-small sizing, clarification + summary instructions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OFF-2</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Tune Genie Agent quality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2026-09-11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Knowledge store, prompt matching, SQL expressions, example SQL, trusted assets, join relationships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OFF-3</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Create and manage a Genie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2026-08-20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Prerequisites, permissions, hard limits, agent settings, clone / export / certify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OFF-4</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Test and monitor a Genie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2026-09-17</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Feedback loop, benchmark mechanics and rating rules, Monitor tab, conversation visibility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OFF-5</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Troubleshoot Genie Agents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2026-09-11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Symptom-to-fix playbook, timezone handling, token limits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OFF-6</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Use the Genie Agents API</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2026-08-27</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serialized_space schema and validation, API usage practices, readiness markers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GH-1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create-genie-agent.md (databricks-agent-skills)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2026-09-19</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Requirements gate, surface priority order, profiling, anti-patterns, CLI, checklist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Shape 4"/>
          <p:cNvSpPr/>
          <p:nvPr/>
        </p:nvSpPr>
        <p:spPr>
          <a:xfrm>
            <a:off x="502920" y="4224528"/>
            <a:ext cx="11183112" cy="713232"/>
          </a:xfrm>
          <a:prstGeom prst="roundRect">
            <a:avLst>
              <a:gd name="adj" fmla="val 7692"/>
            </a:avLst>
          </a:prstGeom>
          <a:solidFill>
            <a:srgbClr val="0E1B2A"/>
          </a:solidFill>
          <a:ln w="9525">
            <a:solidFill>
              <a:srgbClr val="0E1B2A"/>
            </a:solidFill>
            <a:prstDash val="solid"/>
          </a:ln>
        </p:spPr>
      </p:sp>
      <p:sp>
        <p:nvSpPr>
          <p:cNvPr id="8" name="Shape 5"/>
          <p:cNvSpPr/>
          <p:nvPr/>
        </p:nvSpPr>
        <p:spPr>
          <a:xfrm>
            <a:off x="685800" y="4443984"/>
            <a:ext cx="274320" cy="274320"/>
          </a:xfrm>
          <a:prstGeom prst="roundRect">
            <a:avLst>
              <a:gd name="adj" fmla="val 16667"/>
            </a:avLst>
          </a:prstGeom>
          <a:solidFill>
            <a:srgbClr val="E8552D"/>
          </a:solidFill>
          <a:ln/>
        </p:spPr>
      </p:sp>
      <p:sp>
        <p:nvSpPr>
          <p:cNvPr id="9" name="Text 6"/>
          <p:cNvSpPr txBox="1"/>
          <p:nvPr/>
        </p:nvSpPr>
        <p:spPr>
          <a:xfrm>
            <a:off x="685800" y="444398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t>
            </a:r>
            <a:endParaRPr lang="en-US" sz="1050" dirty="0"/>
          </a:p>
        </p:txBody>
      </p:sp>
      <p:sp>
        <p:nvSpPr>
          <p:cNvPr id="10" name="Text 7"/>
          <p:cNvSpPr txBox="1"/>
          <p:nvPr/>
        </p:nvSpPr>
        <p:spPr>
          <a:xfrm>
            <a:off x="1106424" y="4315968"/>
            <a:ext cx="10396728" cy="530352"/>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Naming note [OFF-1 – OFF-6]: Genie Agents were formerly Genie Spaces. Older material, API paths (/api/2.0/genie/spaces) and CLI commands (create-space) still carry the previous name — expect both vocabularies in the same workspace.</a:t>
            </a:r>
            <a:endParaRPr lang="en-US" sz="1050" dirty="0"/>
          </a:p>
        </p:txBody>
      </p:sp>
      <p:sp>
        <p:nvSpPr>
          <p:cNvPr id="11" name="Shape 8"/>
          <p:cNvSpPr/>
          <p:nvPr/>
        </p:nvSpPr>
        <p:spPr>
          <a:xfrm>
            <a:off x="502920" y="5102352"/>
            <a:ext cx="3605784" cy="1188720"/>
          </a:xfrm>
          <a:prstGeom prst="roundRect">
            <a:avLst>
              <a:gd name="adj" fmla="val 4615"/>
            </a:avLst>
          </a:prstGeom>
          <a:solidFill>
            <a:srgbClr val="F2F5F9"/>
          </a:solidFill>
          <a:ln w="9525">
            <a:solidFill>
              <a:srgbClr val="D2DDE9"/>
            </a:solidFill>
            <a:prstDash val="solid"/>
          </a:ln>
        </p:spPr>
      </p:sp>
      <p:sp>
        <p:nvSpPr>
          <p:cNvPr id="12" name="Text 9"/>
          <p:cNvSpPr txBox="1"/>
          <p:nvPr/>
        </p:nvSpPr>
        <p:spPr>
          <a:xfrm>
            <a:off x="649224" y="5221224"/>
            <a:ext cx="3313176"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What changed in v2</a:t>
            </a:r>
            <a:endParaRPr lang="en-US" sz="1150" dirty="0"/>
          </a:p>
        </p:txBody>
      </p:sp>
      <p:sp>
        <p:nvSpPr>
          <p:cNvPr id="13" name="Text 10"/>
          <p:cNvSpPr txBox="1"/>
          <p:nvPr/>
        </p:nvSpPr>
        <p:spPr>
          <a:xfrm>
            <a:off x="649224" y="5559552"/>
            <a:ext cx="3313176"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OFF-3 → OFF-6 added: hard limits, benchmark mechanics and rating rules, the full troubleshooting playbook, token-limit management and serialized_space validation rules.</a:t>
            </a:r>
            <a:endParaRPr lang="en-US" sz="950" dirty="0"/>
          </a:p>
        </p:txBody>
      </p:sp>
      <p:sp>
        <p:nvSpPr>
          <p:cNvPr id="14" name="Shape 11"/>
          <p:cNvSpPr/>
          <p:nvPr/>
        </p:nvSpPr>
        <p:spPr>
          <a:xfrm>
            <a:off x="4291584" y="5102352"/>
            <a:ext cx="3605784" cy="1188720"/>
          </a:xfrm>
          <a:prstGeom prst="roundRect">
            <a:avLst>
              <a:gd name="adj" fmla="val 4615"/>
            </a:avLst>
          </a:prstGeom>
          <a:solidFill>
            <a:srgbClr val="F2F5F9"/>
          </a:solidFill>
          <a:ln w="9525">
            <a:solidFill>
              <a:srgbClr val="D2DDE9"/>
            </a:solidFill>
            <a:prstDash val="solid"/>
          </a:ln>
        </p:spPr>
      </p:sp>
      <p:sp>
        <p:nvSpPr>
          <p:cNvPr id="15" name="Text 12"/>
          <p:cNvSpPr txBox="1"/>
          <p:nvPr/>
        </p:nvSpPr>
        <p:spPr>
          <a:xfrm>
            <a:off x="4437888" y="5221224"/>
            <a:ext cx="3313176"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One discrepancy re-checked</a:t>
            </a:r>
            <a:endParaRPr lang="en-US" sz="1150" dirty="0"/>
          </a:p>
        </p:txBody>
      </p:sp>
      <p:sp>
        <p:nvSpPr>
          <p:cNvPr id="16" name="Text 13"/>
          <p:cNvSpPr txBox="1"/>
          <p:nvPr/>
        </p:nvSpPr>
        <p:spPr>
          <a:xfrm>
            <a:off x="4437888" y="5559552"/>
            <a:ext cx="3313176"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The limits page (OFF-3) and the GitHub skill (GH-1) both say 30 tables or views; the best-practices page (OFF-1) says 50. Both official pages are current. Design to 30.</a:t>
            </a:r>
            <a:endParaRPr lang="en-US" sz="950" dirty="0"/>
          </a:p>
        </p:txBody>
      </p:sp>
      <p:sp>
        <p:nvSpPr>
          <p:cNvPr id="17" name="Shape 14"/>
          <p:cNvSpPr/>
          <p:nvPr/>
        </p:nvSpPr>
        <p:spPr>
          <a:xfrm>
            <a:off x="8080248" y="5102352"/>
            <a:ext cx="3605784" cy="1188720"/>
          </a:xfrm>
          <a:prstGeom prst="roundRect">
            <a:avLst>
              <a:gd name="adj" fmla="val 4615"/>
            </a:avLst>
          </a:prstGeom>
          <a:solidFill>
            <a:srgbClr val="F2F5F9"/>
          </a:solidFill>
          <a:ln w="9525">
            <a:solidFill>
              <a:srgbClr val="D2DDE9"/>
            </a:solidFill>
            <a:prstDash val="solid"/>
          </a:ln>
        </p:spPr>
      </p:sp>
      <p:sp>
        <p:nvSpPr>
          <p:cNvPr id="18" name="Text 15"/>
          <p:cNvSpPr txBox="1"/>
          <p:nvPr/>
        </p:nvSpPr>
        <p:spPr>
          <a:xfrm>
            <a:off x="8226552" y="5221224"/>
            <a:ext cx="3313176"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Genie Code paths added</a:t>
            </a:r>
            <a:endParaRPr lang="en-US" sz="1150" dirty="0"/>
          </a:p>
        </p:txBody>
      </p:sp>
      <p:sp>
        <p:nvSpPr>
          <p:cNvPr id="19" name="Text 16"/>
          <p:cNvSpPr txBox="1"/>
          <p:nvPr/>
        </p:nvSpPr>
        <p:spPr>
          <a:xfrm>
            <a:off x="8226552" y="5559552"/>
            <a:ext cx="3313176"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The assist paths that now appear throughout the official docs: agent creation, response debugging, usage analysis and benchmark-run analysis.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AGENDA</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Thirteen sections, ordered by cost of reversal</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a:t>
            </a:r>
            <a:endParaRPr lang="en-US" sz="800" dirty="0"/>
          </a:p>
        </p:txBody>
      </p:sp>
      <p:sp>
        <p:nvSpPr>
          <p:cNvPr id="6" name="Shape 4"/>
          <p:cNvSpPr/>
          <p:nvPr/>
        </p:nvSpPr>
        <p:spPr>
          <a:xfrm>
            <a:off x="502920" y="1207008"/>
            <a:ext cx="2672334" cy="1051560"/>
          </a:xfrm>
          <a:prstGeom prst="roundRect">
            <a:avLst>
              <a:gd name="adj" fmla="val 5217"/>
            </a:avLst>
          </a:prstGeom>
          <a:solidFill>
            <a:srgbClr val="F2F5F9"/>
          </a:solidFill>
          <a:ln w="9525">
            <a:solidFill>
              <a:srgbClr val="D2DDE9"/>
            </a:solidFill>
            <a:prstDash val="solid"/>
          </a:ln>
        </p:spPr>
      </p:sp>
      <p:sp>
        <p:nvSpPr>
          <p:cNvPr id="7" name="Shape 5"/>
          <p:cNvSpPr/>
          <p:nvPr/>
        </p:nvSpPr>
        <p:spPr>
          <a:xfrm>
            <a:off x="649224" y="1344168"/>
            <a:ext cx="274320" cy="274320"/>
          </a:xfrm>
          <a:prstGeom prst="roundRect">
            <a:avLst>
              <a:gd name="adj" fmla="val 16667"/>
            </a:avLst>
          </a:prstGeom>
          <a:solidFill>
            <a:srgbClr val="13456E"/>
          </a:solidFill>
          <a:ln/>
        </p:spPr>
      </p:sp>
      <p:sp>
        <p:nvSpPr>
          <p:cNvPr id="8" name="Text 6"/>
          <p:cNvSpPr txBox="1"/>
          <p:nvPr/>
        </p:nvSpPr>
        <p:spPr>
          <a:xfrm>
            <a:off x="649224" y="134416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9" name="Text 7"/>
          <p:cNvSpPr txBox="1"/>
          <p:nvPr/>
        </p:nvSpPr>
        <p:spPr>
          <a:xfrm>
            <a:off x="996696" y="1348740"/>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Foundations</a:t>
            </a:r>
            <a:endParaRPr lang="en-US" sz="1200" dirty="0"/>
          </a:p>
        </p:txBody>
      </p:sp>
      <p:sp>
        <p:nvSpPr>
          <p:cNvPr id="10" name="Text 8"/>
          <p:cNvSpPr txBox="1"/>
          <p:nvPr/>
        </p:nvSpPr>
        <p:spPr>
          <a:xfrm>
            <a:off x="649224" y="1709928"/>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Mental model, the four guiding principles</a:t>
            </a:r>
            <a:endParaRPr lang="en-US" sz="950" dirty="0"/>
          </a:p>
        </p:txBody>
      </p:sp>
      <p:sp>
        <p:nvSpPr>
          <p:cNvPr id="11" name="Shape 9"/>
          <p:cNvSpPr/>
          <p:nvPr/>
        </p:nvSpPr>
        <p:spPr>
          <a:xfrm>
            <a:off x="3339846" y="1207008"/>
            <a:ext cx="2672334" cy="1051560"/>
          </a:xfrm>
          <a:prstGeom prst="roundRect">
            <a:avLst>
              <a:gd name="adj" fmla="val 5217"/>
            </a:avLst>
          </a:prstGeom>
          <a:solidFill>
            <a:srgbClr val="F2F5F9"/>
          </a:solidFill>
          <a:ln w="9525">
            <a:solidFill>
              <a:srgbClr val="D2DDE9"/>
            </a:solidFill>
            <a:prstDash val="solid"/>
          </a:ln>
        </p:spPr>
      </p:sp>
      <p:sp>
        <p:nvSpPr>
          <p:cNvPr id="12" name="Shape 10"/>
          <p:cNvSpPr/>
          <p:nvPr/>
        </p:nvSpPr>
        <p:spPr>
          <a:xfrm>
            <a:off x="3486150" y="1344168"/>
            <a:ext cx="274320" cy="274320"/>
          </a:xfrm>
          <a:prstGeom prst="roundRect">
            <a:avLst>
              <a:gd name="adj" fmla="val 16667"/>
            </a:avLst>
          </a:prstGeom>
          <a:solidFill>
            <a:srgbClr val="13456E"/>
          </a:solidFill>
          <a:ln/>
        </p:spPr>
      </p:sp>
      <p:sp>
        <p:nvSpPr>
          <p:cNvPr id="13" name="Text 11"/>
          <p:cNvSpPr txBox="1"/>
          <p:nvPr/>
        </p:nvSpPr>
        <p:spPr>
          <a:xfrm>
            <a:off x="3486150" y="134416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02</a:t>
            </a:r>
            <a:endParaRPr lang="en-US" sz="1050" dirty="0"/>
          </a:p>
        </p:txBody>
      </p:sp>
      <p:sp>
        <p:nvSpPr>
          <p:cNvPr id="14" name="Text 12"/>
          <p:cNvSpPr txBox="1"/>
          <p:nvPr/>
        </p:nvSpPr>
        <p:spPr>
          <a:xfrm>
            <a:off x="3833622" y="1348740"/>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Before you build</a:t>
            </a:r>
            <a:endParaRPr lang="en-US" sz="1200" dirty="0"/>
          </a:p>
        </p:txBody>
      </p:sp>
      <p:sp>
        <p:nvSpPr>
          <p:cNvPr id="15" name="Text 13"/>
          <p:cNvSpPr txBox="1"/>
          <p:nvPr/>
        </p:nvSpPr>
        <p:spPr>
          <a:xfrm>
            <a:off x="3486150" y="1709928"/>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Requirements gate, rules, permissions</a:t>
            </a:r>
            <a:endParaRPr lang="en-US" sz="950" dirty="0"/>
          </a:p>
        </p:txBody>
      </p:sp>
      <p:sp>
        <p:nvSpPr>
          <p:cNvPr id="16" name="Shape 14"/>
          <p:cNvSpPr/>
          <p:nvPr/>
        </p:nvSpPr>
        <p:spPr>
          <a:xfrm>
            <a:off x="6176772" y="1207008"/>
            <a:ext cx="2672334" cy="1051560"/>
          </a:xfrm>
          <a:prstGeom prst="roundRect">
            <a:avLst>
              <a:gd name="adj" fmla="val 5217"/>
            </a:avLst>
          </a:prstGeom>
          <a:solidFill>
            <a:srgbClr val="F2F5F9"/>
          </a:solidFill>
          <a:ln w="9525">
            <a:solidFill>
              <a:srgbClr val="D2DDE9"/>
            </a:solidFill>
            <a:prstDash val="solid"/>
          </a:ln>
        </p:spPr>
      </p:sp>
      <p:sp>
        <p:nvSpPr>
          <p:cNvPr id="17" name="Shape 15"/>
          <p:cNvSpPr/>
          <p:nvPr/>
        </p:nvSpPr>
        <p:spPr>
          <a:xfrm>
            <a:off x="6323076" y="1344168"/>
            <a:ext cx="274320" cy="274320"/>
          </a:xfrm>
          <a:prstGeom prst="roundRect">
            <a:avLst>
              <a:gd name="adj" fmla="val 16667"/>
            </a:avLst>
          </a:prstGeom>
          <a:solidFill>
            <a:srgbClr val="13456E"/>
          </a:solidFill>
          <a:ln/>
        </p:spPr>
      </p:sp>
      <p:sp>
        <p:nvSpPr>
          <p:cNvPr id="18" name="Text 16"/>
          <p:cNvSpPr txBox="1"/>
          <p:nvPr/>
        </p:nvSpPr>
        <p:spPr>
          <a:xfrm>
            <a:off x="6323076" y="134416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19" name="Text 17"/>
          <p:cNvSpPr txBox="1"/>
          <p:nvPr/>
        </p:nvSpPr>
        <p:spPr>
          <a:xfrm>
            <a:off x="6670548" y="1348740"/>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Sizing &amp; hard limits</a:t>
            </a:r>
            <a:endParaRPr lang="en-US" sz="1200" dirty="0"/>
          </a:p>
        </p:txBody>
      </p:sp>
      <p:sp>
        <p:nvSpPr>
          <p:cNvPr id="20" name="Text 18"/>
          <p:cNvSpPr txBox="1"/>
          <p:nvPr/>
        </p:nvSpPr>
        <p:spPr>
          <a:xfrm>
            <a:off x="6323076" y="1709928"/>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Consolidated limits, start small, domains</a:t>
            </a:r>
            <a:endParaRPr lang="en-US" sz="950" dirty="0"/>
          </a:p>
        </p:txBody>
      </p:sp>
      <p:sp>
        <p:nvSpPr>
          <p:cNvPr id="21" name="Shape 19"/>
          <p:cNvSpPr/>
          <p:nvPr/>
        </p:nvSpPr>
        <p:spPr>
          <a:xfrm>
            <a:off x="9013698" y="1207008"/>
            <a:ext cx="2672334" cy="1051560"/>
          </a:xfrm>
          <a:prstGeom prst="roundRect">
            <a:avLst>
              <a:gd name="adj" fmla="val 5217"/>
            </a:avLst>
          </a:prstGeom>
          <a:solidFill>
            <a:srgbClr val="F2F5F9"/>
          </a:solidFill>
          <a:ln w="9525">
            <a:solidFill>
              <a:srgbClr val="D2DDE9"/>
            </a:solidFill>
            <a:prstDash val="solid"/>
          </a:ln>
        </p:spPr>
      </p:sp>
      <p:sp>
        <p:nvSpPr>
          <p:cNvPr id="22" name="Shape 20"/>
          <p:cNvSpPr/>
          <p:nvPr/>
        </p:nvSpPr>
        <p:spPr>
          <a:xfrm>
            <a:off x="9160002" y="1344168"/>
            <a:ext cx="274320" cy="274320"/>
          </a:xfrm>
          <a:prstGeom prst="roundRect">
            <a:avLst>
              <a:gd name="adj" fmla="val 16667"/>
            </a:avLst>
          </a:prstGeom>
          <a:solidFill>
            <a:srgbClr val="13456E"/>
          </a:solidFill>
          <a:ln/>
        </p:spPr>
      </p:sp>
      <p:sp>
        <p:nvSpPr>
          <p:cNvPr id="23" name="Text 21"/>
          <p:cNvSpPr txBox="1"/>
          <p:nvPr/>
        </p:nvSpPr>
        <p:spPr>
          <a:xfrm>
            <a:off x="9160002" y="134416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04</a:t>
            </a:r>
            <a:endParaRPr lang="en-US" sz="1050" dirty="0"/>
          </a:p>
        </p:txBody>
      </p:sp>
      <p:sp>
        <p:nvSpPr>
          <p:cNvPr id="24" name="Text 22"/>
          <p:cNvSpPr txBox="1"/>
          <p:nvPr/>
        </p:nvSpPr>
        <p:spPr>
          <a:xfrm>
            <a:off x="9507474" y="1348740"/>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Design workflow</a:t>
            </a:r>
            <a:endParaRPr lang="en-US" sz="1200" dirty="0"/>
          </a:p>
        </p:txBody>
      </p:sp>
      <p:sp>
        <p:nvSpPr>
          <p:cNvPr id="25" name="Text 23"/>
          <p:cNvSpPr txBox="1"/>
          <p:nvPr/>
        </p:nvSpPr>
        <p:spPr>
          <a:xfrm>
            <a:off x="9160002" y="1709928"/>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Nine steps and three approval gates</a:t>
            </a:r>
            <a:endParaRPr lang="en-US" sz="950" dirty="0"/>
          </a:p>
        </p:txBody>
      </p:sp>
      <p:sp>
        <p:nvSpPr>
          <p:cNvPr id="26" name="Shape 24"/>
          <p:cNvSpPr/>
          <p:nvPr/>
        </p:nvSpPr>
        <p:spPr>
          <a:xfrm>
            <a:off x="502920" y="2423160"/>
            <a:ext cx="2672334" cy="1051560"/>
          </a:xfrm>
          <a:prstGeom prst="roundRect">
            <a:avLst>
              <a:gd name="adj" fmla="val 5217"/>
            </a:avLst>
          </a:prstGeom>
          <a:solidFill>
            <a:srgbClr val="F2F5F9"/>
          </a:solidFill>
          <a:ln w="9525">
            <a:solidFill>
              <a:srgbClr val="D2DDE9"/>
            </a:solidFill>
            <a:prstDash val="solid"/>
          </a:ln>
        </p:spPr>
      </p:sp>
      <p:sp>
        <p:nvSpPr>
          <p:cNvPr id="27" name="Shape 25"/>
          <p:cNvSpPr/>
          <p:nvPr/>
        </p:nvSpPr>
        <p:spPr>
          <a:xfrm>
            <a:off x="649224" y="2560320"/>
            <a:ext cx="274320" cy="274320"/>
          </a:xfrm>
          <a:prstGeom prst="roundRect">
            <a:avLst>
              <a:gd name="adj" fmla="val 16667"/>
            </a:avLst>
          </a:prstGeom>
          <a:solidFill>
            <a:srgbClr val="13456E"/>
          </a:solidFill>
          <a:ln/>
        </p:spPr>
      </p:sp>
      <p:sp>
        <p:nvSpPr>
          <p:cNvPr id="28" name="Text 26"/>
          <p:cNvSpPr txBox="1"/>
          <p:nvPr/>
        </p:nvSpPr>
        <p:spPr>
          <a:xfrm>
            <a:off x="649224" y="256032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05</a:t>
            </a:r>
            <a:endParaRPr lang="en-US" sz="1050" dirty="0"/>
          </a:p>
        </p:txBody>
      </p:sp>
      <p:sp>
        <p:nvSpPr>
          <p:cNvPr id="29" name="Text 27"/>
          <p:cNvSpPr txBox="1"/>
          <p:nvPr/>
        </p:nvSpPr>
        <p:spPr>
          <a:xfrm>
            <a:off x="996696" y="2564892"/>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Choosing surfaces</a:t>
            </a:r>
            <a:endParaRPr lang="en-US" sz="1200" dirty="0"/>
          </a:p>
        </p:txBody>
      </p:sp>
      <p:sp>
        <p:nvSpPr>
          <p:cNvPr id="30" name="Text 28"/>
          <p:cNvSpPr txBox="1"/>
          <p:nvPr/>
        </p:nvSpPr>
        <p:spPr>
          <a:xfrm>
            <a:off x="649224" y="2926080"/>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Decision rule, 13-rung priority ladder</a:t>
            </a:r>
            <a:endParaRPr lang="en-US" sz="950" dirty="0"/>
          </a:p>
        </p:txBody>
      </p:sp>
      <p:sp>
        <p:nvSpPr>
          <p:cNvPr id="31" name="Shape 29"/>
          <p:cNvSpPr/>
          <p:nvPr/>
        </p:nvSpPr>
        <p:spPr>
          <a:xfrm>
            <a:off x="3339846" y="2423160"/>
            <a:ext cx="2672334" cy="1051560"/>
          </a:xfrm>
          <a:prstGeom prst="roundRect">
            <a:avLst>
              <a:gd name="adj" fmla="val 5217"/>
            </a:avLst>
          </a:prstGeom>
          <a:solidFill>
            <a:srgbClr val="F2F5F9"/>
          </a:solidFill>
          <a:ln w="9525">
            <a:solidFill>
              <a:srgbClr val="D2DDE9"/>
            </a:solidFill>
            <a:prstDash val="solid"/>
          </a:ln>
        </p:spPr>
      </p:sp>
      <p:sp>
        <p:nvSpPr>
          <p:cNvPr id="32" name="Shape 30"/>
          <p:cNvSpPr/>
          <p:nvPr/>
        </p:nvSpPr>
        <p:spPr>
          <a:xfrm>
            <a:off x="3486150" y="2560320"/>
            <a:ext cx="274320" cy="274320"/>
          </a:xfrm>
          <a:prstGeom prst="roundRect">
            <a:avLst>
              <a:gd name="adj" fmla="val 16667"/>
            </a:avLst>
          </a:prstGeom>
          <a:solidFill>
            <a:srgbClr val="13456E"/>
          </a:solidFill>
          <a:ln/>
        </p:spPr>
      </p:sp>
      <p:sp>
        <p:nvSpPr>
          <p:cNvPr id="33" name="Text 31"/>
          <p:cNvSpPr txBox="1"/>
          <p:nvPr/>
        </p:nvSpPr>
        <p:spPr>
          <a:xfrm>
            <a:off x="3486150" y="256032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06</a:t>
            </a:r>
            <a:endParaRPr lang="en-US" sz="1050" dirty="0"/>
          </a:p>
        </p:txBody>
      </p:sp>
      <p:sp>
        <p:nvSpPr>
          <p:cNvPr id="34" name="Text 32"/>
          <p:cNvSpPr txBox="1"/>
          <p:nvPr/>
        </p:nvSpPr>
        <p:spPr>
          <a:xfrm>
            <a:off x="3833622" y="2564892"/>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Data profiling</a:t>
            </a:r>
            <a:endParaRPr lang="en-US" sz="1200" dirty="0"/>
          </a:p>
        </p:txBody>
      </p:sp>
      <p:sp>
        <p:nvSpPr>
          <p:cNvPr id="35" name="Text 33"/>
          <p:cNvSpPr txBox="1"/>
          <p:nvPr/>
        </p:nvSpPr>
        <p:spPr>
          <a:xfrm>
            <a:off x="3486150" y="2926080"/>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Four phases, required signals per source</a:t>
            </a:r>
            <a:endParaRPr lang="en-US" sz="950" dirty="0"/>
          </a:p>
        </p:txBody>
      </p:sp>
      <p:sp>
        <p:nvSpPr>
          <p:cNvPr id="36" name="Shape 34"/>
          <p:cNvSpPr/>
          <p:nvPr/>
        </p:nvSpPr>
        <p:spPr>
          <a:xfrm>
            <a:off x="6176772" y="2423160"/>
            <a:ext cx="2672334" cy="1051560"/>
          </a:xfrm>
          <a:prstGeom prst="roundRect">
            <a:avLst>
              <a:gd name="adj" fmla="val 5217"/>
            </a:avLst>
          </a:prstGeom>
          <a:solidFill>
            <a:srgbClr val="F2F5F9"/>
          </a:solidFill>
          <a:ln w="9525">
            <a:solidFill>
              <a:srgbClr val="D2DDE9"/>
            </a:solidFill>
            <a:prstDash val="solid"/>
          </a:ln>
        </p:spPr>
      </p:sp>
      <p:sp>
        <p:nvSpPr>
          <p:cNvPr id="37" name="Shape 35"/>
          <p:cNvSpPr/>
          <p:nvPr/>
        </p:nvSpPr>
        <p:spPr>
          <a:xfrm>
            <a:off x="6323076" y="2560320"/>
            <a:ext cx="274320" cy="274320"/>
          </a:xfrm>
          <a:prstGeom prst="roundRect">
            <a:avLst>
              <a:gd name="adj" fmla="val 16667"/>
            </a:avLst>
          </a:prstGeom>
          <a:solidFill>
            <a:srgbClr val="E8552D"/>
          </a:solidFill>
          <a:ln/>
        </p:spPr>
      </p:sp>
      <p:sp>
        <p:nvSpPr>
          <p:cNvPr id="38" name="Text 36"/>
          <p:cNvSpPr txBox="1"/>
          <p:nvPr/>
        </p:nvSpPr>
        <p:spPr>
          <a:xfrm>
            <a:off x="6323076" y="256032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07</a:t>
            </a:r>
            <a:endParaRPr lang="en-US" sz="1050" dirty="0"/>
          </a:p>
        </p:txBody>
      </p:sp>
      <p:sp>
        <p:nvSpPr>
          <p:cNvPr id="39" name="Text 37"/>
          <p:cNvSpPr txBox="1"/>
          <p:nvPr/>
        </p:nvSpPr>
        <p:spPr>
          <a:xfrm>
            <a:off x="6670548" y="2564892"/>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Knowledge store</a:t>
            </a:r>
            <a:endParaRPr lang="en-US" sz="1200" dirty="0"/>
          </a:p>
        </p:txBody>
      </p:sp>
      <p:sp>
        <p:nvSpPr>
          <p:cNvPr id="40" name="Text 38"/>
          <p:cNvSpPr txBox="1"/>
          <p:nvPr/>
        </p:nvSpPr>
        <p:spPr>
          <a:xfrm>
            <a:off x="6323076" y="2926080"/>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Metadata, hiding, prompt matching, mining</a:t>
            </a:r>
            <a:endParaRPr lang="en-US" sz="950" dirty="0"/>
          </a:p>
        </p:txBody>
      </p:sp>
      <p:sp>
        <p:nvSpPr>
          <p:cNvPr id="41" name="Shape 39"/>
          <p:cNvSpPr/>
          <p:nvPr/>
        </p:nvSpPr>
        <p:spPr>
          <a:xfrm>
            <a:off x="9013698" y="2423160"/>
            <a:ext cx="2672334" cy="1051560"/>
          </a:xfrm>
          <a:prstGeom prst="roundRect">
            <a:avLst>
              <a:gd name="adj" fmla="val 5217"/>
            </a:avLst>
          </a:prstGeom>
          <a:solidFill>
            <a:srgbClr val="F2F5F9"/>
          </a:solidFill>
          <a:ln w="9525">
            <a:solidFill>
              <a:srgbClr val="D2DDE9"/>
            </a:solidFill>
            <a:prstDash val="solid"/>
          </a:ln>
        </p:spPr>
      </p:sp>
      <p:sp>
        <p:nvSpPr>
          <p:cNvPr id="42" name="Shape 40"/>
          <p:cNvSpPr/>
          <p:nvPr/>
        </p:nvSpPr>
        <p:spPr>
          <a:xfrm>
            <a:off x="9160002" y="2560320"/>
            <a:ext cx="274320" cy="274320"/>
          </a:xfrm>
          <a:prstGeom prst="roundRect">
            <a:avLst>
              <a:gd name="adj" fmla="val 16667"/>
            </a:avLst>
          </a:prstGeom>
          <a:solidFill>
            <a:srgbClr val="E8552D"/>
          </a:solidFill>
          <a:ln/>
        </p:spPr>
      </p:sp>
      <p:sp>
        <p:nvSpPr>
          <p:cNvPr id="43" name="Text 41"/>
          <p:cNvSpPr txBox="1"/>
          <p:nvPr/>
        </p:nvSpPr>
        <p:spPr>
          <a:xfrm>
            <a:off x="9160002" y="256032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08</a:t>
            </a:r>
            <a:endParaRPr lang="en-US" sz="1050" dirty="0"/>
          </a:p>
        </p:txBody>
      </p:sp>
      <p:sp>
        <p:nvSpPr>
          <p:cNvPr id="44" name="Text 42"/>
          <p:cNvSpPr txBox="1"/>
          <p:nvPr/>
        </p:nvSpPr>
        <p:spPr>
          <a:xfrm>
            <a:off x="9507474" y="2564892"/>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Writing surfaces well</a:t>
            </a:r>
            <a:endParaRPr lang="en-US" sz="1200" dirty="0"/>
          </a:p>
        </p:txBody>
      </p:sp>
      <p:sp>
        <p:nvSpPr>
          <p:cNvPr id="45" name="Text 43"/>
          <p:cNvSpPr txBox="1"/>
          <p:nvPr/>
        </p:nvSpPr>
        <p:spPr>
          <a:xfrm>
            <a:off x="9160002" y="2926080"/>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Expressions, examples, joins, instructions</a:t>
            </a:r>
            <a:endParaRPr lang="en-US" sz="950" dirty="0"/>
          </a:p>
        </p:txBody>
      </p:sp>
      <p:sp>
        <p:nvSpPr>
          <p:cNvPr id="46" name="Shape 44"/>
          <p:cNvSpPr/>
          <p:nvPr/>
        </p:nvSpPr>
        <p:spPr>
          <a:xfrm>
            <a:off x="502920" y="3639312"/>
            <a:ext cx="2672334" cy="1051560"/>
          </a:xfrm>
          <a:prstGeom prst="roundRect">
            <a:avLst>
              <a:gd name="adj" fmla="val 5217"/>
            </a:avLst>
          </a:prstGeom>
          <a:solidFill>
            <a:srgbClr val="F2F5F9"/>
          </a:solidFill>
          <a:ln w="9525">
            <a:solidFill>
              <a:srgbClr val="D2DDE9"/>
            </a:solidFill>
            <a:prstDash val="solid"/>
          </a:ln>
        </p:spPr>
      </p:sp>
      <p:sp>
        <p:nvSpPr>
          <p:cNvPr id="47" name="Shape 45"/>
          <p:cNvSpPr/>
          <p:nvPr/>
        </p:nvSpPr>
        <p:spPr>
          <a:xfrm>
            <a:off x="649224" y="3776472"/>
            <a:ext cx="274320" cy="274320"/>
          </a:xfrm>
          <a:prstGeom prst="roundRect">
            <a:avLst>
              <a:gd name="adj" fmla="val 16667"/>
            </a:avLst>
          </a:prstGeom>
          <a:solidFill>
            <a:srgbClr val="E8552D"/>
          </a:solidFill>
          <a:ln/>
        </p:spPr>
      </p:sp>
      <p:sp>
        <p:nvSpPr>
          <p:cNvPr id="48" name="Text 46"/>
          <p:cNvSpPr txBox="1"/>
          <p:nvPr/>
        </p:nvSpPr>
        <p:spPr>
          <a:xfrm>
            <a:off x="649224" y="37764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09</a:t>
            </a:r>
            <a:endParaRPr lang="en-US" sz="1050" dirty="0"/>
          </a:p>
        </p:txBody>
      </p:sp>
      <p:sp>
        <p:nvSpPr>
          <p:cNvPr id="49" name="Text 47"/>
          <p:cNvSpPr txBox="1"/>
          <p:nvPr/>
        </p:nvSpPr>
        <p:spPr>
          <a:xfrm>
            <a:off x="996696" y="3781044"/>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Metric Views</a:t>
            </a:r>
            <a:endParaRPr lang="en-US" sz="1200" dirty="0"/>
          </a:p>
        </p:txBody>
      </p:sp>
      <p:sp>
        <p:nvSpPr>
          <p:cNvPr id="50" name="Text 48"/>
          <p:cNvSpPr txBox="1"/>
          <p:nvPr/>
        </p:nvSpPr>
        <p:spPr>
          <a:xfrm>
            <a:off x="649224" y="4142232"/>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Governed semantics as the preferred source</a:t>
            </a:r>
            <a:endParaRPr lang="en-US" sz="950" dirty="0"/>
          </a:p>
        </p:txBody>
      </p:sp>
      <p:sp>
        <p:nvSpPr>
          <p:cNvPr id="51" name="Shape 49"/>
          <p:cNvSpPr/>
          <p:nvPr/>
        </p:nvSpPr>
        <p:spPr>
          <a:xfrm>
            <a:off x="3339846" y="3639312"/>
            <a:ext cx="2672334" cy="1051560"/>
          </a:xfrm>
          <a:prstGeom prst="roundRect">
            <a:avLst>
              <a:gd name="adj" fmla="val 5217"/>
            </a:avLst>
          </a:prstGeom>
          <a:solidFill>
            <a:srgbClr val="F2F5F9"/>
          </a:solidFill>
          <a:ln w="9525">
            <a:solidFill>
              <a:srgbClr val="D2DDE9"/>
            </a:solidFill>
            <a:prstDash val="solid"/>
          </a:ln>
        </p:spPr>
      </p:sp>
      <p:sp>
        <p:nvSpPr>
          <p:cNvPr id="52" name="Shape 50"/>
          <p:cNvSpPr/>
          <p:nvPr/>
        </p:nvSpPr>
        <p:spPr>
          <a:xfrm>
            <a:off x="3486150" y="3776472"/>
            <a:ext cx="274320" cy="274320"/>
          </a:xfrm>
          <a:prstGeom prst="roundRect">
            <a:avLst>
              <a:gd name="adj" fmla="val 16667"/>
            </a:avLst>
          </a:prstGeom>
          <a:solidFill>
            <a:srgbClr val="E8552D"/>
          </a:solidFill>
          <a:ln/>
        </p:spPr>
      </p:sp>
      <p:sp>
        <p:nvSpPr>
          <p:cNvPr id="53" name="Text 51"/>
          <p:cNvSpPr txBox="1"/>
          <p:nvPr/>
        </p:nvSpPr>
        <p:spPr>
          <a:xfrm>
            <a:off x="3486150" y="37764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a:t>
            </a:r>
            <a:endParaRPr lang="en-US" sz="1050" dirty="0"/>
          </a:p>
        </p:txBody>
      </p:sp>
      <p:sp>
        <p:nvSpPr>
          <p:cNvPr id="54" name="Text 52"/>
          <p:cNvSpPr txBox="1"/>
          <p:nvPr/>
        </p:nvSpPr>
        <p:spPr>
          <a:xfrm>
            <a:off x="3833622" y="3781044"/>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Testing &amp; benchmarks</a:t>
            </a:r>
            <a:endParaRPr lang="en-US" sz="1200" dirty="0"/>
          </a:p>
        </p:txBody>
      </p:sp>
      <p:sp>
        <p:nvSpPr>
          <p:cNvPr id="55" name="Text 53"/>
          <p:cNvSpPr txBox="1"/>
          <p:nvPr/>
        </p:nvSpPr>
        <p:spPr>
          <a:xfrm>
            <a:off x="3486150" y="4142232"/>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Feedback, execution modes, rating rules</a:t>
            </a:r>
            <a:endParaRPr lang="en-US" sz="950" dirty="0"/>
          </a:p>
        </p:txBody>
      </p:sp>
      <p:sp>
        <p:nvSpPr>
          <p:cNvPr id="56" name="Shape 54"/>
          <p:cNvSpPr/>
          <p:nvPr/>
        </p:nvSpPr>
        <p:spPr>
          <a:xfrm>
            <a:off x="6176772" y="3639312"/>
            <a:ext cx="2672334" cy="1051560"/>
          </a:xfrm>
          <a:prstGeom prst="roundRect">
            <a:avLst>
              <a:gd name="adj" fmla="val 5217"/>
            </a:avLst>
          </a:prstGeom>
          <a:solidFill>
            <a:srgbClr val="F2F5F9"/>
          </a:solidFill>
          <a:ln w="9525">
            <a:solidFill>
              <a:srgbClr val="D2DDE9"/>
            </a:solidFill>
            <a:prstDash val="solid"/>
          </a:ln>
        </p:spPr>
      </p:sp>
      <p:sp>
        <p:nvSpPr>
          <p:cNvPr id="57" name="Shape 55"/>
          <p:cNvSpPr/>
          <p:nvPr/>
        </p:nvSpPr>
        <p:spPr>
          <a:xfrm>
            <a:off x="6323076" y="3776472"/>
            <a:ext cx="274320" cy="274320"/>
          </a:xfrm>
          <a:prstGeom prst="roundRect">
            <a:avLst>
              <a:gd name="adj" fmla="val 16667"/>
            </a:avLst>
          </a:prstGeom>
          <a:solidFill>
            <a:srgbClr val="E8552D"/>
          </a:solidFill>
          <a:ln/>
        </p:spPr>
      </p:sp>
      <p:sp>
        <p:nvSpPr>
          <p:cNvPr id="58" name="Text 56"/>
          <p:cNvSpPr txBox="1"/>
          <p:nvPr/>
        </p:nvSpPr>
        <p:spPr>
          <a:xfrm>
            <a:off x="6323076" y="37764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11</a:t>
            </a:r>
            <a:endParaRPr lang="en-US" sz="1050" dirty="0"/>
          </a:p>
        </p:txBody>
      </p:sp>
      <p:sp>
        <p:nvSpPr>
          <p:cNvPr id="59" name="Text 57"/>
          <p:cNvSpPr txBox="1"/>
          <p:nvPr/>
        </p:nvSpPr>
        <p:spPr>
          <a:xfrm>
            <a:off x="6670548" y="3781044"/>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Deploy &amp; operate</a:t>
            </a:r>
            <a:endParaRPr lang="en-US" sz="1200" dirty="0"/>
          </a:p>
        </p:txBody>
      </p:sp>
      <p:sp>
        <p:nvSpPr>
          <p:cNvPr id="60" name="Text 58"/>
          <p:cNvSpPr txBox="1"/>
          <p:nvPr/>
        </p:nvSpPr>
        <p:spPr>
          <a:xfrm>
            <a:off x="6323076" y="4142232"/>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Bundles, serialized_space, CLI, API</a:t>
            </a:r>
            <a:endParaRPr lang="en-US" sz="950" dirty="0"/>
          </a:p>
        </p:txBody>
      </p:sp>
      <p:sp>
        <p:nvSpPr>
          <p:cNvPr id="61" name="Shape 59"/>
          <p:cNvSpPr/>
          <p:nvPr/>
        </p:nvSpPr>
        <p:spPr>
          <a:xfrm>
            <a:off x="9013698" y="3639312"/>
            <a:ext cx="2672334" cy="1051560"/>
          </a:xfrm>
          <a:prstGeom prst="roundRect">
            <a:avLst>
              <a:gd name="adj" fmla="val 5217"/>
            </a:avLst>
          </a:prstGeom>
          <a:solidFill>
            <a:srgbClr val="F2F5F9"/>
          </a:solidFill>
          <a:ln w="9525">
            <a:solidFill>
              <a:srgbClr val="D2DDE9"/>
            </a:solidFill>
            <a:prstDash val="solid"/>
          </a:ln>
        </p:spPr>
      </p:sp>
      <p:sp>
        <p:nvSpPr>
          <p:cNvPr id="62" name="Shape 60"/>
          <p:cNvSpPr/>
          <p:nvPr/>
        </p:nvSpPr>
        <p:spPr>
          <a:xfrm>
            <a:off x="9160002" y="3776472"/>
            <a:ext cx="274320" cy="274320"/>
          </a:xfrm>
          <a:prstGeom prst="roundRect">
            <a:avLst>
              <a:gd name="adj" fmla="val 16667"/>
            </a:avLst>
          </a:prstGeom>
          <a:solidFill>
            <a:srgbClr val="E8552D"/>
          </a:solidFill>
          <a:ln/>
        </p:spPr>
      </p:sp>
      <p:sp>
        <p:nvSpPr>
          <p:cNvPr id="63" name="Text 61"/>
          <p:cNvSpPr txBox="1"/>
          <p:nvPr/>
        </p:nvSpPr>
        <p:spPr>
          <a:xfrm>
            <a:off x="9160002" y="37764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12</a:t>
            </a:r>
            <a:endParaRPr lang="en-US" sz="1050" dirty="0"/>
          </a:p>
        </p:txBody>
      </p:sp>
      <p:sp>
        <p:nvSpPr>
          <p:cNvPr id="64" name="Text 62"/>
          <p:cNvSpPr txBox="1"/>
          <p:nvPr/>
        </p:nvSpPr>
        <p:spPr>
          <a:xfrm>
            <a:off x="9507474" y="3781044"/>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Troubleshooting</a:t>
            </a:r>
            <a:endParaRPr lang="en-US" sz="1200" dirty="0"/>
          </a:p>
        </p:txBody>
      </p:sp>
      <p:sp>
        <p:nvSpPr>
          <p:cNvPr id="65" name="Text 63"/>
          <p:cNvSpPr txBox="1"/>
          <p:nvPr/>
        </p:nvSpPr>
        <p:spPr>
          <a:xfrm>
            <a:off x="9160002" y="4142232"/>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Symptom playbook, tokens, anti-patterns</a:t>
            </a:r>
            <a:endParaRPr lang="en-US" sz="950" dirty="0"/>
          </a:p>
        </p:txBody>
      </p:sp>
      <p:sp>
        <p:nvSpPr>
          <p:cNvPr id="66" name="Shape 64"/>
          <p:cNvSpPr/>
          <p:nvPr/>
        </p:nvSpPr>
        <p:spPr>
          <a:xfrm>
            <a:off x="502920" y="4855464"/>
            <a:ext cx="2672334" cy="1051560"/>
          </a:xfrm>
          <a:prstGeom prst="roundRect">
            <a:avLst>
              <a:gd name="adj" fmla="val 5217"/>
            </a:avLst>
          </a:prstGeom>
          <a:solidFill>
            <a:srgbClr val="F2F5F9"/>
          </a:solidFill>
          <a:ln w="9525">
            <a:solidFill>
              <a:srgbClr val="D2DDE9"/>
            </a:solidFill>
            <a:prstDash val="solid"/>
          </a:ln>
        </p:spPr>
      </p:sp>
      <p:sp>
        <p:nvSpPr>
          <p:cNvPr id="67" name="Shape 65"/>
          <p:cNvSpPr/>
          <p:nvPr/>
        </p:nvSpPr>
        <p:spPr>
          <a:xfrm>
            <a:off x="649224" y="4992624"/>
            <a:ext cx="274320" cy="274320"/>
          </a:xfrm>
          <a:prstGeom prst="roundRect">
            <a:avLst>
              <a:gd name="adj" fmla="val 16667"/>
            </a:avLst>
          </a:prstGeom>
          <a:solidFill>
            <a:srgbClr val="E8552D"/>
          </a:solidFill>
          <a:ln/>
        </p:spPr>
      </p:sp>
      <p:sp>
        <p:nvSpPr>
          <p:cNvPr id="68" name="Text 66"/>
          <p:cNvSpPr txBox="1"/>
          <p:nvPr/>
        </p:nvSpPr>
        <p:spPr>
          <a:xfrm>
            <a:off x="649224" y="499262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13</a:t>
            </a:r>
            <a:endParaRPr lang="en-US" sz="1050" dirty="0"/>
          </a:p>
        </p:txBody>
      </p:sp>
      <p:sp>
        <p:nvSpPr>
          <p:cNvPr id="69" name="Text 67"/>
          <p:cNvSpPr txBox="1"/>
          <p:nvPr/>
        </p:nvSpPr>
        <p:spPr>
          <a:xfrm>
            <a:off x="996696" y="4997196"/>
            <a:ext cx="2032254" cy="274320"/>
          </a:xfrm>
          <a:prstGeom prst="rect">
            <a:avLst/>
          </a:prstGeom>
          <a:noFill/>
          <a:ln/>
        </p:spPr>
        <p:txBody>
          <a:bodyPr wrap="square" lIns="0" tIns="0" rIns="0" bIns="0" rtlCol="0" anchor="ctr"/>
          <a:lstStyle/>
          <a:p>
            <a:pPr indent="0" marL="0">
              <a:buNone/>
            </a:pPr>
            <a:r>
              <a:rPr lang="en-US" sz="1200" b="1" dirty="0">
                <a:solidFill>
                  <a:srgbClr val="0E1B2A"/>
                </a:solidFill>
                <a:latin typeface="Calibri" pitchFamily="34" charset="0"/>
                <a:ea typeface="Calibri" pitchFamily="34" charset="-122"/>
                <a:cs typeface="Calibri" pitchFamily="34" charset="-120"/>
              </a:rPr>
              <a:t>Ship it</a:t>
            </a:r>
            <a:endParaRPr lang="en-US" sz="1200" dirty="0"/>
          </a:p>
        </p:txBody>
      </p:sp>
      <p:sp>
        <p:nvSpPr>
          <p:cNvPr id="70" name="Text 68"/>
          <p:cNvSpPr txBox="1"/>
          <p:nvPr/>
        </p:nvSpPr>
        <p:spPr>
          <a:xfrm>
            <a:off x="649224" y="5358384"/>
            <a:ext cx="2379726" cy="457200"/>
          </a:xfrm>
          <a:prstGeom prst="rect">
            <a:avLst/>
          </a:prstGeom>
          <a:noFill/>
          <a:ln/>
        </p:spPr>
        <p:txBody>
          <a:bodyPr wrap="square" lIns="0" tIns="0" rIns="0" bIns="0" rtlCol="0" anchor="t"/>
          <a:lstStyle/>
          <a:p>
            <a:pPr indent="0" marL="0">
              <a:lnSpc>
                <a:spcPts val="1250"/>
              </a:lnSpc>
              <a:buNone/>
            </a:pPr>
            <a:r>
              <a:rPr lang="en-US" sz="950" dirty="0">
                <a:solidFill>
                  <a:srgbClr val="56677C"/>
                </a:solidFill>
                <a:latin typeface="Calibri" pitchFamily="34" charset="0"/>
                <a:ea typeface="Calibri" pitchFamily="34" charset="-122"/>
                <a:cs typeface="Calibri" pitchFamily="34" charset="-120"/>
              </a:rPr>
              <a:t>Pre-launch checklist and proposal output</a:t>
            </a:r>
            <a:endParaRPr lang="en-US" sz="950" dirty="0"/>
          </a:p>
        </p:txBody>
      </p:sp>
      <p:sp>
        <p:nvSpPr>
          <p:cNvPr id="71" name="Shape 69"/>
          <p:cNvSpPr/>
          <p:nvPr/>
        </p:nvSpPr>
        <p:spPr>
          <a:xfrm>
            <a:off x="3339846" y="4855464"/>
            <a:ext cx="8346186" cy="1051560"/>
          </a:xfrm>
          <a:prstGeom prst="roundRect">
            <a:avLst>
              <a:gd name="adj" fmla="val 5217"/>
            </a:avLst>
          </a:prstGeom>
          <a:solidFill>
            <a:srgbClr val="0E1B2A"/>
          </a:solidFill>
          <a:ln w="9525">
            <a:solidFill>
              <a:srgbClr val="0E1B2A"/>
            </a:solidFill>
            <a:prstDash val="solid"/>
          </a:ln>
        </p:spPr>
      </p:sp>
      <p:sp>
        <p:nvSpPr>
          <p:cNvPr id="72" name="Text 70"/>
          <p:cNvSpPr txBox="1"/>
          <p:nvPr/>
        </p:nvSpPr>
        <p:spPr>
          <a:xfrm>
            <a:off x="3522726" y="4992624"/>
            <a:ext cx="7315200" cy="274320"/>
          </a:xfrm>
          <a:prstGeom prst="rect">
            <a:avLst/>
          </a:prstGeom>
          <a:noFill/>
          <a:ln/>
        </p:spPr>
        <p:txBody>
          <a:bodyPr wrap="square" lIns="0" tIns="0" rIns="0" bIns="0" rtlCol="0" anchor="t"/>
          <a:lstStyle/>
          <a:p>
            <a:pPr indent="0" marL="0">
              <a:buNone/>
            </a:pPr>
            <a:r>
              <a:rPr lang="en-US" sz="1200" b="1" dirty="0">
                <a:solidFill>
                  <a:srgbClr val="F0A34A"/>
                </a:solidFill>
                <a:latin typeface="Calibri" pitchFamily="34" charset="0"/>
                <a:ea typeface="Calibri" pitchFamily="34" charset="-122"/>
                <a:cs typeface="Calibri" pitchFamily="34" charset="-120"/>
              </a:rPr>
              <a:t>How to read this deck</a:t>
            </a:r>
            <a:endParaRPr lang="en-US" sz="1200" dirty="0"/>
          </a:p>
        </p:txBody>
      </p:sp>
      <p:sp>
        <p:nvSpPr>
          <p:cNvPr id="73" name="Text 71"/>
          <p:cNvSpPr txBox="1"/>
          <p:nvPr/>
        </p:nvSpPr>
        <p:spPr>
          <a:xfrm>
            <a:off x="3522726" y="5312664"/>
            <a:ext cx="7980426" cy="502920"/>
          </a:xfrm>
          <a:prstGeom prst="rect">
            <a:avLst/>
          </a:prstGeom>
          <a:noFill/>
          <a:ln/>
        </p:spPr>
        <p:txBody>
          <a:bodyPr wrap="square" lIns="0" tIns="0" rIns="0" bIns="0" rtlCol="0" anchor="t"/>
          <a:lstStyle/>
          <a:p>
            <a:pPr indent="0" marL="0">
              <a:lnSpc>
                <a:spcPts val="1250"/>
              </a:lnSpc>
              <a:buNone/>
            </a:pPr>
            <a:r>
              <a:rPr lang="en-US" sz="950" dirty="0">
                <a:solidFill>
                  <a:srgbClr val="B7C7D8"/>
                </a:solidFill>
                <a:latin typeface="Calibri" pitchFamily="34" charset="0"/>
                <a:ea typeface="Calibri" pitchFamily="34" charset="-122"/>
                <a:cs typeface="Calibri" pitchFamily="34" charset="-120"/>
              </a:rPr>
              <a:t>Every rule carries its source tag. [OFF-n] is an official Databricks documentation page; [GH-1] is the create-genie-agent reference in the databricks-agent-skills repository. Where the two disagree, the deck says so rather than picking silently.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01</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What a Genie Agent actually is, what it needs from a curator, and the four principles every later rule reduces to.</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Genie as a new analyst</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Long-term collaboration, not a deployment</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Non-determinism and why examples fix it</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four guiding principles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Vague vs. specific, side by side</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1.1 CORE MENTAL MODEL</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Treat Genie as a new data analyst, not a search box</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5</a:t>
            </a:r>
            <a:endParaRPr lang="en-US" sz="800" dirty="0"/>
          </a:p>
        </p:txBody>
      </p:sp>
      <p:sp>
        <p:nvSpPr>
          <p:cNvPr id="6" name="Shape 4"/>
          <p:cNvSpPr/>
          <p:nvPr/>
        </p:nvSpPr>
        <p:spPr>
          <a:xfrm>
            <a:off x="502920" y="1207008"/>
            <a:ext cx="4663440" cy="2377440"/>
          </a:xfrm>
          <a:prstGeom prst="roundRect">
            <a:avLst>
              <a:gd name="adj" fmla="val 2308"/>
            </a:avLst>
          </a:prstGeom>
          <a:solidFill>
            <a:srgbClr val="0E1B2A"/>
          </a:solidFill>
          <a:ln w="9525">
            <a:solidFill>
              <a:srgbClr val="0E1B2A"/>
            </a:solidFill>
            <a:prstDash val="solid"/>
          </a:ln>
        </p:spPr>
      </p:sp>
      <p:sp>
        <p:nvSpPr>
          <p:cNvPr id="7" name="Text 5"/>
          <p:cNvSpPr txBox="1"/>
          <p:nvPr/>
        </p:nvSpPr>
        <p:spPr>
          <a:xfrm>
            <a:off x="731520" y="1389888"/>
            <a:ext cx="4206240" cy="822960"/>
          </a:xfrm>
          <a:prstGeom prst="rect">
            <a:avLst/>
          </a:prstGeom>
          <a:noFill/>
          <a:ln/>
        </p:spPr>
        <p:txBody>
          <a:bodyPr wrap="square" lIns="0" tIns="0" rIns="0" bIns="0" rtlCol="0" anchor="t"/>
          <a:lstStyle/>
          <a:p>
            <a:pPr indent="0" marL="0">
              <a:lnSpc>
                <a:spcPts val="2400"/>
              </a:lnSpc>
              <a:buNone/>
            </a:pPr>
            <a:r>
              <a:rPr lang="en-US" sz="1800" b="1" dirty="0">
                <a:solidFill>
                  <a:srgbClr val="FFFFFF"/>
                </a:solidFill>
                <a:latin typeface="Cambria" pitchFamily="34" charset="0"/>
                <a:ea typeface="Cambria" pitchFamily="34" charset="-122"/>
                <a:cs typeface="Cambria" pitchFamily="34" charset="-120"/>
              </a:rPr>
              <a:t>“Think of Genie as a new data analyst joining your company.”</a:t>
            </a:r>
            <a:endParaRPr lang="en-US" sz="1800" dirty="0"/>
          </a:p>
        </p:txBody>
      </p:sp>
      <p:sp>
        <p:nvSpPr>
          <p:cNvPr id="8" name="Text 6"/>
          <p:cNvSpPr txBox="1"/>
          <p:nvPr/>
        </p:nvSpPr>
        <p:spPr>
          <a:xfrm>
            <a:off x="731520" y="2286000"/>
            <a:ext cx="4206240" cy="914400"/>
          </a:xfrm>
          <a:prstGeom prst="rect">
            <a:avLst/>
          </a:prstGeom>
          <a:noFill/>
          <a:ln/>
        </p:spPr>
        <p:txBody>
          <a:bodyPr wrap="square" lIns="0" tIns="0" rIns="0" bIns="0" rtlCol="0" anchor="t"/>
          <a:lstStyle/>
          <a:p>
            <a:pPr indent="0" marL="0">
              <a:lnSpc>
                <a:spcPts val="1400"/>
              </a:lnSpc>
              <a:buNone/>
            </a:pPr>
            <a:r>
              <a:rPr lang="en-US" sz="1050" dirty="0">
                <a:solidFill>
                  <a:srgbClr val="B7C7D8"/>
                </a:solidFill>
                <a:latin typeface="Calibri" pitchFamily="34" charset="0"/>
                <a:ea typeface="Calibri" pitchFamily="34" charset="-122"/>
                <a:cs typeface="Calibri" pitchFamily="34" charset="-120"/>
              </a:rPr>
              <a:t>Like any new team member, Genie needs clear context to be effective. The curator's job is to bridge the gap between Genie's general world knowledge and the specialised language used in your domain or company.</a:t>
            </a:r>
            <a:endParaRPr lang="en-US" sz="1050" dirty="0"/>
          </a:p>
        </p:txBody>
      </p:sp>
      <p:sp>
        <p:nvSpPr>
          <p:cNvPr id="9" name="Text 7"/>
          <p:cNvSpPr txBox="1"/>
          <p:nvPr/>
        </p:nvSpPr>
        <p:spPr>
          <a:xfrm>
            <a:off x="731520" y="3127248"/>
            <a:ext cx="4206240" cy="182880"/>
          </a:xfrm>
          <a:prstGeom prst="rect">
            <a:avLst/>
          </a:prstGeom>
          <a:noFill/>
          <a:ln/>
        </p:spPr>
        <p:txBody>
          <a:bodyPr wrap="square" lIns="0" tIns="0" rIns="0" bIns="0" rtlCol="0" anchor="t"/>
          <a:lstStyle/>
          <a:p>
            <a:pPr indent="0" marL="0">
              <a:buNone/>
            </a:pPr>
            <a:r>
              <a:rPr lang="en-US" sz="800" dirty="0">
                <a:solidFill>
                  <a:srgbClr val="F0A34A"/>
                </a:solidFill>
                <a:latin typeface="Calibri" pitchFamily="34" charset="0"/>
                <a:ea typeface="Calibri" pitchFamily="34" charset="-122"/>
                <a:cs typeface="Calibri" pitchFamily="34" charset="-120"/>
              </a:rPr>
              <a:t>[OFF-1]</a:t>
            </a:r>
            <a:endParaRPr lang="en-US" sz="800" dirty="0"/>
          </a:p>
        </p:txBody>
      </p:sp>
      <p:sp>
        <p:nvSpPr>
          <p:cNvPr id="10" name="Shape 8"/>
          <p:cNvSpPr/>
          <p:nvPr/>
        </p:nvSpPr>
        <p:spPr>
          <a:xfrm>
            <a:off x="5440680" y="1207008"/>
            <a:ext cx="3040380" cy="1106424"/>
          </a:xfrm>
          <a:prstGeom prst="roundRect">
            <a:avLst>
              <a:gd name="adj" fmla="val 4959"/>
            </a:avLst>
          </a:prstGeom>
          <a:solidFill>
            <a:srgbClr val="F2F5F9"/>
          </a:solidFill>
          <a:ln w="9525">
            <a:solidFill>
              <a:srgbClr val="D2DDE9"/>
            </a:solidFill>
            <a:prstDash val="solid"/>
          </a:ln>
        </p:spPr>
      </p:sp>
      <p:sp>
        <p:nvSpPr>
          <p:cNvPr id="11" name="Text 9"/>
          <p:cNvSpPr txBox="1"/>
          <p:nvPr/>
        </p:nvSpPr>
        <p:spPr>
          <a:xfrm>
            <a:off x="5586984" y="1325880"/>
            <a:ext cx="274777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Table &amp; column descriptions</a:t>
            </a:r>
            <a:endParaRPr lang="en-US" sz="1150" dirty="0"/>
          </a:p>
        </p:txBody>
      </p:sp>
      <p:sp>
        <p:nvSpPr>
          <p:cNvPr id="12" name="Text 10"/>
          <p:cNvSpPr txBox="1"/>
          <p:nvPr/>
        </p:nvSpPr>
        <p:spPr>
          <a:xfrm>
            <a:off x="5586984" y="1664208"/>
            <a:ext cx="2747772" cy="530352"/>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So Genie understands what the data represents. Quality descriptions in Unity Catalog are critical for accuracy.</a:t>
            </a:r>
            <a:endParaRPr lang="en-US" sz="1000" dirty="0"/>
          </a:p>
        </p:txBody>
      </p:sp>
      <p:sp>
        <p:nvSpPr>
          <p:cNvPr id="13" name="Shape 11"/>
          <p:cNvSpPr/>
          <p:nvPr/>
        </p:nvSpPr>
        <p:spPr>
          <a:xfrm>
            <a:off x="8645652" y="1207008"/>
            <a:ext cx="3040380" cy="1106424"/>
          </a:xfrm>
          <a:prstGeom prst="roundRect">
            <a:avLst>
              <a:gd name="adj" fmla="val 4959"/>
            </a:avLst>
          </a:prstGeom>
          <a:solidFill>
            <a:srgbClr val="F2F5F9"/>
          </a:solidFill>
          <a:ln w="9525">
            <a:solidFill>
              <a:srgbClr val="D2DDE9"/>
            </a:solidFill>
            <a:prstDash val="solid"/>
          </a:ln>
        </p:spPr>
      </p:sp>
      <p:sp>
        <p:nvSpPr>
          <p:cNvPr id="14" name="Text 12"/>
          <p:cNvSpPr txBox="1"/>
          <p:nvPr/>
        </p:nvSpPr>
        <p:spPr>
          <a:xfrm>
            <a:off x="8791956" y="1325880"/>
            <a:ext cx="274777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Example SQL queries</a:t>
            </a:r>
            <a:endParaRPr lang="en-US" sz="1150" dirty="0"/>
          </a:p>
        </p:txBody>
      </p:sp>
      <p:sp>
        <p:nvSpPr>
          <p:cNvPr id="15" name="Text 13"/>
          <p:cNvSpPr txBox="1"/>
          <p:nvPr/>
        </p:nvSpPr>
        <p:spPr>
          <a:xfrm>
            <a:off x="8791956" y="1664208"/>
            <a:ext cx="2747772" cy="530352"/>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So Genie learns how your organisation solves its common problems, in your own query shapes.</a:t>
            </a:r>
            <a:endParaRPr lang="en-US" sz="1000" dirty="0"/>
          </a:p>
        </p:txBody>
      </p:sp>
      <p:sp>
        <p:nvSpPr>
          <p:cNvPr id="16" name="Shape 14"/>
          <p:cNvSpPr/>
          <p:nvPr/>
        </p:nvSpPr>
        <p:spPr>
          <a:xfrm>
            <a:off x="5440680" y="2478024"/>
            <a:ext cx="3040380" cy="1106424"/>
          </a:xfrm>
          <a:prstGeom prst="roundRect">
            <a:avLst>
              <a:gd name="adj" fmla="val 4959"/>
            </a:avLst>
          </a:prstGeom>
          <a:solidFill>
            <a:srgbClr val="F2F5F9"/>
          </a:solidFill>
          <a:ln w="9525">
            <a:solidFill>
              <a:srgbClr val="D2DDE9"/>
            </a:solidFill>
            <a:prstDash val="solid"/>
          </a:ln>
        </p:spPr>
      </p:sp>
      <p:sp>
        <p:nvSpPr>
          <p:cNvPr id="17" name="Text 15"/>
          <p:cNvSpPr txBox="1"/>
          <p:nvPr/>
        </p:nvSpPr>
        <p:spPr>
          <a:xfrm>
            <a:off x="5586984" y="2596896"/>
            <a:ext cx="274777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SQL expressions</a:t>
            </a:r>
            <a:endParaRPr lang="en-US" sz="1150" dirty="0"/>
          </a:p>
        </p:txBody>
      </p:sp>
      <p:sp>
        <p:nvSpPr>
          <p:cNvPr id="18" name="Text 16"/>
          <p:cNvSpPr txBox="1"/>
          <p:nvPr/>
        </p:nvSpPr>
        <p:spPr>
          <a:xfrm>
            <a:off x="5586984" y="2935224"/>
            <a:ext cx="2747772" cy="530352"/>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So business terminology — revenue, win rate, deal size — is applied exactly as written.</a:t>
            </a:r>
            <a:endParaRPr lang="en-US" sz="1000" dirty="0"/>
          </a:p>
        </p:txBody>
      </p:sp>
      <p:sp>
        <p:nvSpPr>
          <p:cNvPr id="19" name="Shape 17"/>
          <p:cNvSpPr/>
          <p:nvPr/>
        </p:nvSpPr>
        <p:spPr>
          <a:xfrm>
            <a:off x="8645652" y="2478024"/>
            <a:ext cx="3040380" cy="1106424"/>
          </a:xfrm>
          <a:prstGeom prst="roundRect">
            <a:avLst>
              <a:gd name="adj" fmla="val 4959"/>
            </a:avLst>
          </a:prstGeom>
          <a:solidFill>
            <a:srgbClr val="F2F5F9"/>
          </a:solidFill>
          <a:ln w="9525">
            <a:solidFill>
              <a:srgbClr val="D2DDE9"/>
            </a:solidFill>
            <a:prstDash val="solid"/>
          </a:ln>
        </p:spPr>
      </p:sp>
      <p:sp>
        <p:nvSpPr>
          <p:cNvPr id="20" name="Text 18"/>
          <p:cNvSpPr txBox="1"/>
          <p:nvPr/>
        </p:nvSpPr>
        <p:spPr>
          <a:xfrm>
            <a:off x="8791956" y="2596896"/>
            <a:ext cx="274777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Text instructions</a:t>
            </a:r>
            <a:endParaRPr lang="en-US" sz="1150" dirty="0"/>
          </a:p>
        </p:txBody>
      </p:sp>
      <p:sp>
        <p:nvSpPr>
          <p:cNvPr id="21" name="Text 19"/>
          <p:cNvSpPr txBox="1"/>
          <p:nvPr/>
        </p:nvSpPr>
        <p:spPr>
          <a:xfrm>
            <a:off x="8791956" y="2935224"/>
            <a:ext cx="2747772" cy="530352"/>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Only when the other three methods genuinely do not apply. Last resort, by design.</a:t>
            </a:r>
            <a:endParaRPr lang="en-US" sz="1000" dirty="0"/>
          </a:p>
        </p:txBody>
      </p:sp>
      <p:sp>
        <p:nvSpPr>
          <p:cNvPr id="22" name="Text 20"/>
          <p:cNvSpPr txBox="1"/>
          <p:nvPr/>
        </p:nvSpPr>
        <p:spPr>
          <a:xfrm>
            <a:off x="5440680" y="3675888"/>
            <a:ext cx="6245352" cy="182880"/>
          </a:xfrm>
          <a:prstGeom prst="rect">
            <a:avLst/>
          </a:prstGeom>
          <a:noFill/>
          <a:ln/>
        </p:spPr>
        <p:txBody>
          <a:bodyPr wrap="square" lIns="0" tIns="0" rIns="0" bIns="0" rtlCol="0" anchor="t"/>
          <a:lstStyle/>
          <a:p>
            <a:pPr indent="0" marL="0">
              <a:buNone/>
            </a:pPr>
            <a:r>
              <a:rPr lang="en-US" sz="800" b="1" spc="140" kern="0" dirty="0">
                <a:solidFill>
                  <a:srgbClr val="56677C"/>
                </a:solidFill>
                <a:latin typeface="Calibri" pitchFamily="34" charset="0"/>
                <a:ea typeface="Calibri" pitchFamily="34" charset="-122"/>
                <a:cs typeface="Calibri" pitchFamily="34" charset="-120"/>
              </a:rPr>
              <a:t>WHAT GENIE RELIES ON — IN ORDER OF STRUCTURE  [OFF-1]</a:t>
            </a:r>
            <a:endParaRPr lang="en-US" sz="800" dirty="0"/>
          </a:p>
        </p:txBody>
      </p:sp>
      <p:sp>
        <p:nvSpPr>
          <p:cNvPr id="23" name="Shape 21"/>
          <p:cNvSpPr/>
          <p:nvPr/>
        </p:nvSpPr>
        <p:spPr>
          <a:xfrm>
            <a:off x="502920" y="4041648"/>
            <a:ext cx="3605784" cy="1810512"/>
          </a:xfrm>
          <a:prstGeom prst="roundRect">
            <a:avLst>
              <a:gd name="adj" fmla="val 3030"/>
            </a:avLst>
          </a:prstGeom>
          <a:solidFill>
            <a:srgbClr val="E4ECF4"/>
          </a:solidFill>
          <a:ln w="9525">
            <a:solidFill>
              <a:srgbClr val="D2DDE9"/>
            </a:solidFill>
            <a:prstDash val="solid"/>
          </a:ln>
        </p:spPr>
      </p:sp>
      <p:sp>
        <p:nvSpPr>
          <p:cNvPr id="24" name="Text 22"/>
          <p:cNvSpPr txBox="1"/>
          <p:nvPr/>
        </p:nvSpPr>
        <p:spPr>
          <a:xfrm>
            <a:off x="649224" y="4160520"/>
            <a:ext cx="3313176" cy="292608"/>
          </a:xfrm>
          <a:prstGeom prst="rect">
            <a:avLst/>
          </a:prstGeom>
          <a:noFill/>
          <a:ln/>
        </p:spPr>
        <p:txBody>
          <a:bodyPr wrap="square" lIns="0" tIns="0" rIns="0" bIns="0" rtlCol="0" anchor="t"/>
          <a:lstStyle/>
          <a:p>
            <a:pPr indent="0" marL="0">
              <a:buNone/>
            </a:pPr>
            <a:r>
              <a:rPr lang="en-US" sz="1200" b="1" dirty="0">
                <a:solidFill>
                  <a:srgbClr val="13456E"/>
                </a:solidFill>
                <a:latin typeface="Calibri" pitchFamily="34" charset="0"/>
                <a:ea typeface="Calibri" pitchFamily="34" charset="-122"/>
                <a:cs typeface="Calibri" pitchFamily="34" charset="-120"/>
              </a:rPr>
              <a:t>It accumulates, it is not deployed</a:t>
            </a:r>
            <a:endParaRPr lang="en-US" sz="1200" dirty="0"/>
          </a:p>
        </p:txBody>
      </p:sp>
      <p:sp>
        <p:nvSpPr>
          <p:cNvPr id="25" name="Text 23"/>
          <p:cNvSpPr txBox="1"/>
          <p:nvPr/>
        </p:nvSpPr>
        <p:spPr>
          <a:xfrm>
            <a:off x="649224" y="4498848"/>
            <a:ext cx="3313176" cy="1234440"/>
          </a:xfrm>
          <a:prstGeom prst="rect">
            <a:avLst/>
          </a:prstGeom>
          <a:noFill/>
          <a:ln/>
        </p:spPr>
        <p:txBody>
          <a:bodyPr wrap="square" lIns="0" tIns="0" rIns="0" bIns="0" rtlCol="0" anchor="t"/>
          <a:lstStyle/>
          <a:p>
            <a:pPr indent="0" marL="0">
              <a:lnSpc>
                <a:spcPts val="1450"/>
              </a:lnSpc>
              <a:buNone/>
            </a:pPr>
            <a:r>
              <a:rPr lang="en-US" sz="1050" dirty="0">
                <a:solidFill>
                  <a:srgbClr val="2B3A4C"/>
                </a:solidFill>
                <a:latin typeface="Calibri" pitchFamily="34" charset="0"/>
                <a:ea typeface="Calibri" pitchFamily="34" charset="-122"/>
                <a:cs typeface="Calibri" pitchFamily="34" charset="-120"/>
              </a:rPr>
              <a:t>A Genie Agent is a long-term collaboration tool between data teams and business users. It accumulates knowledge over time rather than serving as a one-time deployment.  [OFF-4]  Budget for curation as an ongoing role, not a project task.</a:t>
            </a:r>
            <a:endParaRPr lang="en-US" sz="1050" dirty="0"/>
          </a:p>
        </p:txBody>
      </p:sp>
      <p:sp>
        <p:nvSpPr>
          <p:cNvPr id="26" name="Shape 24"/>
          <p:cNvSpPr/>
          <p:nvPr/>
        </p:nvSpPr>
        <p:spPr>
          <a:xfrm>
            <a:off x="4291584" y="4041648"/>
            <a:ext cx="3605784" cy="1810512"/>
          </a:xfrm>
          <a:prstGeom prst="roundRect">
            <a:avLst>
              <a:gd name="adj" fmla="val 3030"/>
            </a:avLst>
          </a:prstGeom>
          <a:solidFill>
            <a:srgbClr val="E4ECF4"/>
          </a:solidFill>
          <a:ln w="9525">
            <a:solidFill>
              <a:srgbClr val="D2DDE9"/>
            </a:solidFill>
            <a:prstDash val="solid"/>
          </a:ln>
        </p:spPr>
      </p:sp>
      <p:sp>
        <p:nvSpPr>
          <p:cNvPr id="27" name="Text 25"/>
          <p:cNvSpPr txBox="1"/>
          <p:nvPr/>
        </p:nvSpPr>
        <p:spPr>
          <a:xfrm>
            <a:off x="4437888" y="4160520"/>
            <a:ext cx="3313176" cy="292608"/>
          </a:xfrm>
          <a:prstGeom prst="rect">
            <a:avLst/>
          </a:prstGeom>
          <a:noFill/>
          <a:ln/>
        </p:spPr>
        <p:txBody>
          <a:bodyPr wrap="square" lIns="0" tIns="0" rIns="0" bIns="0" rtlCol="0" anchor="t"/>
          <a:lstStyle/>
          <a:p>
            <a:pPr indent="0" marL="0">
              <a:buNone/>
            </a:pPr>
            <a:r>
              <a:rPr lang="en-US" sz="1200" b="1" dirty="0">
                <a:solidFill>
                  <a:srgbClr val="13456E"/>
                </a:solidFill>
                <a:latin typeface="Calibri" pitchFamily="34" charset="0"/>
                <a:ea typeface="Calibri" pitchFamily="34" charset="-122"/>
                <a:cs typeface="Calibri" pitchFamily="34" charset="-120"/>
              </a:rPr>
              <a:t>It is non-deterministic</a:t>
            </a:r>
            <a:endParaRPr lang="en-US" sz="1200" dirty="0"/>
          </a:p>
        </p:txBody>
      </p:sp>
      <p:sp>
        <p:nvSpPr>
          <p:cNvPr id="28" name="Text 26"/>
          <p:cNvSpPr txBox="1"/>
          <p:nvPr/>
        </p:nvSpPr>
        <p:spPr>
          <a:xfrm>
            <a:off x="4437888" y="4498848"/>
            <a:ext cx="3313176" cy="1234440"/>
          </a:xfrm>
          <a:prstGeom prst="rect">
            <a:avLst/>
          </a:prstGeom>
          <a:noFill/>
          <a:ln/>
        </p:spPr>
        <p:txBody>
          <a:bodyPr wrap="square" lIns="0" tIns="0" rIns="0" bIns="0" rtlCol="0" anchor="t"/>
          <a:lstStyle/>
          <a:p>
            <a:pPr indent="0" marL="0">
              <a:lnSpc>
                <a:spcPts val="1450"/>
              </a:lnSpc>
              <a:buNone/>
            </a:pPr>
            <a:r>
              <a:rPr lang="en-US" sz="1050" dirty="0">
                <a:solidFill>
                  <a:srgbClr val="2B3A4C"/>
                </a:solidFill>
                <a:latin typeface="Calibri" pitchFamily="34" charset="0"/>
                <a:ea typeface="Calibri" pitchFamily="34" charset="-122"/>
                <a:cs typeface="Calibri" pitchFamily="34" charset="-120"/>
              </a:rPr>
              <a:t>Like other large language models, Genie can exhibit non-deterministic behaviour — you might occasionally receive different outputs for the same prompt. Providing example SQL queries helps make Genie more consistent.  [OFF-4]</a:t>
            </a:r>
            <a:endParaRPr lang="en-US" sz="1050" dirty="0"/>
          </a:p>
        </p:txBody>
      </p:sp>
      <p:sp>
        <p:nvSpPr>
          <p:cNvPr id="29" name="Shape 27"/>
          <p:cNvSpPr/>
          <p:nvPr/>
        </p:nvSpPr>
        <p:spPr>
          <a:xfrm>
            <a:off x="8080248" y="4041648"/>
            <a:ext cx="3605784" cy="1810512"/>
          </a:xfrm>
          <a:prstGeom prst="roundRect">
            <a:avLst>
              <a:gd name="adj" fmla="val 3030"/>
            </a:avLst>
          </a:prstGeom>
          <a:solidFill>
            <a:srgbClr val="E4ECF4"/>
          </a:solidFill>
          <a:ln w="9525">
            <a:solidFill>
              <a:srgbClr val="D2DDE9"/>
            </a:solidFill>
            <a:prstDash val="solid"/>
          </a:ln>
        </p:spPr>
      </p:sp>
      <p:sp>
        <p:nvSpPr>
          <p:cNvPr id="30" name="Text 28"/>
          <p:cNvSpPr txBox="1"/>
          <p:nvPr/>
        </p:nvSpPr>
        <p:spPr>
          <a:xfrm>
            <a:off x="8226552" y="4160520"/>
            <a:ext cx="3313176" cy="292608"/>
          </a:xfrm>
          <a:prstGeom prst="rect">
            <a:avLst/>
          </a:prstGeom>
          <a:noFill/>
          <a:ln/>
        </p:spPr>
        <p:txBody>
          <a:bodyPr wrap="square" lIns="0" tIns="0" rIns="0" bIns="0" rtlCol="0" anchor="t"/>
          <a:lstStyle/>
          <a:p>
            <a:pPr indent="0" marL="0">
              <a:buNone/>
            </a:pPr>
            <a:r>
              <a:rPr lang="en-US" sz="1200" b="1" dirty="0">
                <a:solidFill>
                  <a:srgbClr val="13456E"/>
                </a:solidFill>
                <a:latin typeface="Calibri" pitchFamily="34" charset="0"/>
                <a:ea typeface="Calibri" pitchFamily="34" charset="-122"/>
                <a:cs typeface="Calibri" pitchFamily="34" charset="-120"/>
              </a:rPr>
              <a:t>More structure equals more accuracy</a:t>
            </a:r>
            <a:endParaRPr lang="en-US" sz="1200" dirty="0"/>
          </a:p>
        </p:txBody>
      </p:sp>
      <p:sp>
        <p:nvSpPr>
          <p:cNvPr id="31" name="Text 29"/>
          <p:cNvSpPr txBox="1"/>
          <p:nvPr/>
        </p:nvSpPr>
        <p:spPr>
          <a:xfrm>
            <a:off x="8226552" y="4498848"/>
            <a:ext cx="3313176" cy="1234440"/>
          </a:xfrm>
          <a:prstGeom prst="rect">
            <a:avLst/>
          </a:prstGeom>
          <a:noFill/>
          <a:ln/>
        </p:spPr>
        <p:txBody>
          <a:bodyPr wrap="square" lIns="0" tIns="0" rIns="0" bIns="0" rtlCol="0" anchor="t"/>
          <a:lstStyle/>
          <a:p>
            <a:pPr indent="0" marL="0">
              <a:lnSpc>
                <a:spcPts val="1450"/>
              </a:lnSpc>
              <a:buNone/>
            </a:pPr>
            <a:r>
              <a:rPr lang="en-US" sz="1050" dirty="0">
                <a:solidFill>
                  <a:srgbClr val="2B3A4C"/>
                </a:solidFill>
                <a:latin typeface="Calibri" pitchFamily="34" charset="0"/>
                <a:ea typeface="Calibri" pitchFamily="34" charset="-122"/>
                <a:cs typeface="Calibri" pitchFamily="34" charset="-120"/>
              </a:rPr>
              <a:t>The more structured context you provide, the more accurately Genie can interpret questions and generate correct results.  [OFF-1]  Every later section of this deck is a way of adding that structure.</a:t>
            </a:r>
            <a:endParaRPr lang="en-US" sz="1050" dirty="0"/>
          </a:p>
        </p:txBody>
      </p:sp>
      <p:sp>
        <p:nvSpPr>
          <p:cNvPr id="32" name="Text 30"/>
          <p:cNvSpPr txBox="1"/>
          <p:nvPr/>
        </p:nvSpPr>
        <p:spPr>
          <a:xfrm>
            <a:off x="502920" y="5998464"/>
            <a:ext cx="11183112" cy="201168"/>
          </a:xfrm>
          <a:prstGeom prst="rect">
            <a:avLst/>
          </a:prstGeom>
          <a:noFill/>
          <a:ln/>
        </p:spPr>
        <p:txBody>
          <a:bodyPr wrap="square" lIns="0" tIns="0" rIns="0" bIns="0" rtlCol="0" anchor="t"/>
          <a:lstStyle/>
          <a:p>
            <a:pPr indent="0" marL="0">
              <a:buNone/>
            </a:pPr>
            <a:r>
              <a:rPr lang="en-US" sz="800" i="1" dirty="0">
                <a:solidFill>
                  <a:srgbClr val="93A3B5"/>
                </a:solidFill>
                <a:latin typeface="Calibri" pitchFamily="34" charset="0"/>
                <a:ea typeface="Calibri" pitchFamily="34" charset="-122"/>
                <a:cs typeface="Calibri" pitchFamily="34" charset="-120"/>
              </a:rPr>
              <a:t>Sources: Curate an effective Genie Agent [OFF-1]; Test and monitor a Genie Agent [OFF-4]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1.2 GUIDING PRINCIPLES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The four principles [OFF-1] — everything later in this deck is a corollary</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6</a:t>
            </a:r>
            <a:endParaRPr lang="en-US" sz="800" dirty="0"/>
          </a:p>
        </p:txBody>
      </p:sp>
      <p:sp>
        <p:nvSpPr>
          <p:cNvPr id="6" name="Shape 4"/>
          <p:cNvSpPr/>
          <p:nvPr/>
        </p:nvSpPr>
        <p:spPr>
          <a:xfrm>
            <a:off x="502920" y="1207008"/>
            <a:ext cx="2672334" cy="2286000"/>
          </a:xfrm>
          <a:prstGeom prst="roundRect">
            <a:avLst>
              <a:gd name="adj" fmla="val 2400"/>
            </a:avLst>
          </a:prstGeom>
          <a:solidFill>
            <a:srgbClr val="F2F5F9"/>
          </a:solidFill>
          <a:ln w="9525">
            <a:solidFill>
              <a:srgbClr val="D2DDE9"/>
            </a:solidFill>
            <a:prstDash val="solid"/>
          </a:ln>
        </p:spPr>
      </p:sp>
      <p:sp>
        <p:nvSpPr>
          <p:cNvPr id="7" name="Shape 5"/>
          <p:cNvSpPr/>
          <p:nvPr/>
        </p:nvSpPr>
        <p:spPr>
          <a:xfrm>
            <a:off x="649224" y="1344168"/>
            <a:ext cx="256032" cy="256032"/>
          </a:xfrm>
          <a:prstGeom prst="roundRect">
            <a:avLst>
              <a:gd name="adj" fmla="val 17857"/>
            </a:avLst>
          </a:prstGeom>
          <a:solidFill>
            <a:srgbClr val="13456E"/>
          </a:solidFill>
          <a:ln/>
        </p:spPr>
      </p:sp>
      <p:sp>
        <p:nvSpPr>
          <p:cNvPr id="8" name="Text 6"/>
          <p:cNvSpPr txBox="1"/>
          <p:nvPr/>
        </p:nvSpPr>
        <p:spPr>
          <a:xfrm>
            <a:off x="649224"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96696"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Provide concise, well-documented datasets</a:t>
            </a:r>
            <a:endParaRPr lang="en-US" sz="1150" dirty="0"/>
          </a:p>
        </p:txBody>
      </p:sp>
      <p:sp>
        <p:nvSpPr>
          <p:cNvPr id="10" name="Text 8"/>
          <p:cNvSpPr txBox="1"/>
          <p:nvPr/>
        </p:nvSpPr>
        <p:spPr>
          <a:xfrm>
            <a:off x="649224" y="1773936"/>
            <a:ext cx="2379726" cy="1600200"/>
          </a:xfrm>
          <a:prstGeom prst="rect">
            <a:avLst/>
          </a:prstGeom>
          <a:noFill/>
          <a:ln/>
        </p:spPr>
        <p:txBody>
          <a:bodyPr wrap="square" lIns="0" tIns="0" rIns="0" bIns="0" rtlCol="0" anchor="t"/>
          <a:lstStyle/>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Quality table and column descriptions in Unity Catalog are critical for accuracy.</a:t>
            </a:r>
            <a:endParaRPr lang="en-US" sz="1000" dirty="0"/>
          </a:p>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Resolve column ambiguities before adding data.</a:t>
            </a:r>
            <a:endParaRPr lang="en-US" sz="1000" dirty="0"/>
          </a:p>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Pre-join or de-normalise tables using views or metric views.</a:t>
            </a:r>
            <a:endParaRPr lang="en-US" sz="1000" dirty="0"/>
          </a:p>
        </p:txBody>
      </p:sp>
      <p:sp>
        <p:nvSpPr>
          <p:cNvPr id="11" name="Shape 9"/>
          <p:cNvSpPr/>
          <p:nvPr/>
        </p:nvSpPr>
        <p:spPr>
          <a:xfrm>
            <a:off x="3339846" y="1207008"/>
            <a:ext cx="2672334" cy="2286000"/>
          </a:xfrm>
          <a:prstGeom prst="roundRect">
            <a:avLst>
              <a:gd name="adj" fmla="val 2400"/>
            </a:avLst>
          </a:prstGeom>
          <a:solidFill>
            <a:srgbClr val="F2F5F9"/>
          </a:solidFill>
          <a:ln w="9525">
            <a:solidFill>
              <a:srgbClr val="D2DDE9"/>
            </a:solidFill>
            <a:prstDash val="solid"/>
          </a:ln>
        </p:spPr>
      </p:sp>
      <p:sp>
        <p:nvSpPr>
          <p:cNvPr id="12" name="Shape 10"/>
          <p:cNvSpPr/>
          <p:nvPr/>
        </p:nvSpPr>
        <p:spPr>
          <a:xfrm>
            <a:off x="3486150" y="1344168"/>
            <a:ext cx="256032" cy="256032"/>
          </a:xfrm>
          <a:prstGeom prst="roundRect">
            <a:avLst>
              <a:gd name="adj" fmla="val 17857"/>
            </a:avLst>
          </a:prstGeom>
          <a:solidFill>
            <a:srgbClr val="13456E"/>
          </a:solidFill>
          <a:ln/>
        </p:spPr>
      </p:sp>
      <p:sp>
        <p:nvSpPr>
          <p:cNvPr id="13" name="Text 11"/>
          <p:cNvSpPr txBox="1"/>
          <p:nvPr/>
        </p:nvSpPr>
        <p:spPr>
          <a:xfrm>
            <a:off x="3486150"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3833622"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Prioritise SQL over text instructions</a:t>
            </a:r>
            <a:endParaRPr lang="en-US" sz="1150" dirty="0"/>
          </a:p>
        </p:txBody>
      </p:sp>
      <p:sp>
        <p:nvSpPr>
          <p:cNvPr id="15" name="Text 13"/>
          <p:cNvSpPr txBox="1"/>
          <p:nvPr/>
        </p:nvSpPr>
        <p:spPr>
          <a:xfrm>
            <a:off x="3486150" y="1773936"/>
            <a:ext cx="2379726" cy="1600200"/>
          </a:xfrm>
          <a:prstGeom prst="rect">
            <a:avLst/>
          </a:prstGeom>
          <a:noFill/>
          <a:ln/>
        </p:spPr>
        <p:txBody>
          <a:bodyPr wrap="square" lIns="0" tIns="0" rIns="0" bIns="0" rtlCol="0" anchor="t"/>
          <a:lstStyle/>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Structured definitions through SQL are more reliable and maintainable than plain text.</a:t>
            </a:r>
            <a:endParaRPr lang="en-US" sz="1000" dirty="0"/>
          </a:p>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Genie applies SQL logic exactly as written rather than interpreting it from natural language. [OFF-2]</a:t>
            </a:r>
            <a:endParaRPr lang="en-US" sz="1000" dirty="0"/>
          </a:p>
        </p:txBody>
      </p:sp>
      <p:sp>
        <p:nvSpPr>
          <p:cNvPr id="16" name="Shape 14"/>
          <p:cNvSpPr/>
          <p:nvPr/>
        </p:nvSpPr>
        <p:spPr>
          <a:xfrm>
            <a:off x="6176772" y="1207008"/>
            <a:ext cx="2672334" cy="2286000"/>
          </a:xfrm>
          <a:prstGeom prst="roundRect">
            <a:avLst>
              <a:gd name="adj" fmla="val 2400"/>
            </a:avLst>
          </a:prstGeom>
          <a:solidFill>
            <a:srgbClr val="F2F5F9"/>
          </a:solidFill>
          <a:ln w="9525">
            <a:solidFill>
              <a:srgbClr val="D2DDE9"/>
            </a:solidFill>
            <a:prstDash val="solid"/>
          </a:ln>
        </p:spPr>
      </p:sp>
      <p:sp>
        <p:nvSpPr>
          <p:cNvPr id="17" name="Shape 15"/>
          <p:cNvSpPr/>
          <p:nvPr/>
        </p:nvSpPr>
        <p:spPr>
          <a:xfrm>
            <a:off x="6323076" y="1344168"/>
            <a:ext cx="256032" cy="256032"/>
          </a:xfrm>
          <a:prstGeom prst="roundRect">
            <a:avLst>
              <a:gd name="adj" fmla="val 17857"/>
            </a:avLst>
          </a:prstGeom>
          <a:solidFill>
            <a:srgbClr val="13456E"/>
          </a:solidFill>
          <a:ln/>
        </p:spPr>
      </p:sp>
      <p:sp>
        <p:nvSpPr>
          <p:cNvPr id="18" name="Text 16"/>
          <p:cNvSpPr txBox="1"/>
          <p:nvPr/>
        </p:nvSpPr>
        <p:spPr>
          <a:xfrm>
            <a:off x="6323076"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6670548"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Write clear, specific text instructions</a:t>
            </a:r>
            <a:endParaRPr lang="en-US" sz="1150" dirty="0"/>
          </a:p>
        </p:txBody>
      </p:sp>
      <p:sp>
        <p:nvSpPr>
          <p:cNvPr id="20" name="Text 18"/>
          <p:cNvSpPr txBox="1"/>
          <p:nvPr/>
        </p:nvSpPr>
        <p:spPr>
          <a:xfrm>
            <a:off x="6323076" y="1773936"/>
            <a:ext cx="2379726" cy="1600200"/>
          </a:xfrm>
          <a:prstGeom prst="rect">
            <a:avLst/>
          </a:prstGeom>
          <a:noFill/>
          <a:ln/>
        </p:spPr>
        <p:txBody>
          <a:bodyPr wrap="square" lIns="0" tIns="0" rIns="0" bIns="0" rtlCol="0" anchor="t"/>
          <a:lstStyle/>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Name the trigger, the missing detail, the required action and the exact wording.</a:t>
            </a:r>
            <a:endParaRPr lang="en-US" sz="1000" dirty="0"/>
          </a:p>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Specificity is what makes an instruction survive a long conversation.</a:t>
            </a:r>
            <a:endParaRPr lang="en-US" sz="1000" dirty="0"/>
          </a:p>
        </p:txBody>
      </p:sp>
      <p:sp>
        <p:nvSpPr>
          <p:cNvPr id="21" name="Shape 19"/>
          <p:cNvSpPr/>
          <p:nvPr/>
        </p:nvSpPr>
        <p:spPr>
          <a:xfrm>
            <a:off x="9013698" y="1207008"/>
            <a:ext cx="2672334" cy="2286000"/>
          </a:xfrm>
          <a:prstGeom prst="roundRect">
            <a:avLst>
              <a:gd name="adj" fmla="val 2400"/>
            </a:avLst>
          </a:prstGeom>
          <a:solidFill>
            <a:srgbClr val="F2F5F9"/>
          </a:solidFill>
          <a:ln w="9525">
            <a:solidFill>
              <a:srgbClr val="D2DDE9"/>
            </a:solidFill>
            <a:prstDash val="solid"/>
          </a:ln>
        </p:spPr>
      </p:sp>
      <p:sp>
        <p:nvSpPr>
          <p:cNvPr id="22" name="Shape 20"/>
          <p:cNvSpPr/>
          <p:nvPr/>
        </p:nvSpPr>
        <p:spPr>
          <a:xfrm>
            <a:off x="9160002" y="1344168"/>
            <a:ext cx="256032" cy="256032"/>
          </a:xfrm>
          <a:prstGeom prst="roundRect">
            <a:avLst>
              <a:gd name="adj" fmla="val 17857"/>
            </a:avLst>
          </a:prstGeom>
          <a:solidFill>
            <a:srgbClr val="13456E"/>
          </a:solidFill>
          <a:ln/>
        </p:spPr>
      </p:sp>
      <p:sp>
        <p:nvSpPr>
          <p:cNvPr id="23" name="Text 21"/>
          <p:cNvSpPr txBox="1"/>
          <p:nvPr/>
        </p:nvSpPr>
        <p:spPr>
          <a:xfrm>
            <a:off x="9160002"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9507474"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Avoid conflicting instructions</a:t>
            </a:r>
            <a:endParaRPr lang="en-US" sz="1150" dirty="0"/>
          </a:p>
        </p:txBody>
      </p:sp>
      <p:sp>
        <p:nvSpPr>
          <p:cNvPr id="25" name="Text 23"/>
          <p:cNvSpPr txBox="1"/>
          <p:nvPr/>
        </p:nvSpPr>
        <p:spPr>
          <a:xfrm>
            <a:off x="9160002" y="1773936"/>
            <a:ext cx="2379726" cy="1600200"/>
          </a:xfrm>
          <a:prstGeom prst="rect">
            <a:avLst/>
          </a:prstGeom>
          <a:noFill/>
          <a:ln/>
        </p:spPr>
        <p:txBody>
          <a:bodyPr wrap="square" lIns="0" tIns="0" rIns="0" bIns="0" rtlCol="0" anchor="t"/>
          <a:lstStyle/>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If text instructions say round to two decimals, every example SQL must also round to two decimals.</a:t>
            </a:r>
            <a:endParaRPr lang="en-US" sz="1000" dirty="0"/>
          </a:p>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Because Genie is non-deterministic, guidance must be free of conflicting or ambiguous information. [OFF-2]</a:t>
            </a:r>
            <a:endParaRPr lang="en-US" sz="1000" dirty="0"/>
          </a:p>
        </p:txBody>
      </p:sp>
      <p:sp>
        <p:nvSpPr>
          <p:cNvPr id="26" name="Shape 24"/>
          <p:cNvSpPr/>
          <p:nvPr/>
        </p:nvSpPr>
        <p:spPr>
          <a:xfrm>
            <a:off x="502920" y="3657600"/>
            <a:ext cx="11183112" cy="731520"/>
          </a:xfrm>
          <a:prstGeom prst="roundRect">
            <a:avLst>
              <a:gd name="adj" fmla="val 7500"/>
            </a:avLst>
          </a:prstGeom>
          <a:solidFill>
            <a:srgbClr val="0E1B2A"/>
          </a:solidFill>
          <a:ln w="9525">
            <a:solidFill>
              <a:srgbClr val="0E1B2A"/>
            </a:solidFill>
            <a:prstDash val="solid"/>
          </a:ln>
        </p:spPr>
      </p:sp>
      <p:sp>
        <p:nvSpPr>
          <p:cNvPr id="27" name="Shape 25"/>
          <p:cNvSpPr/>
          <p:nvPr/>
        </p:nvSpPr>
        <p:spPr>
          <a:xfrm>
            <a:off x="685800" y="3886200"/>
            <a:ext cx="274320" cy="274320"/>
          </a:xfrm>
          <a:prstGeom prst="roundRect">
            <a:avLst>
              <a:gd name="adj" fmla="val 16667"/>
            </a:avLst>
          </a:prstGeom>
          <a:solidFill>
            <a:srgbClr val="E8552D"/>
          </a:solidFill>
          <a:ln/>
        </p:spPr>
      </p:sp>
      <p:sp>
        <p:nvSpPr>
          <p:cNvPr id="28" name="Text 26"/>
          <p:cNvSpPr txBox="1"/>
          <p:nvPr/>
        </p:nvSpPr>
        <p:spPr>
          <a:xfrm>
            <a:off x="685800" y="38862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9" name="Text 27"/>
          <p:cNvSpPr txBox="1"/>
          <p:nvPr/>
        </p:nvSpPr>
        <p:spPr>
          <a:xfrm>
            <a:off x="1106424" y="3749040"/>
            <a:ext cx="10396728" cy="548640"/>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Reviewing and resolving inconsistencies is a key setup task [OFF-2]. Conflict is not a cosmetic problem — under non-determinism it is the mechanism by which an agent produces two different answers to the same question on consecutive days.</a:t>
            </a:r>
            <a:endParaRPr lang="en-US" sz="1050" dirty="0"/>
          </a:p>
        </p:txBody>
      </p:sp>
      <p:sp>
        <p:nvSpPr>
          <p:cNvPr id="30" name="Text 28"/>
          <p:cNvSpPr txBox="1"/>
          <p:nvPr/>
        </p:nvSpPr>
        <p:spPr>
          <a:xfrm>
            <a:off x="502920" y="459028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PRINCIPLE 3 IN PRACTICE — THE DOCUMENTED EXAMPLE  [OFF-1]</a:t>
            </a:r>
            <a:endParaRPr lang="en-US" sz="850" dirty="0"/>
          </a:p>
        </p:txBody>
      </p:sp>
      <p:sp>
        <p:nvSpPr>
          <p:cNvPr id="31" name="Shape 29"/>
          <p:cNvSpPr/>
          <p:nvPr/>
        </p:nvSpPr>
        <p:spPr>
          <a:xfrm>
            <a:off x="502920" y="4846320"/>
            <a:ext cx="5440680" cy="1417320"/>
          </a:xfrm>
          <a:prstGeom prst="roundRect">
            <a:avLst>
              <a:gd name="adj" fmla="val 3871"/>
            </a:avLst>
          </a:prstGeom>
          <a:solidFill>
            <a:srgbClr val="FBEDEA"/>
          </a:solidFill>
          <a:ln w="9525">
            <a:solidFill>
              <a:srgbClr val="E8B5AA"/>
            </a:solidFill>
            <a:prstDash val="solid"/>
          </a:ln>
        </p:spPr>
      </p:sp>
      <p:sp>
        <p:nvSpPr>
          <p:cNvPr id="32" name="Text 30"/>
          <p:cNvSpPr txBox="1"/>
          <p:nvPr/>
        </p:nvSpPr>
        <p:spPr>
          <a:xfrm>
            <a:off x="685800" y="4974336"/>
            <a:ext cx="5029200" cy="237744"/>
          </a:xfrm>
          <a:prstGeom prst="rect">
            <a:avLst/>
          </a:prstGeom>
          <a:noFill/>
          <a:ln/>
        </p:spPr>
        <p:txBody>
          <a:bodyPr wrap="square" lIns="0" tIns="0" rIns="0" bIns="0" rtlCol="0" anchor="t"/>
          <a:lstStyle/>
          <a:p>
            <a:pPr indent="0" marL="0">
              <a:buNone/>
            </a:pPr>
            <a:r>
              <a:rPr lang="en-US" sz="1100" b="1" dirty="0">
                <a:solidFill>
                  <a:srgbClr val="B3321E"/>
                </a:solidFill>
                <a:latin typeface="Calibri" pitchFamily="34" charset="0"/>
                <a:ea typeface="Calibri" pitchFamily="34" charset="-122"/>
                <a:cs typeface="Calibri" pitchFamily="34" charset="-120"/>
              </a:rPr>
              <a:t>✕  Too vague</a:t>
            </a:r>
            <a:endParaRPr lang="en-US" sz="1100" dirty="0"/>
          </a:p>
        </p:txBody>
      </p:sp>
      <p:sp>
        <p:nvSpPr>
          <p:cNvPr id="33" name="Text 31"/>
          <p:cNvSpPr txBox="1"/>
          <p:nvPr/>
        </p:nvSpPr>
        <p:spPr>
          <a:xfrm>
            <a:off x="685800" y="5248656"/>
            <a:ext cx="5029200" cy="365760"/>
          </a:xfrm>
          <a:prstGeom prst="rect">
            <a:avLst/>
          </a:prstGeom>
          <a:noFill/>
          <a:ln/>
        </p:spPr>
        <p:txBody>
          <a:bodyPr wrap="square" lIns="0" tIns="0" rIns="0" bIns="0" rtlCol="0" anchor="t"/>
          <a:lstStyle/>
          <a:p>
            <a:pPr indent="0" marL="0">
              <a:lnSpc>
                <a:spcPts val="1500"/>
              </a:lnSpc>
              <a:buNone/>
            </a:pPr>
            <a:r>
              <a:rPr lang="en-US" sz="1150" i="1" dirty="0">
                <a:solidFill>
                  <a:srgbClr val="2B3A4C"/>
                </a:solidFill>
                <a:latin typeface="Calibri" pitchFamily="34" charset="0"/>
                <a:ea typeface="Calibri" pitchFamily="34" charset="-122"/>
                <a:cs typeface="Calibri" pitchFamily="34" charset="-120"/>
              </a:rPr>
              <a:t>“Ask clarification questions when asked about sales.”</a:t>
            </a:r>
            <a:endParaRPr lang="en-US" sz="1150" dirty="0"/>
          </a:p>
        </p:txBody>
      </p:sp>
      <p:sp>
        <p:nvSpPr>
          <p:cNvPr id="34" name="Text 32"/>
          <p:cNvSpPr txBox="1"/>
          <p:nvPr/>
        </p:nvSpPr>
        <p:spPr>
          <a:xfrm>
            <a:off x="685800" y="5742432"/>
            <a:ext cx="5029200" cy="411480"/>
          </a:xfrm>
          <a:prstGeom prst="rect">
            <a:avLst/>
          </a:prstGeom>
          <a:noFill/>
          <a:ln/>
        </p:spPr>
        <p:txBody>
          <a:bodyPr wrap="square" lIns="0" tIns="0" rIns="0" bIns="0" rtlCol="0" anchor="t"/>
          <a:lstStyle/>
          <a:p>
            <a:pPr indent="0" marL="0">
              <a:lnSpc>
                <a:spcPts val="1200"/>
              </a:lnSpc>
              <a:buNone/>
            </a:pPr>
            <a:r>
              <a:rPr lang="en-US" sz="950" dirty="0">
                <a:solidFill>
                  <a:srgbClr val="56677C"/>
                </a:solidFill>
                <a:latin typeface="Calibri" pitchFamily="34" charset="0"/>
                <a:ea typeface="Calibri" pitchFamily="34" charset="-122"/>
                <a:cs typeface="Calibri" pitchFamily="34" charset="-120"/>
              </a:rPr>
              <a:t>No trigger boundary, no named fields, no wording for Genie to reuse.</a:t>
            </a:r>
            <a:endParaRPr lang="en-US" sz="950" dirty="0"/>
          </a:p>
        </p:txBody>
      </p:sp>
      <p:sp>
        <p:nvSpPr>
          <p:cNvPr id="35" name="Shape 33"/>
          <p:cNvSpPr/>
          <p:nvPr/>
        </p:nvSpPr>
        <p:spPr>
          <a:xfrm>
            <a:off x="6245352" y="4846320"/>
            <a:ext cx="5440680" cy="1417320"/>
          </a:xfrm>
          <a:prstGeom prst="roundRect">
            <a:avLst>
              <a:gd name="adj" fmla="val 3871"/>
            </a:avLst>
          </a:prstGeom>
          <a:solidFill>
            <a:srgbClr val="E9F3EE"/>
          </a:solidFill>
          <a:ln w="9525">
            <a:solidFill>
              <a:srgbClr val="A9CDBD"/>
            </a:solidFill>
            <a:prstDash val="solid"/>
          </a:ln>
        </p:spPr>
      </p:sp>
      <p:sp>
        <p:nvSpPr>
          <p:cNvPr id="36" name="Text 34"/>
          <p:cNvSpPr txBox="1"/>
          <p:nvPr/>
        </p:nvSpPr>
        <p:spPr>
          <a:xfrm>
            <a:off x="6428232" y="4974336"/>
            <a:ext cx="5029200" cy="237744"/>
          </a:xfrm>
          <a:prstGeom prst="rect">
            <a:avLst/>
          </a:prstGeom>
          <a:noFill/>
          <a:ln/>
        </p:spPr>
        <p:txBody>
          <a:bodyPr wrap="square" lIns="0" tIns="0" rIns="0" bIns="0" rtlCol="0" anchor="t"/>
          <a:lstStyle/>
          <a:p>
            <a:pPr indent="0" marL="0">
              <a:buNone/>
            </a:pPr>
            <a:r>
              <a:rPr lang="en-US" sz="1100" b="1" dirty="0">
                <a:solidFill>
                  <a:srgbClr val="1B7A5A"/>
                </a:solidFill>
                <a:latin typeface="Calibri" pitchFamily="34" charset="0"/>
                <a:ea typeface="Calibri" pitchFamily="34" charset="-122"/>
                <a:cs typeface="Calibri" pitchFamily="34" charset="-120"/>
              </a:rPr>
              <a:t>✓  Specific enough to act on</a:t>
            </a:r>
            <a:endParaRPr lang="en-US" sz="1100" dirty="0"/>
          </a:p>
        </p:txBody>
      </p:sp>
      <p:sp>
        <p:nvSpPr>
          <p:cNvPr id="37" name="Text 35"/>
          <p:cNvSpPr txBox="1"/>
          <p:nvPr/>
        </p:nvSpPr>
        <p:spPr>
          <a:xfrm>
            <a:off x="6428232" y="5230368"/>
            <a:ext cx="5074920" cy="685800"/>
          </a:xfrm>
          <a:prstGeom prst="rect">
            <a:avLst/>
          </a:prstGeom>
          <a:noFill/>
          <a:ln/>
        </p:spPr>
        <p:txBody>
          <a:bodyPr wrap="square" lIns="0" tIns="0" rIns="0" bIns="0" rtlCol="0" anchor="t"/>
          <a:lstStyle/>
          <a:p>
            <a:pPr indent="0" marL="0">
              <a:lnSpc>
                <a:spcPts val="1350"/>
              </a:lnSpc>
              <a:buNone/>
            </a:pPr>
            <a:r>
              <a:rPr lang="en-US" sz="1050" i="1" dirty="0">
                <a:solidFill>
                  <a:srgbClr val="2B3A4C"/>
                </a:solidFill>
                <a:latin typeface="Calibri" pitchFamily="34" charset="0"/>
                <a:ea typeface="Calibri" pitchFamily="34" charset="-122"/>
                <a:cs typeface="Calibri" pitchFamily="34" charset="-120"/>
              </a:rPr>
              <a:t>“When users ask about sales metrics without specifying product name or sales channel, ask: To proceed with sales analysis, specify your product name and sales channel.”</a:t>
            </a:r>
            <a:endParaRPr lang="en-US" sz="1050" dirty="0"/>
          </a:p>
        </p:txBody>
      </p:sp>
      <p:sp>
        <p:nvSpPr>
          <p:cNvPr id="38" name="Text 36"/>
          <p:cNvSpPr txBox="1"/>
          <p:nvPr/>
        </p:nvSpPr>
        <p:spPr>
          <a:xfrm>
            <a:off x="6428232" y="5925312"/>
            <a:ext cx="5029200" cy="274320"/>
          </a:xfrm>
          <a:prstGeom prst="rect">
            <a:avLst/>
          </a:prstGeom>
          <a:noFill/>
          <a:ln/>
        </p:spPr>
        <p:txBody>
          <a:bodyPr wrap="square" lIns="0" tIns="0" rIns="0" bIns="0" rtlCol="0" anchor="t"/>
          <a:lstStyle/>
          <a:p>
            <a:pPr indent="0" marL="0">
              <a:buNone/>
            </a:pPr>
            <a:r>
              <a:rPr lang="en-US" sz="950" dirty="0">
                <a:solidFill>
                  <a:srgbClr val="56677C"/>
                </a:solidFill>
                <a:latin typeface="Calibri" pitchFamily="34" charset="0"/>
                <a:ea typeface="Calibri" pitchFamily="34" charset="-122"/>
                <a:cs typeface="Calibri" pitchFamily="34" charset="-120"/>
              </a:rPr>
              <a:t>Trigger + missing detail + required action + exact clarification wording.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02</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Before you build</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Four gates stand between an idea and a live agent. Skipping any of them produces an agent nobody trusts.</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Purpose, audience and owner</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six-item requirements gate</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Non-negotiable rules during design</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Prerequisites and permissions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two-credential security model</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2.1 SCOPE AND OWNERSHIP</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Narrow the topic, then hand it to a domain expert</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8</a:t>
            </a:r>
            <a:endParaRPr lang="en-US" sz="800" dirty="0"/>
          </a:p>
        </p:txBody>
      </p:sp>
      <p:sp>
        <p:nvSpPr>
          <p:cNvPr id="6" name="Shape 4"/>
          <p:cNvSpPr/>
          <p:nvPr/>
        </p:nvSpPr>
        <p:spPr>
          <a:xfrm>
            <a:off x="502920" y="1207008"/>
            <a:ext cx="3605784" cy="1691640"/>
          </a:xfrm>
          <a:prstGeom prst="roundRect">
            <a:avLst>
              <a:gd name="adj" fmla="val 3243"/>
            </a:avLst>
          </a:prstGeom>
          <a:solidFill>
            <a:srgbClr val="F2F5F9"/>
          </a:solidFill>
          <a:ln w="9525">
            <a:solidFill>
              <a:srgbClr val="D2DDE9"/>
            </a:solidFill>
            <a:prstDash val="solid"/>
          </a:ln>
        </p:spPr>
      </p:sp>
      <p:sp>
        <p:nvSpPr>
          <p:cNvPr id="7" name="Text 5"/>
          <p:cNvSpPr txBox="1"/>
          <p:nvPr/>
        </p:nvSpPr>
        <p:spPr>
          <a:xfrm>
            <a:off x="649224" y="1325880"/>
            <a:ext cx="3313176"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One topic, one audience</a:t>
            </a:r>
            <a:endParaRPr lang="en-US" sz="1250" dirty="0"/>
          </a:p>
        </p:txBody>
      </p:sp>
      <p:sp>
        <p:nvSpPr>
          <p:cNvPr id="8" name="Text 6"/>
          <p:cNvSpPr txBox="1"/>
          <p:nvPr/>
        </p:nvSpPr>
        <p:spPr>
          <a:xfrm>
            <a:off x="649224" y="1664208"/>
            <a:ext cx="3313176" cy="111556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An agent should answer questions for a particular topic and audience — not general questions across various domains. Breadth is the most common cause of a disappointing pilot.  [OFF-1]</a:t>
            </a:r>
            <a:endParaRPr lang="en-US" sz="1050" dirty="0"/>
          </a:p>
        </p:txBody>
      </p:sp>
      <p:sp>
        <p:nvSpPr>
          <p:cNvPr id="9" name="Shape 7"/>
          <p:cNvSpPr/>
          <p:nvPr/>
        </p:nvSpPr>
        <p:spPr>
          <a:xfrm>
            <a:off x="4291584" y="1207008"/>
            <a:ext cx="3605784" cy="1691640"/>
          </a:xfrm>
          <a:prstGeom prst="roundRect">
            <a:avLst>
              <a:gd name="adj" fmla="val 3243"/>
            </a:avLst>
          </a:prstGeom>
          <a:solidFill>
            <a:srgbClr val="F2F5F9"/>
          </a:solidFill>
          <a:ln w="9525">
            <a:solidFill>
              <a:srgbClr val="D2DDE9"/>
            </a:solidFill>
            <a:prstDash val="solid"/>
          </a:ln>
        </p:spPr>
      </p:sp>
      <p:sp>
        <p:nvSpPr>
          <p:cNvPr id="10" name="Text 8"/>
          <p:cNvSpPr txBox="1"/>
          <p:nvPr/>
        </p:nvSpPr>
        <p:spPr>
          <a:xfrm>
            <a:off x="4437888" y="1325880"/>
            <a:ext cx="3313176"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Simplify before you attach</a:t>
            </a:r>
            <a:endParaRPr lang="en-US" sz="1250" dirty="0"/>
          </a:p>
        </p:txBody>
      </p:sp>
      <p:sp>
        <p:nvSpPr>
          <p:cNvPr id="11" name="Text 9"/>
          <p:cNvSpPr txBox="1"/>
          <p:nvPr/>
        </p:nvSpPr>
        <p:spPr>
          <a:xfrm>
            <a:off x="4437888" y="1664208"/>
            <a:ext cx="3313176" cy="111556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Pre-join tables and remove unnecessary columns before adding data, and hide any columns that might be confusing or unimportant. Curation happens upstream of the agent, not inside it.  [OFF-1]</a:t>
            </a:r>
            <a:endParaRPr lang="en-US" sz="1050" dirty="0"/>
          </a:p>
        </p:txBody>
      </p:sp>
      <p:sp>
        <p:nvSpPr>
          <p:cNvPr id="12" name="Shape 10"/>
          <p:cNvSpPr/>
          <p:nvPr/>
        </p:nvSpPr>
        <p:spPr>
          <a:xfrm>
            <a:off x="8080248" y="1207008"/>
            <a:ext cx="3605784" cy="1691640"/>
          </a:xfrm>
          <a:prstGeom prst="roundRect">
            <a:avLst>
              <a:gd name="adj" fmla="val 3243"/>
            </a:avLst>
          </a:prstGeom>
          <a:solidFill>
            <a:srgbClr val="F2F5F9"/>
          </a:solidFill>
          <a:ln w="9525">
            <a:solidFill>
              <a:srgbClr val="D2DDE9"/>
            </a:solidFill>
            <a:prstDash val="solid"/>
          </a:ln>
        </p:spPr>
      </p:sp>
      <p:sp>
        <p:nvSpPr>
          <p:cNvPr id="13" name="Text 11"/>
          <p:cNvSpPr txBox="1"/>
          <p:nvPr/>
        </p:nvSpPr>
        <p:spPr>
          <a:xfrm>
            <a:off x="8226552" y="1325880"/>
            <a:ext cx="3313176"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A domain expert defines it</a:t>
            </a:r>
            <a:endParaRPr lang="en-US" sz="1250" dirty="0"/>
          </a:p>
        </p:txBody>
      </p:sp>
      <p:sp>
        <p:nvSpPr>
          <p:cNvPr id="14" name="Text 12"/>
          <p:cNvSpPr txBox="1"/>
          <p:nvPr/>
        </p:nvSpPr>
        <p:spPr>
          <a:xfrm>
            <a:off x="8226552" y="1664208"/>
            <a:ext cx="3313176" cy="111556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An effective creator needs to understand the data and the insights that can be gleaned from it. Data analysts proficient in SQL typically have the knowledge and skills to curate it.  [OFF-1]</a:t>
            </a:r>
            <a:endParaRPr lang="en-US" sz="1050" dirty="0"/>
          </a:p>
        </p:txBody>
      </p:sp>
      <p:sp>
        <p:nvSpPr>
          <p:cNvPr id="15" name="Text 13"/>
          <p:cNvSpPr txBox="1"/>
          <p:nvPr/>
        </p:nvSpPr>
        <p:spPr>
          <a:xfrm>
            <a:off x="502920" y="3090672"/>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ORGANISE BY BUSINESS DOMAIN, NOT BY REPORT  [GH-1]</a:t>
            </a:r>
            <a:endParaRPr lang="en-US" sz="850" dirty="0"/>
          </a:p>
        </p:txBody>
      </p:sp>
      <p:sp>
        <p:nvSpPr>
          <p:cNvPr id="16" name="Shape 14"/>
          <p:cNvSpPr/>
          <p:nvPr/>
        </p:nvSpPr>
        <p:spPr>
          <a:xfrm>
            <a:off x="502920" y="3346704"/>
            <a:ext cx="1929384" cy="960120"/>
          </a:xfrm>
          <a:prstGeom prst="roundRect">
            <a:avLst>
              <a:gd name="adj" fmla="val 5714"/>
            </a:avLst>
          </a:prstGeom>
          <a:solidFill>
            <a:srgbClr val="E4ECF4"/>
          </a:solidFill>
          <a:ln w="9525">
            <a:solidFill>
              <a:srgbClr val="D2DDE9"/>
            </a:solidFill>
            <a:prstDash val="solid"/>
          </a:ln>
        </p:spPr>
      </p:sp>
      <p:sp>
        <p:nvSpPr>
          <p:cNvPr id="17" name="Text 15"/>
          <p:cNvSpPr txBox="1"/>
          <p:nvPr/>
        </p:nvSpPr>
        <p:spPr>
          <a:xfrm>
            <a:off x="630936" y="3456432"/>
            <a:ext cx="1673352" cy="256032"/>
          </a:xfrm>
          <a:prstGeom prst="rect">
            <a:avLst/>
          </a:prstGeom>
          <a:noFill/>
          <a:ln/>
        </p:spPr>
        <p:txBody>
          <a:bodyPr wrap="square" lIns="0" tIns="0" rIns="0" bIns="0" rtlCol="0" anchor="t"/>
          <a:lstStyle/>
          <a:p>
            <a:pPr indent="0" marL="0">
              <a:buNone/>
            </a:pPr>
            <a:r>
              <a:rPr lang="en-US" sz="1150" b="1" dirty="0">
                <a:solidFill>
                  <a:srgbClr val="13456E"/>
                </a:solidFill>
                <a:latin typeface="Calibri" pitchFamily="34" charset="0"/>
                <a:ea typeface="Calibri" pitchFamily="34" charset="-122"/>
                <a:cs typeface="Calibri" pitchFamily="34" charset="-120"/>
              </a:rPr>
              <a:t>Domain</a:t>
            </a:r>
            <a:endParaRPr lang="en-US" sz="1150" dirty="0"/>
          </a:p>
        </p:txBody>
      </p:sp>
      <p:sp>
        <p:nvSpPr>
          <p:cNvPr id="18" name="Text 16"/>
          <p:cNvSpPr txBox="1"/>
          <p:nvPr/>
        </p:nvSpPr>
        <p:spPr>
          <a:xfrm>
            <a:off x="630936" y="3730752"/>
            <a:ext cx="1673352" cy="50292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“Marketing” maps to one Agent</a:t>
            </a:r>
            <a:endParaRPr lang="en-US" sz="950" dirty="0"/>
          </a:p>
        </p:txBody>
      </p:sp>
      <p:sp>
        <p:nvSpPr>
          <p:cNvPr id="19" name="Shape 17"/>
          <p:cNvSpPr/>
          <p:nvPr/>
        </p:nvSpPr>
        <p:spPr>
          <a:xfrm>
            <a:off x="2514600" y="3721608"/>
            <a:ext cx="219456" cy="201168"/>
          </a:xfrm>
          <a:prstGeom prst="rightArrow">
            <a:avLst/>
          </a:prstGeom>
          <a:solidFill>
            <a:srgbClr val="E8552D"/>
          </a:solidFill>
          <a:ln/>
        </p:spPr>
      </p:sp>
      <p:sp>
        <p:nvSpPr>
          <p:cNvPr id="20" name="Shape 18"/>
          <p:cNvSpPr/>
          <p:nvPr/>
        </p:nvSpPr>
        <p:spPr>
          <a:xfrm>
            <a:off x="2816352" y="3346704"/>
            <a:ext cx="1929384" cy="960120"/>
          </a:xfrm>
          <a:prstGeom prst="roundRect">
            <a:avLst>
              <a:gd name="adj" fmla="val 5714"/>
            </a:avLst>
          </a:prstGeom>
          <a:solidFill>
            <a:srgbClr val="E4ECF4"/>
          </a:solidFill>
          <a:ln w="9525">
            <a:solidFill>
              <a:srgbClr val="D2DDE9"/>
            </a:solidFill>
            <a:prstDash val="solid"/>
          </a:ln>
        </p:spPr>
      </p:sp>
      <p:sp>
        <p:nvSpPr>
          <p:cNvPr id="21" name="Text 19"/>
          <p:cNvSpPr txBox="1"/>
          <p:nvPr/>
        </p:nvSpPr>
        <p:spPr>
          <a:xfrm>
            <a:off x="2944368" y="3456432"/>
            <a:ext cx="1673352" cy="256032"/>
          </a:xfrm>
          <a:prstGeom prst="rect">
            <a:avLst/>
          </a:prstGeom>
          <a:noFill/>
          <a:ln/>
        </p:spPr>
        <p:txBody>
          <a:bodyPr wrap="square" lIns="0" tIns="0" rIns="0" bIns="0" rtlCol="0" anchor="t"/>
          <a:lstStyle/>
          <a:p>
            <a:pPr indent="0" marL="0">
              <a:buNone/>
            </a:pPr>
            <a:r>
              <a:rPr lang="en-US" sz="1150" b="1" dirty="0">
                <a:solidFill>
                  <a:srgbClr val="13456E"/>
                </a:solidFill>
                <a:latin typeface="Calibri" pitchFamily="34" charset="0"/>
                <a:ea typeface="Calibri" pitchFamily="34" charset="-122"/>
                <a:cs typeface="Calibri" pitchFamily="34" charset="-120"/>
              </a:rPr>
              <a:t>Subdomain</a:t>
            </a:r>
            <a:endParaRPr lang="en-US" sz="1150" dirty="0"/>
          </a:p>
        </p:txBody>
      </p:sp>
      <p:sp>
        <p:nvSpPr>
          <p:cNvPr id="22" name="Text 20"/>
          <p:cNvSpPr txBox="1"/>
          <p:nvPr/>
        </p:nvSpPr>
        <p:spPr>
          <a:xfrm>
            <a:off x="2944368" y="3730752"/>
            <a:ext cx="1673352" cy="50292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Split broad domains: “Online Marketing”</a:t>
            </a:r>
            <a:endParaRPr lang="en-US" sz="950" dirty="0"/>
          </a:p>
        </p:txBody>
      </p:sp>
      <p:sp>
        <p:nvSpPr>
          <p:cNvPr id="23" name="Shape 21"/>
          <p:cNvSpPr/>
          <p:nvPr/>
        </p:nvSpPr>
        <p:spPr>
          <a:xfrm>
            <a:off x="4828032" y="3721608"/>
            <a:ext cx="219456" cy="201168"/>
          </a:xfrm>
          <a:prstGeom prst="rightArrow">
            <a:avLst/>
          </a:prstGeom>
          <a:solidFill>
            <a:srgbClr val="E8552D"/>
          </a:solidFill>
          <a:ln/>
        </p:spPr>
      </p:sp>
      <p:sp>
        <p:nvSpPr>
          <p:cNvPr id="24" name="Shape 22"/>
          <p:cNvSpPr/>
          <p:nvPr/>
        </p:nvSpPr>
        <p:spPr>
          <a:xfrm>
            <a:off x="5129784" y="3346704"/>
            <a:ext cx="1929384" cy="960120"/>
          </a:xfrm>
          <a:prstGeom prst="roundRect">
            <a:avLst>
              <a:gd name="adj" fmla="val 5714"/>
            </a:avLst>
          </a:prstGeom>
          <a:solidFill>
            <a:srgbClr val="E4ECF4"/>
          </a:solidFill>
          <a:ln w="9525">
            <a:solidFill>
              <a:srgbClr val="D2DDE9"/>
            </a:solidFill>
            <a:prstDash val="solid"/>
          </a:ln>
        </p:spPr>
      </p:sp>
      <p:sp>
        <p:nvSpPr>
          <p:cNvPr id="25" name="Text 23"/>
          <p:cNvSpPr txBox="1"/>
          <p:nvPr/>
        </p:nvSpPr>
        <p:spPr>
          <a:xfrm>
            <a:off x="5257800" y="3456432"/>
            <a:ext cx="1673352" cy="256032"/>
          </a:xfrm>
          <a:prstGeom prst="rect">
            <a:avLst/>
          </a:prstGeom>
          <a:noFill/>
          <a:ln/>
        </p:spPr>
        <p:txBody>
          <a:bodyPr wrap="square" lIns="0" tIns="0" rIns="0" bIns="0" rtlCol="0" anchor="t"/>
          <a:lstStyle/>
          <a:p>
            <a:pPr indent="0" marL="0">
              <a:buNone/>
            </a:pPr>
            <a:r>
              <a:rPr lang="en-US" sz="1150" b="1" dirty="0">
                <a:solidFill>
                  <a:srgbClr val="13456E"/>
                </a:solidFill>
                <a:latin typeface="Calibri" pitchFamily="34" charset="0"/>
                <a:ea typeface="Calibri" pitchFamily="34" charset="-122"/>
                <a:cs typeface="Calibri" pitchFamily="34" charset="-120"/>
              </a:rPr>
              <a:t>Object limit</a:t>
            </a:r>
            <a:endParaRPr lang="en-US" sz="1150" dirty="0"/>
          </a:p>
        </p:txBody>
      </p:sp>
      <p:sp>
        <p:nvSpPr>
          <p:cNvPr id="26" name="Text 24"/>
          <p:cNvSpPr txBox="1"/>
          <p:nvPr/>
        </p:nvSpPr>
        <p:spPr>
          <a:xfrm>
            <a:off x="5257800" y="3730752"/>
            <a:ext cx="1673352" cy="50292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If a domain nears the limit, split by subdomain</a:t>
            </a:r>
            <a:endParaRPr lang="en-US" sz="950" dirty="0"/>
          </a:p>
        </p:txBody>
      </p:sp>
      <p:sp>
        <p:nvSpPr>
          <p:cNvPr id="27" name="Shape 25"/>
          <p:cNvSpPr/>
          <p:nvPr/>
        </p:nvSpPr>
        <p:spPr>
          <a:xfrm>
            <a:off x="7141464" y="3721608"/>
            <a:ext cx="219456" cy="201168"/>
          </a:xfrm>
          <a:prstGeom prst="rightArrow">
            <a:avLst/>
          </a:prstGeom>
          <a:solidFill>
            <a:srgbClr val="E8552D"/>
          </a:solidFill>
          <a:ln/>
        </p:spPr>
      </p:sp>
      <p:sp>
        <p:nvSpPr>
          <p:cNvPr id="28" name="Shape 26"/>
          <p:cNvSpPr/>
          <p:nvPr/>
        </p:nvSpPr>
        <p:spPr>
          <a:xfrm>
            <a:off x="7443216" y="3346704"/>
            <a:ext cx="1929384" cy="960120"/>
          </a:xfrm>
          <a:prstGeom prst="roundRect">
            <a:avLst>
              <a:gd name="adj" fmla="val 5714"/>
            </a:avLst>
          </a:prstGeom>
          <a:solidFill>
            <a:srgbClr val="E4ECF4"/>
          </a:solidFill>
          <a:ln w="9525">
            <a:solidFill>
              <a:srgbClr val="D2DDE9"/>
            </a:solidFill>
            <a:prstDash val="solid"/>
          </a:ln>
        </p:spPr>
      </p:sp>
      <p:sp>
        <p:nvSpPr>
          <p:cNvPr id="29" name="Text 27"/>
          <p:cNvSpPr txBox="1"/>
          <p:nvPr/>
        </p:nvSpPr>
        <p:spPr>
          <a:xfrm>
            <a:off x="7571232" y="3456432"/>
            <a:ext cx="1673352" cy="256032"/>
          </a:xfrm>
          <a:prstGeom prst="rect">
            <a:avLst/>
          </a:prstGeom>
          <a:noFill/>
          <a:ln/>
        </p:spPr>
        <p:txBody>
          <a:bodyPr wrap="square" lIns="0" tIns="0" rIns="0" bIns="0" rtlCol="0" anchor="t"/>
          <a:lstStyle/>
          <a:p>
            <a:pPr indent="0" marL="0">
              <a:buNone/>
            </a:pPr>
            <a:r>
              <a:rPr lang="en-US" sz="1150" b="1" dirty="0">
                <a:solidFill>
                  <a:srgbClr val="13456E"/>
                </a:solidFill>
                <a:latin typeface="Calibri" pitchFamily="34" charset="0"/>
                <a:ea typeface="Calibri" pitchFamily="34" charset="-122"/>
                <a:cs typeface="Calibri" pitchFamily="34" charset="-120"/>
              </a:rPr>
              <a:t>Tags</a:t>
            </a:r>
            <a:endParaRPr lang="en-US" sz="1150" dirty="0"/>
          </a:p>
        </p:txBody>
      </p:sp>
      <p:sp>
        <p:nvSpPr>
          <p:cNvPr id="30" name="Text 28"/>
          <p:cNvSpPr txBox="1"/>
          <p:nvPr/>
        </p:nvSpPr>
        <p:spPr>
          <a:xfrm>
            <a:off x="7571232" y="3730752"/>
            <a:ext cx="1673352" cy="50292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Tag Agents and their tables / Metric Views</a:t>
            </a:r>
            <a:endParaRPr lang="en-US" sz="950" dirty="0"/>
          </a:p>
        </p:txBody>
      </p:sp>
      <p:sp>
        <p:nvSpPr>
          <p:cNvPr id="31" name="Shape 29"/>
          <p:cNvSpPr/>
          <p:nvPr/>
        </p:nvSpPr>
        <p:spPr>
          <a:xfrm>
            <a:off x="9454896" y="3721608"/>
            <a:ext cx="219456" cy="201168"/>
          </a:xfrm>
          <a:prstGeom prst="rightArrow">
            <a:avLst/>
          </a:prstGeom>
          <a:solidFill>
            <a:srgbClr val="E8552D"/>
          </a:solidFill>
          <a:ln/>
        </p:spPr>
      </p:sp>
      <p:sp>
        <p:nvSpPr>
          <p:cNvPr id="32" name="Shape 30"/>
          <p:cNvSpPr/>
          <p:nvPr/>
        </p:nvSpPr>
        <p:spPr>
          <a:xfrm>
            <a:off x="9756648" y="3346704"/>
            <a:ext cx="1929384" cy="960120"/>
          </a:xfrm>
          <a:prstGeom prst="roundRect">
            <a:avLst>
              <a:gd name="adj" fmla="val 5714"/>
            </a:avLst>
          </a:prstGeom>
          <a:solidFill>
            <a:srgbClr val="E4ECF4"/>
          </a:solidFill>
          <a:ln w="9525">
            <a:solidFill>
              <a:srgbClr val="D2DDE9"/>
            </a:solidFill>
            <a:prstDash val="solid"/>
          </a:ln>
        </p:spPr>
      </p:sp>
      <p:sp>
        <p:nvSpPr>
          <p:cNvPr id="33" name="Text 31"/>
          <p:cNvSpPr txBox="1"/>
          <p:nvPr/>
        </p:nvSpPr>
        <p:spPr>
          <a:xfrm>
            <a:off x="9884664" y="3456432"/>
            <a:ext cx="1673352" cy="256032"/>
          </a:xfrm>
          <a:prstGeom prst="rect">
            <a:avLst/>
          </a:prstGeom>
          <a:noFill/>
          <a:ln/>
        </p:spPr>
        <p:txBody>
          <a:bodyPr wrap="square" lIns="0" tIns="0" rIns="0" bIns="0" rtlCol="0" anchor="t"/>
          <a:lstStyle/>
          <a:p>
            <a:pPr indent="0" marL="0">
              <a:buNone/>
            </a:pPr>
            <a:r>
              <a:rPr lang="en-US" sz="1150" b="1" dirty="0">
                <a:solidFill>
                  <a:srgbClr val="13456E"/>
                </a:solidFill>
                <a:latin typeface="Calibri" pitchFamily="34" charset="0"/>
                <a:ea typeface="Calibri" pitchFamily="34" charset="-122"/>
                <a:cs typeface="Calibri" pitchFamily="34" charset="-120"/>
              </a:rPr>
              <a:t>Catalog</a:t>
            </a:r>
            <a:endParaRPr lang="en-US" sz="1150" dirty="0"/>
          </a:p>
        </p:txBody>
      </p:sp>
      <p:sp>
        <p:nvSpPr>
          <p:cNvPr id="34" name="Text 32"/>
          <p:cNvSpPr txBox="1"/>
          <p:nvPr/>
        </p:nvSpPr>
        <p:spPr>
          <a:xfrm>
            <a:off x="9884664" y="3730752"/>
            <a:ext cx="1673352" cy="50292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Optional: one UC schema per domain</a:t>
            </a:r>
            <a:endParaRPr lang="en-US" sz="950" dirty="0"/>
          </a:p>
        </p:txBody>
      </p:sp>
      <p:sp>
        <p:nvSpPr>
          <p:cNvPr id="35" name="Text 33"/>
          <p:cNvSpPr txBox="1"/>
          <p:nvPr/>
        </p:nvSpPr>
        <p:spPr>
          <a:xfrm>
            <a:off x="502920" y="449884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THE TIGHTER THE DOMAIN, THE BETTER GENIE PERFORMS</a:t>
            </a:r>
            <a:endParaRPr lang="en-US" sz="850" dirty="0"/>
          </a:p>
        </p:txBody>
      </p:sp>
      <p:sp>
        <p:nvSpPr>
          <p:cNvPr id="36" name="Shape 34"/>
          <p:cNvSpPr/>
          <p:nvPr/>
        </p:nvSpPr>
        <p:spPr>
          <a:xfrm>
            <a:off x="502920" y="4754880"/>
            <a:ext cx="2658618" cy="1234440"/>
          </a:xfrm>
          <a:prstGeom prst="roundRect">
            <a:avLst>
              <a:gd name="adj" fmla="val 4444"/>
            </a:avLst>
          </a:prstGeom>
          <a:solidFill>
            <a:srgbClr val="E4ECF4"/>
          </a:solidFill>
          <a:ln w="9525">
            <a:solidFill>
              <a:srgbClr val="D2DDE9"/>
            </a:solidFill>
            <a:prstDash val="solid"/>
          </a:ln>
        </p:spPr>
      </p:sp>
      <p:sp>
        <p:nvSpPr>
          <p:cNvPr id="37" name="Text 35"/>
          <p:cNvSpPr txBox="1"/>
          <p:nvPr/>
        </p:nvSpPr>
        <p:spPr>
          <a:xfrm>
            <a:off x="630936" y="4846320"/>
            <a:ext cx="2402586" cy="457200"/>
          </a:xfrm>
          <a:prstGeom prst="rect">
            <a:avLst/>
          </a:prstGeom>
          <a:noFill/>
          <a:ln/>
        </p:spPr>
        <p:txBody>
          <a:bodyPr wrap="square" lIns="0" tIns="0" rIns="0" bIns="0" rtlCol="0" anchor="t"/>
          <a:lstStyle/>
          <a:p>
            <a:pPr indent="0" marL="0">
              <a:buNone/>
            </a:pPr>
            <a:r>
              <a:rPr lang="en-US" sz="2600" b="1" dirty="0">
                <a:solidFill>
                  <a:srgbClr val="13456E"/>
                </a:solidFill>
                <a:latin typeface="Cambria" pitchFamily="34" charset="0"/>
                <a:ea typeface="Cambria" pitchFamily="34" charset="-122"/>
                <a:cs typeface="Cambria" pitchFamily="34" charset="-120"/>
              </a:rPr>
              <a:t>≤ 5</a:t>
            </a:r>
            <a:endParaRPr lang="en-US" sz="2600" dirty="0"/>
          </a:p>
        </p:txBody>
      </p:sp>
      <p:sp>
        <p:nvSpPr>
          <p:cNvPr id="38" name="Text 36"/>
          <p:cNvSpPr txBox="1"/>
          <p:nvPr/>
        </p:nvSpPr>
        <p:spPr>
          <a:xfrm>
            <a:off x="630936" y="5303520"/>
            <a:ext cx="2402586" cy="594360"/>
          </a:xfrm>
          <a:prstGeom prst="rect">
            <a:avLst/>
          </a:prstGeom>
          <a:noFill/>
          <a:ln/>
        </p:spPr>
        <p:txBody>
          <a:bodyPr wrap="square" lIns="0" tIns="0" rIns="0" bIns="0" rtlCol="0" anchor="t"/>
          <a:lstStyle/>
          <a:p>
            <a:pPr indent="0" marL="0">
              <a:lnSpc>
                <a:spcPts val="1200"/>
              </a:lnSpc>
              <a:buNone/>
            </a:pPr>
            <a:r>
              <a:rPr lang="en-US" sz="950" dirty="0">
                <a:solidFill>
                  <a:srgbClr val="56677C"/>
                </a:solidFill>
                <a:latin typeface="Calibri" pitchFamily="34" charset="0"/>
                <a:ea typeface="Calibri" pitchFamily="34" charset="-122"/>
                <a:cs typeface="Calibri" pitchFamily="34" charset="-120"/>
              </a:rPr>
              <a:t>sources at first — the recommended starting size  [OFF-1] [GH-1]</a:t>
            </a:r>
            <a:endParaRPr lang="en-US" sz="950" dirty="0"/>
          </a:p>
        </p:txBody>
      </p:sp>
      <p:sp>
        <p:nvSpPr>
          <p:cNvPr id="39" name="Shape 37"/>
          <p:cNvSpPr/>
          <p:nvPr/>
        </p:nvSpPr>
        <p:spPr>
          <a:xfrm>
            <a:off x="3344418" y="4754880"/>
            <a:ext cx="2658618" cy="1234440"/>
          </a:xfrm>
          <a:prstGeom prst="roundRect">
            <a:avLst>
              <a:gd name="adj" fmla="val 4444"/>
            </a:avLst>
          </a:prstGeom>
          <a:solidFill>
            <a:srgbClr val="E4ECF4"/>
          </a:solidFill>
          <a:ln w="9525">
            <a:solidFill>
              <a:srgbClr val="D2DDE9"/>
            </a:solidFill>
            <a:prstDash val="solid"/>
          </a:ln>
        </p:spPr>
      </p:sp>
      <p:sp>
        <p:nvSpPr>
          <p:cNvPr id="40" name="Text 38"/>
          <p:cNvSpPr txBox="1"/>
          <p:nvPr/>
        </p:nvSpPr>
        <p:spPr>
          <a:xfrm>
            <a:off x="3472434" y="4846320"/>
            <a:ext cx="2402586" cy="457200"/>
          </a:xfrm>
          <a:prstGeom prst="rect">
            <a:avLst/>
          </a:prstGeom>
          <a:noFill/>
          <a:ln/>
        </p:spPr>
        <p:txBody>
          <a:bodyPr wrap="square" lIns="0" tIns="0" rIns="0" bIns="0" rtlCol="0" anchor="t"/>
          <a:lstStyle/>
          <a:p>
            <a:pPr indent="0" marL="0">
              <a:buNone/>
            </a:pPr>
            <a:r>
              <a:rPr lang="en-US" sz="2600" b="1" dirty="0">
                <a:solidFill>
                  <a:srgbClr val="13456E"/>
                </a:solidFill>
                <a:latin typeface="Cambria" pitchFamily="34" charset="0"/>
                <a:ea typeface="Cambria" pitchFamily="34" charset="-122"/>
                <a:cs typeface="Cambria" pitchFamily="34" charset="-120"/>
              </a:rPr>
              <a:t>30</a:t>
            </a:r>
            <a:endParaRPr lang="en-US" sz="2600" dirty="0"/>
          </a:p>
        </p:txBody>
      </p:sp>
      <p:sp>
        <p:nvSpPr>
          <p:cNvPr id="41" name="Text 39"/>
          <p:cNvSpPr txBox="1"/>
          <p:nvPr/>
        </p:nvSpPr>
        <p:spPr>
          <a:xfrm>
            <a:off x="3472434" y="5303520"/>
            <a:ext cx="2402586" cy="594360"/>
          </a:xfrm>
          <a:prstGeom prst="rect">
            <a:avLst/>
          </a:prstGeom>
          <a:noFill/>
          <a:ln/>
        </p:spPr>
        <p:txBody>
          <a:bodyPr wrap="square" lIns="0" tIns="0" rIns="0" bIns="0" rtlCol="0" anchor="t"/>
          <a:lstStyle/>
          <a:p>
            <a:pPr indent="0" marL="0">
              <a:lnSpc>
                <a:spcPts val="1200"/>
              </a:lnSpc>
              <a:buNone/>
            </a:pPr>
            <a:r>
              <a:rPr lang="en-US" sz="950" dirty="0">
                <a:solidFill>
                  <a:srgbClr val="56677C"/>
                </a:solidFill>
                <a:latin typeface="Calibri" pitchFamily="34" charset="0"/>
                <a:ea typeface="Calibri" pitchFamily="34" charset="-122"/>
                <a:cs typeface="Calibri" pitchFamily="34" charset="-120"/>
              </a:rPr>
              <a:t>tables, views or Metric Views: the limit to design against  [OFF-3] [GH-1]</a:t>
            </a:r>
            <a:endParaRPr lang="en-US" sz="950" dirty="0"/>
          </a:p>
        </p:txBody>
      </p:sp>
      <p:sp>
        <p:nvSpPr>
          <p:cNvPr id="42" name="Shape 40"/>
          <p:cNvSpPr/>
          <p:nvPr/>
        </p:nvSpPr>
        <p:spPr>
          <a:xfrm>
            <a:off x="6185916" y="4754880"/>
            <a:ext cx="2658618" cy="1234440"/>
          </a:xfrm>
          <a:prstGeom prst="roundRect">
            <a:avLst>
              <a:gd name="adj" fmla="val 4444"/>
            </a:avLst>
          </a:prstGeom>
          <a:solidFill>
            <a:srgbClr val="0E1B2A"/>
          </a:solidFill>
          <a:ln w="9525">
            <a:solidFill>
              <a:srgbClr val="0E1B2A"/>
            </a:solidFill>
            <a:prstDash val="solid"/>
          </a:ln>
        </p:spPr>
      </p:sp>
      <p:sp>
        <p:nvSpPr>
          <p:cNvPr id="43" name="Text 41"/>
          <p:cNvSpPr txBox="1"/>
          <p:nvPr/>
        </p:nvSpPr>
        <p:spPr>
          <a:xfrm>
            <a:off x="6313932" y="4846320"/>
            <a:ext cx="2402586" cy="457200"/>
          </a:xfrm>
          <a:prstGeom prst="rect">
            <a:avLst/>
          </a:prstGeom>
          <a:noFill/>
          <a:ln/>
        </p:spPr>
        <p:txBody>
          <a:bodyPr wrap="square" lIns="0" tIns="0" rIns="0" bIns="0" rtlCol="0" anchor="t"/>
          <a:lstStyle/>
          <a:p>
            <a:pPr indent="0" marL="0">
              <a:buNone/>
            </a:pPr>
            <a:r>
              <a:rPr lang="en-US" sz="2600" b="1" dirty="0">
                <a:solidFill>
                  <a:srgbClr val="F0A34A"/>
                </a:solidFill>
                <a:latin typeface="Cambria" pitchFamily="34" charset="0"/>
                <a:ea typeface="Cambria" pitchFamily="34" charset="-122"/>
                <a:cs typeface="Cambria" pitchFamily="34" charset="-120"/>
              </a:rPr>
              <a:t>1</a:t>
            </a:r>
            <a:endParaRPr lang="en-US" sz="2600" dirty="0"/>
          </a:p>
        </p:txBody>
      </p:sp>
      <p:sp>
        <p:nvSpPr>
          <p:cNvPr id="44" name="Text 42"/>
          <p:cNvSpPr txBox="1"/>
          <p:nvPr/>
        </p:nvSpPr>
        <p:spPr>
          <a:xfrm>
            <a:off x="6313932" y="5303520"/>
            <a:ext cx="2402586" cy="594360"/>
          </a:xfrm>
          <a:prstGeom prst="rect">
            <a:avLst/>
          </a:prstGeom>
          <a:noFill/>
          <a:ln/>
        </p:spPr>
        <p:txBody>
          <a:bodyPr wrap="square" lIns="0" tIns="0" rIns="0" bIns="0" rtlCol="0" anchor="t"/>
          <a:lstStyle/>
          <a:p>
            <a:pPr indent="0" marL="0">
              <a:lnSpc>
                <a:spcPts val="1200"/>
              </a:lnSpc>
              <a:buNone/>
            </a:pPr>
            <a:r>
              <a:rPr lang="en-US" sz="950" dirty="0">
                <a:solidFill>
                  <a:srgbClr val="B7C7D8"/>
                </a:solidFill>
                <a:latin typeface="Calibri" pitchFamily="34" charset="0"/>
                <a:ea typeface="Calibri" pitchFamily="34" charset="-122"/>
                <a:cs typeface="Calibri" pitchFamily="34" charset="-120"/>
              </a:rPr>
              <a:t>description per Agent — required for multi-agent routing  [GH-1]</a:t>
            </a:r>
            <a:endParaRPr lang="en-US" sz="950" dirty="0"/>
          </a:p>
        </p:txBody>
      </p:sp>
      <p:sp>
        <p:nvSpPr>
          <p:cNvPr id="45" name="Shape 43"/>
          <p:cNvSpPr/>
          <p:nvPr/>
        </p:nvSpPr>
        <p:spPr>
          <a:xfrm>
            <a:off x="9027414" y="4754880"/>
            <a:ext cx="2658618" cy="1234440"/>
          </a:xfrm>
          <a:prstGeom prst="roundRect">
            <a:avLst>
              <a:gd name="adj" fmla="val 4444"/>
            </a:avLst>
          </a:prstGeom>
          <a:solidFill>
            <a:srgbClr val="0E1B2A"/>
          </a:solidFill>
          <a:ln w="9525">
            <a:solidFill>
              <a:srgbClr val="0E1B2A"/>
            </a:solidFill>
            <a:prstDash val="solid"/>
          </a:ln>
        </p:spPr>
      </p:sp>
      <p:sp>
        <p:nvSpPr>
          <p:cNvPr id="46" name="Text 44"/>
          <p:cNvSpPr txBox="1"/>
          <p:nvPr/>
        </p:nvSpPr>
        <p:spPr>
          <a:xfrm>
            <a:off x="9155430" y="4846320"/>
            <a:ext cx="2402586" cy="457200"/>
          </a:xfrm>
          <a:prstGeom prst="rect">
            <a:avLst/>
          </a:prstGeom>
          <a:noFill/>
          <a:ln/>
        </p:spPr>
        <p:txBody>
          <a:bodyPr wrap="square" lIns="0" tIns="0" rIns="0" bIns="0" rtlCol="0" anchor="t"/>
          <a:lstStyle/>
          <a:p>
            <a:pPr indent="0" marL="0">
              <a:buNone/>
            </a:pPr>
            <a:r>
              <a:rPr lang="en-US" sz="2600" b="1" dirty="0">
                <a:solidFill>
                  <a:srgbClr val="F0A34A"/>
                </a:solidFill>
                <a:latin typeface="Cambria" pitchFamily="34" charset="0"/>
                <a:ea typeface="Cambria" pitchFamily="34" charset="-122"/>
                <a:cs typeface="Cambria" pitchFamily="34" charset="-120"/>
              </a:rPr>
              <a:t>3–5</a:t>
            </a:r>
            <a:endParaRPr lang="en-US" sz="2600" dirty="0"/>
          </a:p>
        </p:txBody>
      </p:sp>
      <p:sp>
        <p:nvSpPr>
          <p:cNvPr id="47" name="Text 45"/>
          <p:cNvSpPr txBox="1"/>
          <p:nvPr/>
        </p:nvSpPr>
        <p:spPr>
          <a:xfrm>
            <a:off x="9155430" y="5303520"/>
            <a:ext cx="2402586" cy="594360"/>
          </a:xfrm>
          <a:prstGeom prst="rect">
            <a:avLst/>
          </a:prstGeom>
          <a:noFill/>
          <a:ln/>
        </p:spPr>
        <p:txBody>
          <a:bodyPr wrap="square" lIns="0" tIns="0" rIns="0" bIns="0" rtlCol="0" anchor="t"/>
          <a:lstStyle/>
          <a:p>
            <a:pPr indent="0" marL="0">
              <a:lnSpc>
                <a:spcPts val="1200"/>
              </a:lnSpc>
              <a:buNone/>
            </a:pPr>
            <a:r>
              <a:rPr lang="en-US" sz="950" dirty="0">
                <a:solidFill>
                  <a:srgbClr val="B7C7D8"/>
                </a:solidFill>
                <a:latin typeface="Calibri" pitchFamily="34" charset="0"/>
                <a:ea typeface="Calibri" pitchFamily="34" charset="-122"/>
                <a:cs typeface="Calibri" pitchFamily="34" charset="-120"/>
              </a:rPr>
              <a:t>real business questions gathered before any build work  [GH-1]</a:t>
            </a:r>
            <a:endParaRPr lang="en-US" sz="950" dirty="0"/>
          </a:p>
        </p:txBody>
      </p:sp>
      <p:sp>
        <p:nvSpPr>
          <p:cNvPr id="48" name="Text 46"/>
          <p:cNvSpPr txBox="1"/>
          <p:nvPr/>
        </p:nvSpPr>
        <p:spPr>
          <a:xfrm>
            <a:off x="502920" y="6071616"/>
            <a:ext cx="11183112" cy="201168"/>
          </a:xfrm>
          <a:prstGeom prst="rect">
            <a:avLst/>
          </a:prstGeom>
          <a:noFill/>
          <a:ln/>
        </p:spPr>
        <p:txBody>
          <a:bodyPr wrap="square" lIns="0" tIns="0" rIns="0" bIns="0" rtlCol="0" anchor="t"/>
          <a:lstStyle/>
          <a:p>
            <a:pPr indent="0" marL="0">
              <a:buNone/>
            </a:pPr>
            <a:r>
              <a:rPr lang="en-US" sz="800" i="1" dirty="0">
                <a:solidFill>
                  <a:srgbClr val="93A3B5"/>
                </a:solidFill>
                <a:latin typeface="Calibri" pitchFamily="34" charset="0"/>
                <a:ea typeface="Calibri" pitchFamily="34" charset="-122"/>
                <a:cs typeface="Calibri" pitchFamily="34" charset="-120"/>
              </a:rPr>
              <a:t>Sources: Curate an effective Genie Agent [OFF-1]; create-genie-agent.md [GH-1]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2.2 REQUIREMENTS GATE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Collect all six before profiling, JSON or CLI work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9</a:t>
            </a:r>
            <a:endParaRPr lang="en-US" sz="800" dirty="0"/>
          </a:p>
        </p:txBody>
      </p:sp>
      <p:sp>
        <p:nvSpPr>
          <p:cNvPr id="6" name="Shape 4"/>
          <p:cNvSpPr/>
          <p:nvPr/>
        </p:nvSpPr>
        <p:spPr>
          <a:xfrm>
            <a:off x="502920" y="1207008"/>
            <a:ext cx="3605784" cy="1143000"/>
          </a:xfrm>
          <a:prstGeom prst="roundRect">
            <a:avLst>
              <a:gd name="adj" fmla="val 4800"/>
            </a:avLst>
          </a:prstGeom>
          <a:solidFill>
            <a:srgbClr val="E4ECF4"/>
          </a:solidFill>
          <a:ln w="9525">
            <a:solidFill>
              <a:srgbClr val="D2DDE9"/>
            </a:solidFill>
            <a:prstDash val="solid"/>
          </a:ln>
        </p:spPr>
      </p:sp>
      <p:sp>
        <p:nvSpPr>
          <p:cNvPr id="7" name="Shape 5"/>
          <p:cNvSpPr/>
          <p:nvPr/>
        </p:nvSpPr>
        <p:spPr>
          <a:xfrm>
            <a:off x="649224" y="1344168"/>
            <a:ext cx="256032" cy="256032"/>
          </a:xfrm>
          <a:prstGeom prst="roundRect">
            <a:avLst>
              <a:gd name="adj" fmla="val 17857"/>
            </a:avLst>
          </a:prstGeom>
          <a:solidFill>
            <a:srgbClr val="13456E"/>
          </a:solidFill>
          <a:ln/>
        </p:spPr>
      </p:sp>
      <p:sp>
        <p:nvSpPr>
          <p:cNvPr id="8" name="Text 6"/>
          <p:cNvSpPr txBox="1"/>
          <p:nvPr/>
        </p:nvSpPr>
        <p:spPr>
          <a:xfrm>
            <a:off x="649224"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96696" y="1335024"/>
            <a:ext cx="2965704" cy="384048"/>
          </a:xfrm>
          <a:prstGeom prst="rect">
            <a:avLst/>
          </a:prstGeom>
          <a:noFill/>
          <a:ln/>
        </p:spPr>
        <p:txBody>
          <a:bodyPr wrap="square" lIns="0" tIns="0" rIns="0" bIns="0" rtlCol="0" anchor="ctr"/>
          <a:lstStyle/>
          <a:p>
            <a:pPr indent="0" marL="0">
              <a:lnSpc>
                <a:spcPts val="1380"/>
              </a:lnSpc>
              <a:buNone/>
            </a:pPr>
            <a:r>
              <a:rPr lang="en-US" sz="1200" b="1" dirty="0">
                <a:solidFill>
                  <a:srgbClr val="0E1B2A"/>
                </a:solidFill>
                <a:latin typeface="Calibri" pitchFamily="34" charset="0"/>
                <a:ea typeface="Calibri" pitchFamily="34" charset="-122"/>
                <a:cs typeface="Calibri" pitchFamily="34" charset="-120"/>
              </a:rPr>
              <a:t>Target audience</a:t>
            </a:r>
            <a:endParaRPr lang="en-US" sz="1200" dirty="0"/>
          </a:p>
        </p:txBody>
      </p:sp>
      <p:sp>
        <p:nvSpPr>
          <p:cNvPr id="10" name="Text 8"/>
          <p:cNvSpPr txBox="1"/>
          <p:nvPr/>
        </p:nvSpPr>
        <p:spPr>
          <a:xfrm>
            <a:off x="649224" y="1773936"/>
            <a:ext cx="3313176" cy="45720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Who will use this Agent, and what is their domain fluency? Fluency decides how much disambiguation you need.</a:t>
            </a:r>
            <a:endParaRPr lang="en-US" sz="1050" dirty="0"/>
          </a:p>
        </p:txBody>
      </p:sp>
      <p:sp>
        <p:nvSpPr>
          <p:cNvPr id="11" name="Shape 9"/>
          <p:cNvSpPr/>
          <p:nvPr/>
        </p:nvSpPr>
        <p:spPr>
          <a:xfrm>
            <a:off x="4291584" y="1207008"/>
            <a:ext cx="3605784" cy="1143000"/>
          </a:xfrm>
          <a:prstGeom prst="roundRect">
            <a:avLst>
              <a:gd name="adj" fmla="val 4800"/>
            </a:avLst>
          </a:prstGeom>
          <a:solidFill>
            <a:srgbClr val="E4ECF4"/>
          </a:solidFill>
          <a:ln w="9525">
            <a:solidFill>
              <a:srgbClr val="D2DDE9"/>
            </a:solidFill>
            <a:prstDash val="solid"/>
          </a:ln>
        </p:spPr>
      </p:sp>
      <p:sp>
        <p:nvSpPr>
          <p:cNvPr id="12" name="Shape 10"/>
          <p:cNvSpPr/>
          <p:nvPr/>
        </p:nvSpPr>
        <p:spPr>
          <a:xfrm>
            <a:off x="4437888" y="1344168"/>
            <a:ext cx="256032" cy="256032"/>
          </a:xfrm>
          <a:prstGeom prst="roundRect">
            <a:avLst>
              <a:gd name="adj" fmla="val 17857"/>
            </a:avLst>
          </a:prstGeom>
          <a:solidFill>
            <a:srgbClr val="13456E"/>
          </a:solidFill>
          <a:ln/>
        </p:spPr>
      </p:sp>
      <p:sp>
        <p:nvSpPr>
          <p:cNvPr id="13" name="Text 11"/>
          <p:cNvSpPr txBox="1"/>
          <p:nvPr/>
        </p:nvSpPr>
        <p:spPr>
          <a:xfrm>
            <a:off x="4437888"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4785360" y="1335024"/>
            <a:ext cx="2965704" cy="384048"/>
          </a:xfrm>
          <a:prstGeom prst="rect">
            <a:avLst/>
          </a:prstGeom>
          <a:noFill/>
          <a:ln/>
        </p:spPr>
        <p:txBody>
          <a:bodyPr wrap="square" lIns="0" tIns="0" rIns="0" bIns="0" rtlCol="0" anchor="ctr"/>
          <a:lstStyle/>
          <a:p>
            <a:pPr indent="0" marL="0">
              <a:lnSpc>
                <a:spcPts val="1380"/>
              </a:lnSpc>
              <a:buNone/>
            </a:pPr>
            <a:r>
              <a:rPr lang="en-US" sz="1200" b="1" dirty="0">
                <a:solidFill>
                  <a:srgbClr val="0E1B2A"/>
                </a:solidFill>
                <a:latin typeface="Calibri" pitchFamily="34" charset="0"/>
                <a:ea typeface="Calibri" pitchFamily="34" charset="-122"/>
                <a:cs typeface="Calibri" pitchFamily="34" charset="-120"/>
              </a:rPr>
              <a:t>Agent purpose</a:t>
            </a:r>
            <a:endParaRPr lang="en-US" sz="1200" dirty="0"/>
          </a:p>
        </p:txBody>
      </p:sp>
      <p:sp>
        <p:nvSpPr>
          <p:cNvPr id="15" name="Text 13"/>
          <p:cNvSpPr txBox="1"/>
          <p:nvPr/>
        </p:nvSpPr>
        <p:spPr>
          <a:xfrm>
            <a:off x="4437888" y="1773936"/>
            <a:ext cx="3313176" cy="45720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Which business area or data domain does it cover? This becomes the Agent description — the routing key.</a:t>
            </a:r>
            <a:endParaRPr lang="en-US" sz="1050" dirty="0"/>
          </a:p>
        </p:txBody>
      </p:sp>
      <p:sp>
        <p:nvSpPr>
          <p:cNvPr id="16" name="Shape 14"/>
          <p:cNvSpPr/>
          <p:nvPr/>
        </p:nvSpPr>
        <p:spPr>
          <a:xfrm>
            <a:off x="8080248" y="1207008"/>
            <a:ext cx="3605784" cy="1143000"/>
          </a:xfrm>
          <a:prstGeom prst="roundRect">
            <a:avLst>
              <a:gd name="adj" fmla="val 4800"/>
            </a:avLst>
          </a:prstGeom>
          <a:solidFill>
            <a:srgbClr val="E4ECF4"/>
          </a:solidFill>
          <a:ln w="9525">
            <a:solidFill>
              <a:srgbClr val="D2DDE9"/>
            </a:solidFill>
            <a:prstDash val="solid"/>
          </a:ln>
        </p:spPr>
      </p:sp>
      <p:sp>
        <p:nvSpPr>
          <p:cNvPr id="17" name="Shape 15"/>
          <p:cNvSpPr/>
          <p:nvPr/>
        </p:nvSpPr>
        <p:spPr>
          <a:xfrm>
            <a:off x="8226552" y="1344168"/>
            <a:ext cx="256032" cy="256032"/>
          </a:xfrm>
          <a:prstGeom prst="roundRect">
            <a:avLst>
              <a:gd name="adj" fmla="val 17857"/>
            </a:avLst>
          </a:prstGeom>
          <a:solidFill>
            <a:srgbClr val="13456E"/>
          </a:solidFill>
          <a:ln/>
        </p:spPr>
      </p:sp>
      <p:sp>
        <p:nvSpPr>
          <p:cNvPr id="18" name="Text 16"/>
          <p:cNvSpPr txBox="1"/>
          <p:nvPr/>
        </p:nvSpPr>
        <p:spPr>
          <a:xfrm>
            <a:off x="8226552"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8574024" y="1335024"/>
            <a:ext cx="2965704" cy="384048"/>
          </a:xfrm>
          <a:prstGeom prst="rect">
            <a:avLst/>
          </a:prstGeom>
          <a:noFill/>
          <a:ln/>
        </p:spPr>
        <p:txBody>
          <a:bodyPr wrap="square" lIns="0" tIns="0" rIns="0" bIns="0" rtlCol="0" anchor="ctr"/>
          <a:lstStyle/>
          <a:p>
            <a:pPr indent="0" marL="0">
              <a:lnSpc>
                <a:spcPts val="1380"/>
              </a:lnSpc>
              <a:buNone/>
            </a:pPr>
            <a:r>
              <a:rPr lang="en-US" sz="1200" b="1" dirty="0">
                <a:solidFill>
                  <a:srgbClr val="0E1B2A"/>
                </a:solidFill>
                <a:latin typeface="Calibri" pitchFamily="34" charset="0"/>
                <a:ea typeface="Calibri" pitchFamily="34" charset="-122"/>
                <a:cs typeface="Calibri" pitchFamily="34" charset="-120"/>
              </a:rPr>
              <a:t>3–5 real business questions</a:t>
            </a:r>
            <a:endParaRPr lang="en-US" sz="1200" dirty="0"/>
          </a:p>
        </p:txBody>
      </p:sp>
      <p:sp>
        <p:nvSpPr>
          <p:cNvPr id="20" name="Text 18"/>
          <p:cNvSpPr txBox="1"/>
          <p:nvPr/>
        </p:nvSpPr>
        <p:spPr>
          <a:xfrm>
            <a:off x="8226552" y="1773936"/>
            <a:ext cx="3313176" cy="45720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Concrete questions users will ask, not generic ones. Everything downstream is scored against these.</a:t>
            </a:r>
            <a:endParaRPr lang="en-US" sz="1050" dirty="0"/>
          </a:p>
        </p:txBody>
      </p:sp>
      <p:sp>
        <p:nvSpPr>
          <p:cNvPr id="21" name="Shape 19"/>
          <p:cNvSpPr/>
          <p:nvPr/>
        </p:nvSpPr>
        <p:spPr>
          <a:xfrm>
            <a:off x="502920" y="2532888"/>
            <a:ext cx="3605784" cy="1143000"/>
          </a:xfrm>
          <a:prstGeom prst="roundRect">
            <a:avLst>
              <a:gd name="adj" fmla="val 4800"/>
            </a:avLst>
          </a:prstGeom>
          <a:solidFill>
            <a:srgbClr val="E4ECF4"/>
          </a:solidFill>
          <a:ln w="9525">
            <a:solidFill>
              <a:srgbClr val="D2DDE9"/>
            </a:solidFill>
            <a:prstDash val="solid"/>
          </a:ln>
        </p:spPr>
      </p:sp>
      <p:sp>
        <p:nvSpPr>
          <p:cNvPr id="22" name="Shape 20"/>
          <p:cNvSpPr/>
          <p:nvPr/>
        </p:nvSpPr>
        <p:spPr>
          <a:xfrm>
            <a:off x="649224" y="2670048"/>
            <a:ext cx="256032" cy="256032"/>
          </a:xfrm>
          <a:prstGeom prst="roundRect">
            <a:avLst>
              <a:gd name="adj" fmla="val 17857"/>
            </a:avLst>
          </a:prstGeom>
          <a:solidFill>
            <a:srgbClr val="13456E"/>
          </a:solidFill>
          <a:ln/>
        </p:spPr>
      </p:sp>
      <p:sp>
        <p:nvSpPr>
          <p:cNvPr id="23" name="Text 21"/>
          <p:cNvSpPr txBox="1"/>
          <p:nvPr/>
        </p:nvSpPr>
        <p:spPr>
          <a:xfrm>
            <a:off x="649224" y="267004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996696" y="2660904"/>
            <a:ext cx="2965704" cy="384048"/>
          </a:xfrm>
          <a:prstGeom prst="rect">
            <a:avLst/>
          </a:prstGeom>
          <a:noFill/>
          <a:ln/>
        </p:spPr>
        <p:txBody>
          <a:bodyPr wrap="square" lIns="0" tIns="0" rIns="0" bIns="0" rtlCol="0" anchor="ctr"/>
          <a:lstStyle/>
          <a:p>
            <a:pPr indent="0" marL="0">
              <a:lnSpc>
                <a:spcPts val="1380"/>
              </a:lnSpc>
              <a:buNone/>
            </a:pPr>
            <a:r>
              <a:rPr lang="en-US" sz="1200" b="1" dirty="0">
                <a:solidFill>
                  <a:srgbClr val="0E1B2A"/>
                </a:solidFill>
                <a:latin typeface="Calibri" pitchFamily="34" charset="0"/>
                <a:ea typeface="Calibri" pitchFamily="34" charset="-122"/>
                <a:cs typeface="Calibri" pitchFamily="34" charset="-120"/>
              </a:rPr>
              <a:t>Known data sources</a:t>
            </a:r>
            <a:endParaRPr lang="en-US" sz="1200" dirty="0"/>
          </a:p>
        </p:txBody>
      </p:sp>
      <p:sp>
        <p:nvSpPr>
          <p:cNvPr id="25" name="Text 23"/>
          <p:cNvSpPr txBox="1"/>
          <p:nvPr/>
        </p:nvSpPr>
        <p:spPr>
          <a:xfrm>
            <a:off x="649224" y="3099816"/>
            <a:ext cx="3313176" cy="45720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Catalog / schema / table names, or keywords to search for when the names are not yet known.</a:t>
            </a:r>
            <a:endParaRPr lang="en-US" sz="1050" dirty="0"/>
          </a:p>
        </p:txBody>
      </p:sp>
      <p:sp>
        <p:nvSpPr>
          <p:cNvPr id="26" name="Shape 24"/>
          <p:cNvSpPr/>
          <p:nvPr/>
        </p:nvSpPr>
        <p:spPr>
          <a:xfrm>
            <a:off x="4291584" y="2532888"/>
            <a:ext cx="3605784" cy="1143000"/>
          </a:xfrm>
          <a:prstGeom prst="roundRect">
            <a:avLst>
              <a:gd name="adj" fmla="val 4800"/>
            </a:avLst>
          </a:prstGeom>
          <a:solidFill>
            <a:srgbClr val="F2F5F9"/>
          </a:solidFill>
          <a:ln w="9525">
            <a:solidFill>
              <a:srgbClr val="D2DDE9"/>
            </a:solidFill>
            <a:prstDash val="solid"/>
          </a:ln>
        </p:spPr>
      </p:sp>
      <p:sp>
        <p:nvSpPr>
          <p:cNvPr id="27" name="Shape 25"/>
          <p:cNvSpPr/>
          <p:nvPr/>
        </p:nvSpPr>
        <p:spPr>
          <a:xfrm>
            <a:off x="4437888" y="2670048"/>
            <a:ext cx="256032" cy="256032"/>
          </a:xfrm>
          <a:prstGeom prst="roundRect">
            <a:avLst>
              <a:gd name="adj" fmla="val 17857"/>
            </a:avLst>
          </a:prstGeom>
          <a:solidFill>
            <a:srgbClr val="13456E"/>
          </a:solidFill>
          <a:ln/>
        </p:spPr>
      </p:sp>
      <p:sp>
        <p:nvSpPr>
          <p:cNvPr id="28" name="Text 26"/>
          <p:cNvSpPr txBox="1"/>
          <p:nvPr/>
        </p:nvSpPr>
        <p:spPr>
          <a:xfrm>
            <a:off x="4437888" y="267004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4785360" y="2660904"/>
            <a:ext cx="2965704" cy="384048"/>
          </a:xfrm>
          <a:prstGeom prst="rect">
            <a:avLst/>
          </a:prstGeom>
          <a:noFill/>
          <a:ln/>
        </p:spPr>
        <p:txBody>
          <a:bodyPr wrap="square" lIns="0" tIns="0" rIns="0" bIns="0" rtlCol="0" anchor="ctr"/>
          <a:lstStyle/>
          <a:p>
            <a:pPr indent="0" marL="0">
              <a:lnSpc>
                <a:spcPts val="1380"/>
              </a:lnSpc>
              <a:buNone/>
            </a:pPr>
            <a:r>
              <a:rPr lang="en-US" sz="1200" b="1" dirty="0">
                <a:solidFill>
                  <a:srgbClr val="0E1B2A"/>
                </a:solidFill>
                <a:latin typeface="Calibri" pitchFamily="34" charset="0"/>
                <a:ea typeface="Calibri" pitchFamily="34" charset="-122"/>
                <a:cs typeface="Calibri" pitchFamily="34" charset="-120"/>
              </a:rPr>
              <a:t>Terminology &amp; KPI definitions</a:t>
            </a:r>
            <a:endParaRPr lang="en-US" sz="1200" dirty="0"/>
          </a:p>
        </p:txBody>
      </p:sp>
      <p:sp>
        <p:nvSpPr>
          <p:cNvPr id="30" name="Text 28"/>
          <p:cNvSpPr txBox="1"/>
          <p:nvPr/>
        </p:nvSpPr>
        <p:spPr>
          <a:xfrm>
            <a:off x="4437888" y="3099816"/>
            <a:ext cx="3313176" cy="45720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Business terms, fiscal conventions, default filters. Never invent these — they are the ones you cannot guess.</a:t>
            </a:r>
            <a:endParaRPr lang="en-US" sz="1050" dirty="0"/>
          </a:p>
        </p:txBody>
      </p:sp>
      <p:sp>
        <p:nvSpPr>
          <p:cNvPr id="31" name="Shape 29"/>
          <p:cNvSpPr/>
          <p:nvPr/>
        </p:nvSpPr>
        <p:spPr>
          <a:xfrm>
            <a:off x="8080248" y="2532888"/>
            <a:ext cx="3605784" cy="1143000"/>
          </a:xfrm>
          <a:prstGeom prst="roundRect">
            <a:avLst>
              <a:gd name="adj" fmla="val 4800"/>
            </a:avLst>
          </a:prstGeom>
          <a:solidFill>
            <a:srgbClr val="F2F5F9"/>
          </a:solidFill>
          <a:ln w="9525">
            <a:solidFill>
              <a:srgbClr val="D2DDE9"/>
            </a:solidFill>
            <a:prstDash val="solid"/>
          </a:ln>
        </p:spPr>
      </p:sp>
      <p:sp>
        <p:nvSpPr>
          <p:cNvPr id="32" name="Shape 30"/>
          <p:cNvSpPr/>
          <p:nvPr/>
        </p:nvSpPr>
        <p:spPr>
          <a:xfrm>
            <a:off x="8226552" y="2670048"/>
            <a:ext cx="256032" cy="256032"/>
          </a:xfrm>
          <a:prstGeom prst="roundRect">
            <a:avLst>
              <a:gd name="adj" fmla="val 17857"/>
            </a:avLst>
          </a:prstGeom>
          <a:solidFill>
            <a:srgbClr val="13456E"/>
          </a:solidFill>
          <a:ln/>
        </p:spPr>
      </p:sp>
      <p:sp>
        <p:nvSpPr>
          <p:cNvPr id="33" name="Text 31"/>
          <p:cNvSpPr txBox="1"/>
          <p:nvPr/>
        </p:nvSpPr>
        <p:spPr>
          <a:xfrm>
            <a:off x="8226552" y="267004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4" name="Text 32"/>
          <p:cNvSpPr txBox="1"/>
          <p:nvPr/>
        </p:nvSpPr>
        <p:spPr>
          <a:xfrm>
            <a:off x="8574024" y="2660904"/>
            <a:ext cx="2965704" cy="384048"/>
          </a:xfrm>
          <a:prstGeom prst="rect">
            <a:avLst/>
          </a:prstGeom>
          <a:noFill/>
          <a:ln/>
        </p:spPr>
        <p:txBody>
          <a:bodyPr wrap="square" lIns="0" tIns="0" rIns="0" bIns="0" rtlCol="0" anchor="ctr"/>
          <a:lstStyle/>
          <a:p>
            <a:pPr indent="0" marL="0">
              <a:lnSpc>
                <a:spcPts val="1380"/>
              </a:lnSpc>
              <a:buNone/>
            </a:pPr>
            <a:r>
              <a:rPr lang="en-US" sz="1200" b="1" dirty="0">
                <a:solidFill>
                  <a:srgbClr val="0E1B2A"/>
                </a:solidFill>
                <a:latin typeface="Calibri" pitchFamily="34" charset="0"/>
                <a:ea typeface="Calibri" pitchFamily="34" charset="-122"/>
                <a:cs typeface="Calibri" pitchFamily="34" charset="-120"/>
              </a:rPr>
              <a:t>Benchmark intent</a:t>
            </a:r>
            <a:endParaRPr lang="en-US" sz="1200" dirty="0"/>
          </a:p>
        </p:txBody>
      </p:sp>
      <p:sp>
        <p:nvSpPr>
          <p:cNvPr id="35" name="Text 33"/>
          <p:cNvSpPr txBox="1"/>
          <p:nvPr/>
        </p:nvSpPr>
        <p:spPr>
          <a:xfrm>
            <a:off x="8226552" y="3099816"/>
            <a:ext cx="3313176" cy="45720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Should this Agent be evaluated? Chat mode, Agent mode, or none? This changes how ground truth is authored.</a:t>
            </a:r>
            <a:endParaRPr lang="en-US" sz="1050" dirty="0"/>
          </a:p>
        </p:txBody>
      </p:sp>
      <p:sp>
        <p:nvSpPr>
          <p:cNvPr id="36" name="Shape 34"/>
          <p:cNvSpPr/>
          <p:nvPr/>
        </p:nvSpPr>
        <p:spPr>
          <a:xfrm>
            <a:off x="502920" y="3858768"/>
            <a:ext cx="11183112" cy="566928"/>
          </a:xfrm>
          <a:prstGeom prst="roundRect">
            <a:avLst>
              <a:gd name="adj" fmla="val 9677"/>
            </a:avLst>
          </a:prstGeom>
          <a:solidFill>
            <a:srgbClr val="0E1B2A"/>
          </a:solidFill>
          <a:ln w="9525">
            <a:solidFill>
              <a:srgbClr val="0E1B2A"/>
            </a:solidFill>
            <a:prstDash val="solid"/>
          </a:ln>
        </p:spPr>
      </p:sp>
      <p:sp>
        <p:nvSpPr>
          <p:cNvPr id="37" name="Shape 35"/>
          <p:cNvSpPr/>
          <p:nvPr/>
        </p:nvSpPr>
        <p:spPr>
          <a:xfrm>
            <a:off x="685800" y="4005072"/>
            <a:ext cx="274320" cy="274320"/>
          </a:xfrm>
          <a:prstGeom prst="roundRect">
            <a:avLst>
              <a:gd name="adj" fmla="val 16667"/>
            </a:avLst>
          </a:prstGeom>
          <a:solidFill>
            <a:srgbClr val="E8552D"/>
          </a:solidFill>
          <a:ln/>
        </p:spPr>
      </p:sp>
      <p:sp>
        <p:nvSpPr>
          <p:cNvPr id="38" name="Text 36"/>
          <p:cNvSpPr txBox="1"/>
          <p:nvPr/>
        </p:nvSpPr>
        <p:spPr>
          <a:xfrm>
            <a:off x="685800" y="40050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9" name="Text 37"/>
          <p:cNvSpPr txBox="1"/>
          <p:nvPr/>
        </p:nvSpPr>
        <p:spPr>
          <a:xfrm>
            <a:off x="1106424" y="3950208"/>
            <a:ext cx="10396728" cy="384048"/>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Items 1–4 are the hard minimum. If the requester provides partial information, ask for what is missing rather than assuming.  [GH-1]</a:t>
            </a:r>
            <a:endParaRPr lang="en-US" sz="1050" dirty="0"/>
          </a:p>
        </p:txBody>
      </p:sp>
      <p:sp>
        <p:nvSpPr>
          <p:cNvPr id="40" name="Text 38"/>
          <p:cNvSpPr txBox="1"/>
          <p:nvPr/>
        </p:nvSpPr>
        <p:spPr>
          <a:xfrm>
            <a:off x="502920" y="4626864"/>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NON-NEGOTIABLE RULES WHILE DESIGNING  [GH-1]</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4882896"/>
          <a:ext cx="11183112" cy="914400"/>
        </p:xfrm>
        <a:graphic>
          <a:graphicData uri="http://schemas.openxmlformats.org/drawingml/2006/table">
            <a:tbl>
              <a:tblPr/>
              <a:tblGrid>
                <a:gridCol w="3931920"/>
                <a:gridCol w="725119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Rule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0E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means in practice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0E1B2A"/>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Bounded read-only SQL only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SELECT, WITH, SHOW, DESCRIBE, EXPLAIN, information_schema — nothing else during design.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Never mutate Unity Catalog</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No CREATE, ALTER, DROP, INSERT, UPDATE, DELETE, MERGE or COPY INTO against objects or data.</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No Metric View changes here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Creating or altering Metric Views belongs to the databricks-metric-views skill, not to agent design.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No live agent without approval</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Do not create or update a live Genie Agent without explicit user approval; validate benchmark SQL by read-only execution or EXPLAIN first.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Never invent definitions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Business definitions, joins, fiscal calendars and metric formulas come from the user — ask, do not infer.</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2.3 PREREQUISITES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What must be true before an agent can exist [OFF-3]</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10</a:t>
            </a:r>
            <a:endParaRPr lang="en-US" sz="800" dirty="0"/>
          </a:p>
        </p:txBody>
      </p:sp>
      <p:sp>
        <p:nvSpPr>
          <p:cNvPr id="6" name="Shape 4"/>
          <p:cNvSpPr/>
          <p:nvPr/>
        </p:nvSpPr>
        <p:spPr>
          <a:xfrm>
            <a:off x="502920" y="1207008"/>
            <a:ext cx="3605784" cy="1371600"/>
          </a:xfrm>
          <a:prstGeom prst="roundRect">
            <a:avLst>
              <a:gd name="adj" fmla="val 4000"/>
            </a:avLst>
          </a:prstGeom>
          <a:solidFill>
            <a:srgbClr val="F2F5F9"/>
          </a:solidFill>
          <a:ln w="9525">
            <a:solidFill>
              <a:srgbClr val="D2DDE9"/>
            </a:solidFill>
            <a:prstDash val="solid"/>
          </a:ln>
        </p:spPr>
      </p:sp>
      <p:sp>
        <p:nvSpPr>
          <p:cNvPr id="7" name="Text 5"/>
          <p:cNvSpPr txBox="1"/>
          <p:nvPr/>
        </p:nvSpPr>
        <p:spPr>
          <a:xfrm>
            <a:off x="649224" y="1325880"/>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Unity Catalog</a:t>
            </a:r>
            <a:endParaRPr lang="en-US" sz="1200" dirty="0"/>
          </a:p>
        </p:txBody>
      </p:sp>
      <p:sp>
        <p:nvSpPr>
          <p:cNvPr id="8" name="Text 6"/>
          <p:cNvSpPr txBox="1"/>
          <p:nvPr/>
        </p:nvSpPr>
        <p:spPr>
          <a:xfrm>
            <a:off x="649224" y="1664208"/>
            <a:ext cx="3313176" cy="795528"/>
          </a:xfrm>
          <a:prstGeom prst="rect">
            <a:avLst/>
          </a:prstGeom>
          <a:noFill/>
          <a:ln/>
        </p:spPr>
        <p:txBody>
          <a:bodyPr wrap="square" lIns="0" tIns="0" rIns="0" bIns="0" rtlCol="0" anchor="t"/>
          <a:lstStyle/>
          <a:p>
            <a:pPr indent="0" marL="0">
              <a:lnSpc>
                <a:spcPts val="1350"/>
              </a:lnSpc>
              <a:buNone/>
            </a:pPr>
            <a:r>
              <a:rPr lang="en-US" sz="1050" dirty="0">
                <a:solidFill>
                  <a:srgbClr val="2B3A4C"/>
                </a:solidFill>
                <a:latin typeface="Calibri" pitchFamily="34" charset="0"/>
                <a:ea typeface="Calibri" pitchFamily="34" charset="-122"/>
                <a:cs typeface="Calibri" pitchFamily="34" charset="-120"/>
              </a:rPr>
              <a:t>The data must be registered to Unity Catalog. Nothing outside UC is addressable by an agent.</a:t>
            </a:r>
            <a:endParaRPr lang="en-US" sz="1050" dirty="0"/>
          </a:p>
        </p:txBody>
      </p:sp>
      <p:sp>
        <p:nvSpPr>
          <p:cNvPr id="9" name="Shape 7"/>
          <p:cNvSpPr/>
          <p:nvPr/>
        </p:nvSpPr>
        <p:spPr>
          <a:xfrm>
            <a:off x="4291584" y="1207008"/>
            <a:ext cx="3605784" cy="1371600"/>
          </a:xfrm>
          <a:prstGeom prst="roundRect">
            <a:avLst>
              <a:gd name="adj" fmla="val 4000"/>
            </a:avLst>
          </a:prstGeom>
          <a:solidFill>
            <a:srgbClr val="F2F5F9"/>
          </a:solidFill>
          <a:ln w="9525">
            <a:solidFill>
              <a:srgbClr val="D2DDE9"/>
            </a:solidFill>
            <a:prstDash val="solid"/>
          </a:ln>
        </p:spPr>
      </p:sp>
      <p:sp>
        <p:nvSpPr>
          <p:cNvPr id="10" name="Text 8"/>
          <p:cNvSpPr txBox="1"/>
          <p:nvPr/>
        </p:nvSpPr>
        <p:spPr>
          <a:xfrm>
            <a:off x="4437888" y="1325880"/>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Compute</a:t>
            </a:r>
            <a:endParaRPr lang="en-US" sz="1200" dirty="0"/>
          </a:p>
        </p:txBody>
      </p:sp>
      <p:sp>
        <p:nvSpPr>
          <p:cNvPr id="11" name="Text 9"/>
          <p:cNvSpPr txBox="1"/>
          <p:nvPr/>
        </p:nvSpPr>
        <p:spPr>
          <a:xfrm>
            <a:off x="4437888" y="1664208"/>
            <a:ext cx="3313176" cy="795528"/>
          </a:xfrm>
          <a:prstGeom prst="rect">
            <a:avLst/>
          </a:prstGeom>
          <a:noFill/>
          <a:ln/>
        </p:spPr>
        <p:txBody>
          <a:bodyPr wrap="square" lIns="0" tIns="0" rIns="0" bIns="0" rtlCol="0" anchor="t"/>
          <a:lstStyle/>
          <a:p>
            <a:pPr indent="0" marL="0">
              <a:lnSpc>
                <a:spcPts val="1350"/>
              </a:lnSpc>
              <a:buNone/>
            </a:pPr>
            <a:r>
              <a:rPr lang="en-US" sz="1050" dirty="0">
                <a:solidFill>
                  <a:srgbClr val="2B3A4C"/>
                </a:solidFill>
                <a:latin typeface="Calibri" pitchFamily="34" charset="0"/>
                <a:ea typeface="Calibri" pitchFamily="34" charset="-122"/>
                <a:cs typeface="Calibri" pitchFamily="34" charset="-120"/>
              </a:rPr>
              <a:t>A pro or serverless SQL warehouse, with at least CAN USE on it. Databricks recommends serverless for optimal performance.</a:t>
            </a:r>
            <a:endParaRPr lang="en-US" sz="1050" dirty="0"/>
          </a:p>
        </p:txBody>
      </p:sp>
      <p:sp>
        <p:nvSpPr>
          <p:cNvPr id="12" name="Shape 10"/>
          <p:cNvSpPr/>
          <p:nvPr/>
        </p:nvSpPr>
        <p:spPr>
          <a:xfrm>
            <a:off x="8080248" y="1207008"/>
            <a:ext cx="3605784" cy="1371600"/>
          </a:xfrm>
          <a:prstGeom prst="roundRect">
            <a:avLst>
              <a:gd name="adj" fmla="val 4000"/>
            </a:avLst>
          </a:prstGeom>
          <a:solidFill>
            <a:srgbClr val="F2F5F9"/>
          </a:solidFill>
          <a:ln w="9525">
            <a:solidFill>
              <a:srgbClr val="D2DDE9"/>
            </a:solidFill>
            <a:prstDash val="solid"/>
          </a:ln>
        </p:spPr>
      </p:sp>
      <p:sp>
        <p:nvSpPr>
          <p:cNvPr id="13" name="Text 11"/>
          <p:cNvSpPr txBox="1"/>
          <p:nvPr/>
        </p:nvSpPr>
        <p:spPr>
          <a:xfrm>
            <a:off x="8226552" y="1325880"/>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Account setup</a:t>
            </a:r>
            <a:endParaRPr lang="en-US" sz="1200" dirty="0"/>
          </a:p>
        </p:txBody>
      </p:sp>
      <p:sp>
        <p:nvSpPr>
          <p:cNvPr id="14" name="Text 12"/>
          <p:cNvSpPr txBox="1"/>
          <p:nvPr/>
        </p:nvSpPr>
        <p:spPr>
          <a:xfrm>
            <a:off x="8226552" y="1664208"/>
            <a:ext cx="3313176" cy="795528"/>
          </a:xfrm>
          <a:prstGeom prst="rect">
            <a:avLst/>
          </a:prstGeom>
          <a:noFill/>
          <a:ln/>
        </p:spPr>
        <p:txBody>
          <a:bodyPr wrap="square" lIns="0" tIns="0" rIns="0" bIns="0" rtlCol="0" anchor="t"/>
          <a:lstStyle/>
          <a:p>
            <a:pPr indent="0" marL="0">
              <a:lnSpc>
                <a:spcPts val="1350"/>
              </a:lnSpc>
              <a:buNone/>
            </a:pPr>
            <a:r>
              <a:rPr lang="en-US" sz="1050" dirty="0">
                <a:solidFill>
                  <a:srgbClr val="2B3A4C"/>
                </a:solidFill>
                <a:latin typeface="Calibri" pitchFamily="34" charset="0"/>
                <a:ea typeface="Calibri" pitchFamily="34" charset="-122"/>
                <a:cs typeface="Calibri" pitchFamily="34" charset="-120"/>
              </a:rPr>
              <a:t>Genie uses partner-powered AI features, which must be enabled at both account and workspace level.</a:t>
            </a:r>
            <a:endParaRPr lang="en-US" sz="1050" dirty="0"/>
          </a:p>
        </p:txBody>
      </p:sp>
      <p:sp>
        <p:nvSpPr>
          <p:cNvPr id="15" name="Text 13"/>
          <p:cNvSpPr txBox="1"/>
          <p:nvPr/>
        </p:nvSpPr>
        <p:spPr>
          <a:xfrm>
            <a:off x="502920" y="276148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PERMISSION MATRIX  [OFF-3]</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3017520"/>
          <a:ext cx="11183112" cy="914400"/>
        </p:xfrm>
        <a:graphic>
          <a:graphicData uri="http://schemas.openxmlformats.org/drawingml/2006/table">
            <a:tbl>
              <a:tblPr/>
              <a:tblGrid>
                <a:gridCol w="2011680"/>
                <a:gridCol w="2651760"/>
                <a:gridCol w="2148840"/>
                <a:gridCol w="2103120"/>
                <a:gridCol w="226771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Entitlement</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Warehouse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Agent permission</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Create or edit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Databricks SQL entitlement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CAN USE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SELECT on the data</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CAN EDIT (creators get CAN MANAGE)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Consume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Consumer access or Databricks SQL</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None required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SELECT on all data objects used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CAN VIEW / CAN RUN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bl>
          </a:graphicData>
        </a:graphic>
      </p:graphicFrame>
      <p:sp>
        <p:nvSpPr>
          <p:cNvPr id="17" name="Shape 14"/>
          <p:cNvSpPr/>
          <p:nvPr/>
        </p:nvSpPr>
        <p:spPr>
          <a:xfrm>
            <a:off x="502920" y="4041648"/>
            <a:ext cx="5486400" cy="2249424"/>
          </a:xfrm>
          <a:prstGeom prst="roundRect">
            <a:avLst>
              <a:gd name="adj" fmla="val 2439"/>
            </a:avLst>
          </a:prstGeom>
          <a:solidFill>
            <a:srgbClr val="0E1B2A"/>
          </a:solidFill>
          <a:ln w="9525">
            <a:solidFill>
              <a:srgbClr val="0E1B2A"/>
            </a:solidFill>
            <a:prstDash val="solid"/>
          </a:ln>
        </p:spPr>
      </p:sp>
      <p:sp>
        <p:nvSpPr>
          <p:cNvPr id="18" name="Text 15"/>
          <p:cNvSpPr txBox="1"/>
          <p:nvPr/>
        </p:nvSpPr>
        <p:spPr>
          <a:xfrm>
            <a:off x="704088" y="4206240"/>
            <a:ext cx="5029200" cy="2743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Two credentials, one agent</a:t>
            </a:r>
            <a:endParaRPr lang="en-US" sz="1600" dirty="0"/>
          </a:p>
        </p:txBody>
      </p:sp>
      <p:sp>
        <p:nvSpPr>
          <p:cNvPr id="19" name="Text 16"/>
          <p:cNvSpPr txBox="1"/>
          <p:nvPr/>
        </p:nvSpPr>
        <p:spPr>
          <a:xfrm>
            <a:off x="704088" y="4553712"/>
            <a:ext cx="5084064" cy="1645920"/>
          </a:xfrm>
          <a:prstGeom prst="rect">
            <a:avLst/>
          </a:prstGeom>
          <a:noFill/>
          <a:ln/>
        </p:spPr>
        <p:txBody>
          <a:bodyPr wrap="square" lIns="0" tIns="0" rIns="0" bIns="0" rtlCol="0" anchor="t"/>
          <a:lstStyle/>
          <a:p>
            <a:pPr indent="0" marL="0">
              <a:lnSpc>
                <a:spcPts val="1400"/>
              </a:lnSpc>
              <a:buNone/>
            </a:pPr>
            <a:r>
              <a:rPr lang="en-US" sz="1050" b="1" dirty="0">
                <a:solidFill>
                  <a:srgbClr val="F0A34A"/>
                </a:solidFill>
                <a:latin typeface="Calibri" pitchFamily="34" charset="0"/>
                <a:ea typeface="Calibri" pitchFamily="34" charset="-122"/>
                <a:cs typeface="Calibri" pitchFamily="34" charset="-120"/>
              </a:rPr>
              <a:t>Compute access</a:t>
            </a:r>
            <a:endParaRPr lang="en-US" sz="1050" dirty="0"/>
          </a:p>
          <a:p>
            <a:pPr indent="0" marL="0">
              <a:lnSpc>
                <a:spcPts val="1400"/>
              </a:lnSpc>
              <a:buNone/>
            </a:pPr>
            <a:r>
              <a:rPr lang="en-US" sz="1050" dirty="0">
                <a:solidFill>
                  <a:srgbClr val="B7C7D8"/>
                </a:solidFill>
                <a:latin typeface="Calibri" pitchFamily="34" charset="0"/>
                <a:ea typeface="Calibri" pitchFamily="34" charset="-122"/>
                <a:cs typeface="Calibri" pitchFamily="34" charset="-120"/>
              </a:rPr>
              <a:t>uses the embedded credentials of the author who configured the warehouse.</a:t>
            </a:r>
            <a:endParaRPr lang="en-US" sz="1050" dirty="0"/>
          </a:p>
          <a:p>
            <a:pPr indent="0" marL="0">
              <a:lnSpc>
                <a:spcPts val="1400"/>
              </a:lnSpc>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lnSpc>
                <a:spcPts val="1400"/>
              </a:lnSpc>
              <a:buNone/>
            </a:pPr>
            <a:r>
              <a:rPr lang="en-US" sz="1050" b="1" dirty="0">
                <a:solidFill>
                  <a:srgbClr val="F0A34A"/>
                </a:solidFill>
                <a:latin typeface="Calibri" pitchFamily="34" charset="0"/>
                <a:ea typeface="Calibri" pitchFamily="34" charset="-122"/>
                <a:cs typeface="Calibri" pitchFamily="34" charset="-120"/>
              </a:rPr>
              <a:t>Data access</a:t>
            </a:r>
            <a:endParaRPr lang="en-US" sz="1050" dirty="0"/>
          </a:p>
          <a:p>
            <a:pPr indent="0" marL="0">
              <a:lnSpc>
                <a:spcPts val="1400"/>
              </a:lnSpc>
              <a:buNone/>
            </a:pPr>
            <a:r>
              <a:rPr lang="en-US" sz="1050" dirty="0">
                <a:solidFill>
                  <a:srgbClr val="B7C7D8"/>
                </a:solidFill>
                <a:latin typeface="Calibri" pitchFamily="34" charset="0"/>
                <a:ea typeface="Calibri" pitchFamily="34" charset="-122"/>
                <a:cs typeface="Calibri" pitchFamily="34" charset="-120"/>
              </a:rPr>
              <a:t>is always evaluated as the end user's own Unity Catalog identity. Any question about data a user cannot access generates an empty response.</a:t>
            </a:r>
            <a:endParaRPr lang="en-US" sz="1050" dirty="0"/>
          </a:p>
        </p:txBody>
      </p:sp>
      <p:sp>
        <p:nvSpPr>
          <p:cNvPr id="20" name="Shape 17"/>
          <p:cNvSpPr/>
          <p:nvPr/>
        </p:nvSpPr>
        <p:spPr>
          <a:xfrm>
            <a:off x="6245352" y="4041648"/>
            <a:ext cx="5440680" cy="1051560"/>
          </a:xfrm>
          <a:prstGeom prst="roundRect">
            <a:avLst>
              <a:gd name="adj" fmla="val 5217"/>
            </a:avLst>
          </a:prstGeom>
          <a:solidFill>
            <a:srgbClr val="F2F5F9"/>
          </a:solidFill>
          <a:ln w="9525">
            <a:solidFill>
              <a:srgbClr val="D2DDE9"/>
            </a:solidFill>
            <a:prstDash val="solid"/>
          </a:ln>
        </p:spPr>
      </p:sp>
      <p:sp>
        <p:nvSpPr>
          <p:cNvPr id="21" name="Text 18"/>
          <p:cNvSpPr txBox="1"/>
          <p:nvPr/>
        </p:nvSpPr>
        <p:spPr>
          <a:xfrm>
            <a:off x="6391656" y="4160520"/>
            <a:ext cx="514807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Row filters and column masks are the multi-tenancy mechanism</a:t>
            </a:r>
            <a:endParaRPr lang="en-US" sz="1150" dirty="0"/>
          </a:p>
        </p:txBody>
      </p:sp>
      <p:sp>
        <p:nvSpPr>
          <p:cNvPr id="22" name="Text 19"/>
          <p:cNvSpPr txBox="1"/>
          <p:nvPr/>
        </p:nvSpPr>
        <p:spPr>
          <a:xfrm>
            <a:off x="6391656" y="4498848"/>
            <a:ext cx="5148072" cy="47548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To restrict what each user sees within one agent, apply row filters and column masks in Unity Catalog — they are enforced per user automatically.  [OFF-3]</a:t>
            </a:r>
            <a:endParaRPr lang="en-US" sz="1000" dirty="0"/>
          </a:p>
        </p:txBody>
      </p:sp>
      <p:sp>
        <p:nvSpPr>
          <p:cNvPr id="23" name="Shape 20"/>
          <p:cNvSpPr/>
          <p:nvPr/>
        </p:nvSpPr>
        <p:spPr>
          <a:xfrm>
            <a:off x="6245352" y="5239512"/>
            <a:ext cx="5440680" cy="1051560"/>
          </a:xfrm>
          <a:prstGeom prst="roundRect">
            <a:avLst>
              <a:gd name="adj" fmla="val 5217"/>
            </a:avLst>
          </a:prstGeom>
          <a:solidFill>
            <a:srgbClr val="FBEDEA"/>
          </a:solidFill>
          <a:ln w="9525">
            <a:solidFill>
              <a:srgbClr val="E8B5AA"/>
            </a:solidFill>
            <a:prstDash val="solid"/>
          </a:ln>
        </p:spPr>
      </p:sp>
      <p:sp>
        <p:nvSpPr>
          <p:cNvPr id="24" name="Text 21"/>
          <p:cNvSpPr txBox="1"/>
          <p:nvPr/>
        </p:nvSpPr>
        <p:spPr>
          <a:xfrm>
            <a:off x="6391656" y="5358384"/>
            <a:ext cx="514807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The author-departure failure mode</a:t>
            </a:r>
            <a:endParaRPr lang="en-US" sz="1150" dirty="0"/>
          </a:p>
        </p:txBody>
      </p:sp>
      <p:sp>
        <p:nvSpPr>
          <p:cNvPr id="25" name="Text 22"/>
          <p:cNvSpPr txBox="1"/>
          <p:nvPr/>
        </p:nvSpPr>
        <p:spPr>
          <a:xfrm>
            <a:off x="6391656" y="5696712"/>
            <a:ext cx="5148072" cy="47548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If the last author leaves the workspace, the embedded compute credentials become invalid and queries fail for everyone. Someone with CAN EDIT must reconfigure the warehouse.  [OFF-5]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03</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Sizing and hard limits</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The numbers that constrain every design decision — and the one published discrepancy you have to make a call on.</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Consolidated limits table</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30-vs-50 table discrepancy</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Start small and iterate</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Scope caveat: Genie can reach further than you attached</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3.1 CONSOLIDATED LIMITS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Every published ceiling in one place</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6949440"/>
                <a:gridCol w="2834640"/>
                <a:gridCol w="1399032"/>
              </a:tblGrid>
              <a:tr h="2468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Limit</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Tables / views per agent (technical requirements and limits page)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OFF-3</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Tables / views / metric views per agent (best-practices page)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B3321E"/>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Tables / views / Metric Views per agent (hard limit)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GH-1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Recommended starting size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B7A5A"/>
                          </a:solidFill>
                          <a:latin typeface="Calibri" pitchFamily="34" charset="0"/>
                          <a:ea typeface="Calibri" pitchFamily="34" charset="-122"/>
                          <a:cs typeface="Calibri" pitchFamily="34" charset="-120"/>
                        </a:rPr>
                        <a:t>5 or fewer</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OFF-1 / GH-1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Instructions per agent — each example SQL, each SQL function and the whole General instructions block counts as one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OFF-2</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Knowledge store snippets — table descriptions + join relationships + SQL expressions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OFF-2</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Text instruction objects in serialized_space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1 per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OFF-6</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Entity-matching columns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OFF-2</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Distinct values per entity-matching column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1,024 (≤ 127 chars each)</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OFF-2</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Benchmark questions per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500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OFF-4</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Conversations per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10,000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OFF-3</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Messages per conversation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10,000</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OFF-3</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Chat-mode benchmark result-set comparison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5,000 rows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OFF-4</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CSV download from a response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~1 GB</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OFF-4</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String element in serialized_space / repeated fields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25,000 chars / 10,000 items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OFF-6</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Shape 4"/>
          <p:cNvSpPr/>
          <p:nvPr/>
        </p:nvSpPr>
        <p:spPr>
          <a:xfrm>
            <a:off x="502920" y="5449824"/>
            <a:ext cx="11183112" cy="822960"/>
          </a:xfrm>
          <a:prstGeom prst="roundRect">
            <a:avLst>
              <a:gd name="adj" fmla="val 6667"/>
            </a:avLst>
          </a:prstGeom>
          <a:solidFill>
            <a:srgbClr val="0E1B2A"/>
          </a:solidFill>
          <a:ln w="9525">
            <a:solidFill>
              <a:srgbClr val="0E1B2A"/>
            </a:solidFill>
            <a:prstDash val="solid"/>
          </a:ln>
        </p:spPr>
      </p:sp>
      <p:sp>
        <p:nvSpPr>
          <p:cNvPr id="8" name="Shape 5"/>
          <p:cNvSpPr/>
          <p:nvPr/>
        </p:nvSpPr>
        <p:spPr>
          <a:xfrm>
            <a:off x="685800" y="5724144"/>
            <a:ext cx="274320" cy="274320"/>
          </a:xfrm>
          <a:prstGeom prst="roundRect">
            <a:avLst>
              <a:gd name="adj" fmla="val 16667"/>
            </a:avLst>
          </a:prstGeom>
          <a:solidFill>
            <a:srgbClr val="E8552D"/>
          </a:solidFill>
          <a:ln/>
        </p:spPr>
      </p:sp>
      <p:sp>
        <p:nvSpPr>
          <p:cNvPr id="9" name="Text 6"/>
          <p:cNvSpPr txBox="1"/>
          <p:nvPr/>
        </p:nvSpPr>
        <p:spPr>
          <a:xfrm>
            <a:off x="685800" y="572414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0" name="Text 7"/>
          <p:cNvSpPr txBox="1"/>
          <p:nvPr/>
        </p:nvSpPr>
        <p:spPr>
          <a:xfrm>
            <a:off x="1106424" y="5541264"/>
            <a:ext cx="10396728" cy="640080"/>
          </a:xfrm>
          <a:prstGeom prst="rect">
            <a:avLst/>
          </a:prstGeom>
          <a:noFill/>
          <a:ln/>
        </p:spPr>
        <p:txBody>
          <a:bodyPr wrap="square" lIns="0" tIns="0" rIns="0" bIns="0" rtlCol="0" anchor="ctr"/>
          <a:lstStyle/>
          <a:p>
            <a:pPr indent="0" marL="0">
              <a:lnSpc>
                <a:spcPts val="1300"/>
              </a:lnSpc>
              <a:buNone/>
            </a:pPr>
            <a:r>
              <a:rPr lang="en-US" sz="950" dirty="0">
                <a:solidFill>
                  <a:srgbClr val="DCE6F2"/>
                </a:solidFill>
                <a:latin typeface="Calibri" pitchFamily="34" charset="0"/>
                <a:ea typeface="Calibri" pitchFamily="34" charset="-122"/>
                <a:cs typeface="Calibri" pitchFamily="34" charset="-120"/>
              </a:rPr>
              <a:t>Unresolved discrepancy on the table limit. OFF-3 — the page that carries the “Technical requirements and limits” heading — says up to 30 tables or views, and repeats “up to 30 Unity Catalog tables and 10,000 conversations” in its page description. OFF-1 says up to 50 tables, views or metric views. GH-1 says 30. Two of three sources, including the dedicated limits page, say 30: design to 30, and confirm in your own workspace before planning anything above it.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3.2 START SMALL</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Fewer objects, better annotated, beats broad coverage [OFF-1]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13</a:t>
            </a:r>
            <a:endParaRPr lang="en-US" sz="800" dirty="0"/>
          </a:p>
        </p:txBody>
      </p:sp>
      <p:sp>
        <p:nvSpPr>
          <p:cNvPr id="6" name="Shape 4"/>
          <p:cNvSpPr/>
          <p:nvPr/>
        </p:nvSpPr>
        <p:spPr>
          <a:xfrm>
            <a:off x="502920" y="1207008"/>
            <a:ext cx="2672334" cy="2240280"/>
          </a:xfrm>
          <a:prstGeom prst="roundRect">
            <a:avLst>
              <a:gd name="adj" fmla="val 2449"/>
            </a:avLst>
          </a:prstGeom>
          <a:solidFill>
            <a:srgbClr val="F2F5F9"/>
          </a:solidFill>
          <a:ln w="9525">
            <a:solidFill>
              <a:srgbClr val="D2DDE9"/>
            </a:solidFill>
            <a:prstDash val="solid"/>
          </a:ln>
        </p:spPr>
      </p:sp>
      <p:sp>
        <p:nvSpPr>
          <p:cNvPr id="7" name="Shape 5"/>
          <p:cNvSpPr/>
          <p:nvPr/>
        </p:nvSpPr>
        <p:spPr>
          <a:xfrm>
            <a:off x="649224" y="1344168"/>
            <a:ext cx="256032" cy="256032"/>
          </a:xfrm>
          <a:prstGeom prst="roundRect">
            <a:avLst>
              <a:gd name="adj" fmla="val 17857"/>
            </a:avLst>
          </a:prstGeom>
          <a:solidFill>
            <a:srgbClr val="13456E"/>
          </a:solidFill>
          <a:ln/>
        </p:spPr>
      </p:sp>
      <p:sp>
        <p:nvSpPr>
          <p:cNvPr id="8" name="Text 6"/>
          <p:cNvSpPr txBox="1"/>
          <p:nvPr/>
        </p:nvSpPr>
        <p:spPr>
          <a:xfrm>
            <a:off x="649224"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96696"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Stay focused</a:t>
            </a:r>
            <a:endParaRPr lang="en-US" sz="1150" dirty="0"/>
          </a:p>
        </p:txBody>
      </p:sp>
      <p:sp>
        <p:nvSpPr>
          <p:cNvPr id="10" name="Text 8"/>
          <p:cNvSpPr txBox="1"/>
          <p:nvPr/>
        </p:nvSpPr>
        <p:spPr>
          <a:xfrm>
            <a:off x="649224" y="1773936"/>
            <a:ext cx="2379726" cy="155448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Include only the tables necessary to answer the questions the agent should handle. Aim for five or fewer, and limit the number of columns within those tables.</a:t>
            </a:r>
            <a:endParaRPr lang="en-US" sz="1000" dirty="0"/>
          </a:p>
        </p:txBody>
      </p:sp>
      <p:sp>
        <p:nvSpPr>
          <p:cNvPr id="11" name="Shape 9"/>
          <p:cNvSpPr/>
          <p:nvPr/>
        </p:nvSpPr>
        <p:spPr>
          <a:xfrm>
            <a:off x="3339846" y="1207008"/>
            <a:ext cx="2672334" cy="2240280"/>
          </a:xfrm>
          <a:prstGeom prst="roundRect">
            <a:avLst>
              <a:gd name="adj" fmla="val 2449"/>
            </a:avLst>
          </a:prstGeom>
          <a:solidFill>
            <a:srgbClr val="F2F5F9"/>
          </a:solidFill>
          <a:ln w="9525">
            <a:solidFill>
              <a:srgbClr val="D2DDE9"/>
            </a:solidFill>
            <a:prstDash val="solid"/>
          </a:ln>
        </p:spPr>
      </p:sp>
      <p:sp>
        <p:nvSpPr>
          <p:cNvPr id="12" name="Shape 10"/>
          <p:cNvSpPr/>
          <p:nvPr/>
        </p:nvSpPr>
        <p:spPr>
          <a:xfrm>
            <a:off x="3486150" y="1344168"/>
            <a:ext cx="256032" cy="256032"/>
          </a:xfrm>
          <a:prstGeom prst="roundRect">
            <a:avLst>
              <a:gd name="adj" fmla="val 17857"/>
            </a:avLst>
          </a:prstGeom>
          <a:solidFill>
            <a:srgbClr val="13456E"/>
          </a:solidFill>
          <a:ln/>
        </p:spPr>
      </p:sp>
      <p:sp>
        <p:nvSpPr>
          <p:cNvPr id="13" name="Text 11"/>
          <p:cNvSpPr txBox="1"/>
          <p:nvPr/>
        </p:nvSpPr>
        <p:spPr>
          <a:xfrm>
            <a:off x="3486150"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3833622"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Pre-join when you would exceed the limit</a:t>
            </a:r>
            <a:endParaRPr lang="en-US" sz="1150" dirty="0"/>
          </a:p>
        </p:txBody>
      </p:sp>
      <p:sp>
        <p:nvSpPr>
          <p:cNvPr id="15" name="Text 13"/>
          <p:cNvSpPr txBox="1"/>
          <p:nvPr/>
        </p:nvSpPr>
        <p:spPr>
          <a:xfrm>
            <a:off x="3486150" y="1773936"/>
            <a:ext cx="2379726" cy="155448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Pre-join related tables into views or metric views. Metric views are particularly effective: they pre-define metrics, dimensions and aggregations, which keeps you within the object limit, simplifies the data model and can improve response accuracy.</a:t>
            </a:r>
            <a:endParaRPr lang="en-US" sz="1000" dirty="0"/>
          </a:p>
        </p:txBody>
      </p:sp>
      <p:sp>
        <p:nvSpPr>
          <p:cNvPr id="16" name="Shape 14"/>
          <p:cNvSpPr/>
          <p:nvPr/>
        </p:nvSpPr>
        <p:spPr>
          <a:xfrm>
            <a:off x="6176772" y="1207008"/>
            <a:ext cx="2672334" cy="2240280"/>
          </a:xfrm>
          <a:prstGeom prst="roundRect">
            <a:avLst>
              <a:gd name="adj" fmla="val 2449"/>
            </a:avLst>
          </a:prstGeom>
          <a:solidFill>
            <a:srgbClr val="F2F5F9"/>
          </a:solidFill>
          <a:ln w="9525">
            <a:solidFill>
              <a:srgbClr val="D2DDE9"/>
            </a:solidFill>
            <a:prstDash val="solid"/>
          </a:ln>
        </p:spPr>
      </p:sp>
      <p:sp>
        <p:nvSpPr>
          <p:cNvPr id="17" name="Shape 15"/>
          <p:cNvSpPr/>
          <p:nvPr/>
        </p:nvSpPr>
        <p:spPr>
          <a:xfrm>
            <a:off x="6323076" y="1344168"/>
            <a:ext cx="256032" cy="256032"/>
          </a:xfrm>
          <a:prstGeom prst="roundRect">
            <a:avLst>
              <a:gd name="adj" fmla="val 17857"/>
            </a:avLst>
          </a:prstGeom>
          <a:solidFill>
            <a:srgbClr val="13456E"/>
          </a:solidFill>
          <a:ln/>
        </p:spPr>
      </p:sp>
      <p:sp>
        <p:nvSpPr>
          <p:cNvPr id="18" name="Text 16"/>
          <p:cNvSpPr txBox="1"/>
          <p:nvPr/>
        </p:nvSpPr>
        <p:spPr>
          <a:xfrm>
            <a:off x="6323076"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6670548"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Plan to iterate</a:t>
            </a:r>
            <a:endParaRPr lang="en-US" sz="1150" dirty="0"/>
          </a:p>
        </p:txBody>
      </p:sp>
      <p:sp>
        <p:nvSpPr>
          <p:cNvPr id="20" name="Text 18"/>
          <p:cNvSpPr txBox="1"/>
          <p:nvPr/>
        </p:nvSpPr>
        <p:spPr>
          <a:xfrm>
            <a:off x="6323076" y="1773936"/>
            <a:ext cx="2379726" cy="155448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Start minimal; add detailed guidance and examples as you refine, rather than aiming for perfection initially. The agent is a collaboration surface, not a release.</a:t>
            </a:r>
            <a:endParaRPr lang="en-US" sz="1000" dirty="0"/>
          </a:p>
        </p:txBody>
      </p:sp>
      <p:sp>
        <p:nvSpPr>
          <p:cNvPr id="21" name="Shape 19"/>
          <p:cNvSpPr/>
          <p:nvPr/>
        </p:nvSpPr>
        <p:spPr>
          <a:xfrm>
            <a:off x="9013698" y="1207008"/>
            <a:ext cx="2672334" cy="2240280"/>
          </a:xfrm>
          <a:prstGeom prst="roundRect">
            <a:avLst>
              <a:gd name="adj" fmla="val 2449"/>
            </a:avLst>
          </a:prstGeom>
          <a:solidFill>
            <a:srgbClr val="F2F5F9"/>
          </a:solidFill>
          <a:ln w="9525">
            <a:solidFill>
              <a:srgbClr val="D2DDE9"/>
            </a:solidFill>
            <a:prstDash val="solid"/>
          </a:ln>
        </p:spPr>
      </p:sp>
      <p:sp>
        <p:nvSpPr>
          <p:cNvPr id="22" name="Shape 20"/>
          <p:cNvSpPr/>
          <p:nvPr/>
        </p:nvSpPr>
        <p:spPr>
          <a:xfrm>
            <a:off x="9160002" y="1344168"/>
            <a:ext cx="256032" cy="256032"/>
          </a:xfrm>
          <a:prstGeom prst="roundRect">
            <a:avLst>
              <a:gd name="adj" fmla="val 17857"/>
            </a:avLst>
          </a:prstGeom>
          <a:solidFill>
            <a:srgbClr val="13456E"/>
          </a:solidFill>
          <a:ln/>
        </p:spPr>
      </p:sp>
      <p:sp>
        <p:nvSpPr>
          <p:cNvPr id="23" name="Text 21"/>
          <p:cNvSpPr txBox="1"/>
          <p:nvPr/>
        </p:nvSpPr>
        <p:spPr>
          <a:xfrm>
            <a:off x="9160002"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9507474"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Build on well-annotated tables</a:t>
            </a:r>
            <a:endParaRPr lang="en-US" sz="1150" dirty="0"/>
          </a:p>
        </p:txBody>
      </p:sp>
      <p:sp>
        <p:nvSpPr>
          <p:cNvPr id="25" name="Text 23"/>
          <p:cNvSpPr txBox="1"/>
          <p:nvPr/>
        </p:nvSpPr>
        <p:spPr>
          <a:xfrm>
            <a:off x="9160002" y="1773936"/>
            <a:ext cx="2379726" cy="155448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Column descriptions should offer precise contextual information and avoid ambiguous or unnecessary details. Inspect AI-generated descriptions for accuracy and use them only if they match what you would have written.</a:t>
            </a:r>
            <a:endParaRPr lang="en-US" sz="1000" dirty="0"/>
          </a:p>
        </p:txBody>
      </p:sp>
      <p:sp>
        <p:nvSpPr>
          <p:cNvPr id="26" name="Text 24"/>
          <p:cNvSpPr txBox="1"/>
          <p:nvPr/>
        </p:nvSpPr>
        <p:spPr>
          <a:xfrm>
            <a:off x="502920" y="3621024"/>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SCOPE CAVEAT WORTH KNOWING  [OFF-3]</a:t>
            </a:r>
            <a:endParaRPr lang="en-US" sz="850" dirty="0"/>
          </a:p>
        </p:txBody>
      </p:sp>
      <p:sp>
        <p:nvSpPr>
          <p:cNvPr id="27" name="Shape 25"/>
          <p:cNvSpPr/>
          <p:nvPr/>
        </p:nvSpPr>
        <p:spPr>
          <a:xfrm>
            <a:off x="502920" y="3877056"/>
            <a:ext cx="11183112" cy="1234440"/>
          </a:xfrm>
          <a:prstGeom prst="roundRect">
            <a:avLst>
              <a:gd name="adj" fmla="val 4444"/>
            </a:avLst>
          </a:prstGeom>
          <a:solidFill>
            <a:srgbClr val="FBEDEA"/>
          </a:solidFill>
          <a:ln w="9525">
            <a:solidFill>
              <a:srgbClr val="E8B5AA"/>
            </a:solidFill>
            <a:prstDash val="solid"/>
          </a:ln>
        </p:spPr>
      </p:sp>
      <p:sp>
        <p:nvSpPr>
          <p:cNvPr id="28" name="Text 26"/>
          <p:cNvSpPr txBox="1"/>
          <p:nvPr/>
        </p:nvSpPr>
        <p:spPr>
          <a:xfrm>
            <a:off x="731520" y="4023360"/>
            <a:ext cx="10789920" cy="274320"/>
          </a:xfrm>
          <a:prstGeom prst="rect">
            <a:avLst/>
          </a:prstGeom>
          <a:noFill/>
          <a:ln/>
        </p:spPr>
        <p:txBody>
          <a:bodyPr wrap="square" lIns="0" tIns="0" rIns="0" bIns="0" rtlCol="0" anchor="t"/>
          <a:lstStyle/>
          <a:p>
            <a:pPr indent="0" marL="0">
              <a:buNone/>
            </a:pPr>
            <a:r>
              <a:rPr lang="en-US" sz="1300" b="1" dirty="0">
                <a:solidFill>
                  <a:srgbClr val="B3321E"/>
                </a:solidFill>
                <a:latin typeface="Calibri" pitchFamily="34" charset="0"/>
                <a:ea typeface="Calibri" pitchFamily="34" charset="-122"/>
                <a:cs typeface="Calibri" pitchFamily="34" charset="-120"/>
              </a:rPr>
              <a:t>Genie can query tables beyond those you explicitly attached.</a:t>
            </a:r>
            <a:endParaRPr lang="en-US" sz="1300" dirty="0"/>
          </a:p>
        </p:txBody>
      </p:sp>
      <p:sp>
        <p:nvSpPr>
          <p:cNvPr id="29" name="Text 27"/>
          <p:cNvSpPr txBox="1"/>
          <p:nvPr/>
        </p:nvSpPr>
        <p:spPr>
          <a:xfrm>
            <a:off x="731520" y="4334256"/>
            <a:ext cx="10744200" cy="68580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Access is controlled by Unity Catalog permissions, not by the agent itself. Genie uses the attached tables and views by default, but users can query others by prompting for joins or editing SQL directly — and if instructions or metadata reference tables outside the agent, Genie can include them in generated queries. Treat the attachment list as a curation boundary, never as a security boundary; row filters, column masks and UC grants are the control.</a:t>
            </a:r>
            <a:endParaRPr lang="en-US" sz="1050" dirty="0"/>
          </a:p>
        </p:txBody>
      </p:sp>
      <p:sp>
        <p:nvSpPr>
          <p:cNvPr id="30" name="Shape 28"/>
          <p:cNvSpPr/>
          <p:nvPr/>
        </p:nvSpPr>
        <p:spPr>
          <a:xfrm>
            <a:off x="502920" y="5266944"/>
            <a:ext cx="3605784" cy="1005840"/>
          </a:xfrm>
          <a:prstGeom prst="roundRect">
            <a:avLst>
              <a:gd name="adj" fmla="val 5455"/>
            </a:avLst>
          </a:prstGeom>
          <a:solidFill>
            <a:srgbClr val="F2F5F9"/>
          </a:solidFill>
          <a:ln w="9525">
            <a:solidFill>
              <a:srgbClr val="D2DDE9"/>
            </a:solidFill>
            <a:prstDash val="solid"/>
          </a:ln>
        </p:spPr>
      </p:sp>
      <p:sp>
        <p:nvSpPr>
          <p:cNvPr id="31" name="Text 29"/>
          <p:cNvSpPr txBox="1"/>
          <p:nvPr/>
        </p:nvSpPr>
        <p:spPr>
          <a:xfrm>
            <a:off x="649224" y="5385816"/>
            <a:ext cx="3313176"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Symptom you will see first</a:t>
            </a:r>
            <a:endParaRPr lang="en-US" sz="1100" dirty="0"/>
          </a:p>
        </p:txBody>
      </p:sp>
      <p:sp>
        <p:nvSpPr>
          <p:cNvPr id="32" name="Text 30"/>
          <p:cNvSpPr txBox="1"/>
          <p:nvPr/>
        </p:nvSpPr>
        <p:spPr>
          <a:xfrm>
            <a:off x="649224" y="5724144"/>
            <a:ext cx="3313176" cy="42976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Answers drift into unfamiliar tables, or the same question returns different column sets on different days.</a:t>
            </a:r>
            <a:endParaRPr lang="en-US" sz="950" dirty="0"/>
          </a:p>
        </p:txBody>
      </p:sp>
      <p:sp>
        <p:nvSpPr>
          <p:cNvPr id="33" name="Shape 31"/>
          <p:cNvSpPr/>
          <p:nvPr/>
        </p:nvSpPr>
        <p:spPr>
          <a:xfrm>
            <a:off x="4291584" y="5266944"/>
            <a:ext cx="3605784" cy="1005840"/>
          </a:xfrm>
          <a:prstGeom prst="roundRect">
            <a:avLst>
              <a:gd name="adj" fmla="val 5455"/>
            </a:avLst>
          </a:prstGeom>
          <a:solidFill>
            <a:srgbClr val="F2F5F9"/>
          </a:solidFill>
          <a:ln w="9525">
            <a:solidFill>
              <a:srgbClr val="D2DDE9"/>
            </a:solidFill>
            <a:prstDash val="solid"/>
          </a:ln>
        </p:spPr>
      </p:sp>
      <p:sp>
        <p:nvSpPr>
          <p:cNvPr id="34" name="Text 32"/>
          <p:cNvSpPr txBox="1"/>
          <p:nvPr/>
        </p:nvSpPr>
        <p:spPr>
          <a:xfrm>
            <a:off x="4437888" y="5385816"/>
            <a:ext cx="3313176"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Structural fix</a:t>
            </a:r>
            <a:endParaRPr lang="en-US" sz="1100" dirty="0"/>
          </a:p>
        </p:txBody>
      </p:sp>
      <p:sp>
        <p:nvSpPr>
          <p:cNvPr id="35" name="Text 33"/>
          <p:cNvSpPr txBox="1"/>
          <p:nvPr/>
        </p:nvSpPr>
        <p:spPr>
          <a:xfrm>
            <a:off x="4437888" y="5724144"/>
            <a:ext cx="3313176" cy="42976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Remove irrelevant tables and instructions, hide confusing columns, and create simpler views that encode the intended scope.</a:t>
            </a:r>
            <a:endParaRPr lang="en-US" sz="950" dirty="0"/>
          </a:p>
        </p:txBody>
      </p:sp>
      <p:sp>
        <p:nvSpPr>
          <p:cNvPr id="36" name="Shape 34"/>
          <p:cNvSpPr/>
          <p:nvPr/>
        </p:nvSpPr>
        <p:spPr>
          <a:xfrm>
            <a:off x="8080248" y="5266944"/>
            <a:ext cx="3605784" cy="1005840"/>
          </a:xfrm>
          <a:prstGeom prst="roundRect">
            <a:avLst>
              <a:gd name="adj" fmla="val 5455"/>
            </a:avLst>
          </a:prstGeom>
          <a:solidFill>
            <a:srgbClr val="F2F5F9"/>
          </a:solidFill>
          <a:ln w="9525">
            <a:solidFill>
              <a:srgbClr val="D2DDE9"/>
            </a:solidFill>
            <a:prstDash val="solid"/>
          </a:ln>
        </p:spPr>
      </p:sp>
      <p:sp>
        <p:nvSpPr>
          <p:cNvPr id="37" name="Text 35"/>
          <p:cNvSpPr txBox="1"/>
          <p:nvPr/>
        </p:nvSpPr>
        <p:spPr>
          <a:xfrm>
            <a:off x="8226552" y="5385816"/>
            <a:ext cx="3313176"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Governance fix</a:t>
            </a:r>
            <a:endParaRPr lang="en-US" sz="1100" dirty="0"/>
          </a:p>
        </p:txBody>
      </p:sp>
      <p:sp>
        <p:nvSpPr>
          <p:cNvPr id="38" name="Text 36"/>
          <p:cNvSpPr txBox="1"/>
          <p:nvPr/>
        </p:nvSpPr>
        <p:spPr>
          <a:xfrm>
            <a:off x="8226552" y="5724144"/>
            <a:ext cx="3313176" cy="42976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Enforce the boundary in Unity Catalog with grants, row filters and column masks — they apply per end user automatically.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04</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Design workflow</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Nine steps, three hard gates, and the Genie Code assist paths that shortcut most of the manual work.</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nine-step sequence</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Where to stop and ask</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Genie Code on creation</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Genie Code on bad responses, usage and benchmarks</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4.1 THE NINE-STEP WORKFLOW</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Follow top to bottom; the embedded gates say when to pause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15</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502920"/>
                <a:gridCol w="2286000"/>
                <a:gridCol w="8394192"/>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402336">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Gather requirements  ⛔</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Collect all six requirement items before anything else. No profiling, no JSON, no CLI.</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02336">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Discover or confirm data</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Use provided identifiers where available; otherwise search using requirement terms, synonyms, abbreviations and likely fact / dimension naming patterns. Recommend a focused source set and explain how each source maps to the business questions.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Metric View check  ⛔</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If the source set is raw tables or views and the questions centre on reusable KPIs (revenue, margin, conversion rate), stop and recommend building a governed Metric View first, state the benefit, and pause until the user answers. Proceed with raw tables only if they decline or the questions need raw detail.</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02336">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Inspect and profile in phases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Unity Catalog metadata first, then bounded read-only SQL only where metadata is insufficient.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Inspect Metric View semantics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Measures, dimensions, filters, joins, time dimensions, comments, display names, synonyms and formatting — before adding any extra Genie context on top.</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02336">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Assess readiness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Score each business question High / Medium / Low. Do not proceed with Low-confidence questions unresolved.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Design Agent surfaces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Structured context first, following the priority ladder in section 5.</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02336">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Review draft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Check against the pre-launch health checks and the anti-pattern list.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Present and approve  ⛔</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Present the full proposed configuration. Do not run create-space or update-space until the user explicitly approves.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Shape 4"/>
          <p:cNvSpPr/>
          <p:nvPr/>
        </p:nvSpPr>
        <p:spPr>
          <a:xfrm>
            <a:off x="502920" y="5486400"/>
            <a:ext cx="11183112" cy="804672"/>
          </a:xfrm>
          <a:prstGeom prst="roundRect">
            <a:avLst>
              <a:gd name="adj" fmla="val 6818"/>
            </a:avLst>
          </a:prstGeom>
          <a:solidFill>
            <a:srgbClr val="0E1B2A"/>
          </a:solidFill>
          <a:ln w="9525">
            <a:solidFill>
              <a:srgbClr val="0E1B2A"/>
            </a:solidFill>
            <a:prstDash val="solid"/>
          </a:ln>
        </p:spPr>
      </p:sp>
      <p:sp>
        <p:nvSpPr>
          <p:cNvPr id="8" name="Shape 5"/>
          <p:cNvSpPr/>
          <p:nvPr/>
        </p:nvSpPr>
        <p:spPr>
          <a:xfrm>
            <a:off x="685800" y="5751576"/>
            <a:ext cx="274320" cy="274320"/>
          </a:xfrm>
          <a:prstGeom prst="roundRect">
            <a:avLst>
              <a:gd name="adj" fmla="val 16667"/>
            </a:avLst>
          </a:prstGeom>
          <a:solidFill>
            <a:srgbClr val="E8552D"/>
          </a:solidFill>
          <a:ln/>
        </p:spPr>
      </p:sp>
      <p:sp>
        <p:nvSpPr>
          <p:cNvPr id="9" name="Text 6"/>
          <p:cNvSpPr txBox="1"/>
          <p:nvPr/>
        </p:nvSpPr>
        <p:spPr>
          <a:xfrm>
            <a:off x="685800" y="575157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0" name="Text 7"/>
          <p:cNvSpPr txBox="1"/>
          <p:nvPr/>
        </p:nvSpPr>
        <p:spPr>
          <a:xfrm>
            <a:off x="1106424" y="5577840"/>
            <a:ext cx="10396728" cy="621792"/>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The three gates exist because each protects against a different irreversible cost: gate 1 against building the wrong agent, gate 3 against encoding KPI logic in the wrong layer, and gate 9 against publishing an unreviewed configuration into a shared workspace.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4.2 GENIE CODE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The assist path threaded through the docs [OFF-3] [OFF-4] [OFF-5]</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16</a:t>
            </a:r>
            <a:endParaRPr lang="en-US" sz="800" dirty="0"/>
          </a:p>
        </p:txBody>
      </p:sp>
      <p:sp>
        <p:nvSpPr>
          <p:cNvPr id="6" name="Shape 4"/>
          <p:cNvSpPr/>
          <p:nvPr/>
        </p:nvSpPr>
        <p:spPr>
          <a:xfrm>
            <a:off x="502920" y="1207008"/>
            <a:ext cx="2672334" cy="2331720"/>
          </a:xfrm>
          <a:prstGeom prst="roundRect">
            <a:avLst>
              <a:gd name="adj" fmla="val 2353"/>
            </a:avLst>
          </a:prstGeom>
          <a:solidFill>
            <a:srgbClr val="F2F5F9"/>
          </a:solidFill>
          <a:ln w="9525">
            <a:solidFill>
              <a:srgbClr val="D2DDE9"/>
            </a:solidFill>
            <a:prstDash val="solid"/>
          </a:ln>
        </p:spPr>
      </p:sp>
      <p:sp>
        <p:nvSpPr>
          <p:cNvPr id="7" name="Shape 5"/>
          <p:cNvSpPr/>
          <p:nvPr/>
        </p:nvSpPr>
        <p:spPr>
          <a:xfrm>
            <a:off x="649224" y="1344168"/>
            <a:ext cx="256032" cy="256032"/>
          </a:xfrm>
          <a:prstGeom prst="roundRect">
            <a:avLst>
              <a:gd name="adj" fmla="val 17857"/>
            </a:avLst>
          </a:prstGeom>
          <a:solidFill>
            <a:srgbClr val="13456E"/>
          </a:solidFill>
          <a:ln/>
        </p:spPr>
      </p:sp>
      <p:sp>
        <p:nvSpPr>
          <p:cNvPr id="8" name="Text 6"/>
          <p:cNvSpPr txBox="1"/>
          <p:nvPr/>
        </p:nvSpPr>
        <p:spPr>
          <a:xfrm>
            <a:off x="649224"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96696"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On creation  [OFF-3]</a:t>
            </a:r>
            <a:endParaRPr lang="en-US" sz="1150" dirty="0"/>
          </a:p>
        </p:txBody>
      </p:sp>
      <p:sp>
        <p:nvSpPr>
          <p:cNvPr id="10" name="Text 8"/>
          <p:cNvSpPr txBox="1"/>
          <p:nvPr/>
        </p:nvSpPr>
        <p:spPr>
          <a:xfrm>
            <a:off x="649224" y="1773936"/>
            <a:ext cx="2379726" cy="16459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When you create an agent, Genie Code launches automatically. It reads your data and suggests context — table descriptions, example queries — for you to review and accept. You can also ask it to build an agent when you do not yet know which tables to use: describe the domain, the questions and the data, and it identifies relevant data, confirms the sources, and builds the agent.</a:t>
            </a:r>
            <a:endParaRPr lang="en-US" sz="1000" dirty="0"/>
          </a:p>
        </p:txBody>
      </p:sp>
      <p:sp>
        <p:nvSpPr>
          <p:cNvPr id="11" name="Shape 9"/>
          <p:cNvSpPr/>
          <p:nvPr/>
        </p:nvSpPr>
        <p:spPr>
          <a:xfrm>
            <a:off x="3339846" y="1207008"/>
            <a:ext cx="2672334" cy="2331720"/>
          </a:xfrm>
          <a:prstGeom prst="roundRect">
            <a:avLst>
              <a:gd name="adj" fmla="val 2353"/>
            </a:avLst>
          </a:prstGeom>
          <a:solidFill>
            <a:srgbClr val="F2F5F9"/>
          </a:solidFill>
          <a:ln w="9525">
            <a:solidFill>
              <a:srgbClr val="D2DDE9"/>
            </a:solidFill>
            <a:prstDash val="solid"/>
          </a:ln>
        </p:spPr>
      </p:sp>
      <p:sp>
        <p:nvSpPr>
          <p:cNvPr id="12" name="Shape 10"/>
          <p:cNvSpPr/>
          <p:nvPr/>
        </p:nvSpPr>
        <p:spPr>
          <a:xfrm>
            <a:off x="3486150" y="1344168"/>
            <a:ext cx="256032" cy="256032"/>
          </a:xfrm>
          <a:prstGeom prst="roundRect">
            <a:avLst>
              <a:gd name="adj" fmla="val 17857"/>
            </a:avLst>
          </a:prstGeom>
          <a:solidFill>
            <a:srgbClr val="13456E"/>
          </a:solidFill>
          <a:ln/>
        </p:spPr>
      </p:sp>
      <p:sp>
        <p:nvSpPr>
          <p:cNvPr id="13" name="Text 11"/>
          <p:cNvSpPr txBox="1"/>
          <p:nvPr/>
        </p:nvSpPr>
        <p:spPr>
          <a:xfrm>
            <a:off x="3486150"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3833622"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On a bad response  [OFF-4]</a:t>
            </a:r>
            <a:endParaRPr lang="en-US" sz="1150" dirty="0"/>
          </a:p>
        </p:txBody>
      </p:sp>
      <p:sp>
        <p:nvSpPr>
          <p:cNvPr id="15" name="Text 13"/>
          <p:cNvSpPr txBox="1"/>
          <p:nvPr/>
        </p:nvSpPr>
        <p:spPr>
          <a:xfrm>
            <a:off x="3486150" y="1773936"/>
            <a:ext cx="2379726" cy="16459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Open Genie Code directly from the response, describe the problem and the desired behaviour, and review the context changes it proposes before accepting them. This keeps the fix in the structured surfaces rather than accumulating text instructions.</a:t>
            </a:r>
            <a:endParaRPr lang="en-US" sz="1000" dirty="0"/>
          </a:p>
        </p:txBody>
      </p:sp>
      <p:sp>
        <p:nvSpPr>
          <p:cNvPr id="16" name="Shape 14"/>
          <p:cNvSpPr/>
          <p:nvPr/>
        </p:nvSpPr>
        <p:spPr>
          <a:xfrm>
            <a:off x="6176772" y="1207008"/>
            <a:ext cx="2672334" cy="2331720"/>
          </a:xfrm>
          <a:prstGeom prst="roundRect">
            <a:avLst>
              <a:gd name="adj" fmla="val 2353"/>
            </a:avLst>
          </a:prstGeom>
          <a:solidFill>
            <a:srgbClr val="F2F5F9"/>
          </a:solidFill>
          <a:ln w="9525">
            <a:solidFill>
              <a:srgbClr val="D2DDE9"/>
            </a:solidFill>
            <a:prstDash val="solid"/>
          </a:ln>
        </p:spPr>
      </p:sp>
      <p:sp>
        <p:nvSpPr>
          <p:cNvPr id="17" name="Shape 15"/>
          <p:cNvSpPr/>
          <p:nvPr/>
        </p:nvSpPr>
        <p:spPr>
          <a:xfrm>
            <a:off x="6323076" y="1344168"/>
            <a:ext cx="256032" cy="256032"/>
          </a:xfrm>
          <a:prstGeom prst="roundRect">
            <a:avLst>
              <a:gd name="adj" fmla="val 17857"/>
            </a:avLst>
          </a:prstGeom>
          <a:solidFill>
            <a:srgbClr val="13456E"/>
          </a:solidFill>
          <a:ln/>
        </p:spPr>
      </p:sp>
      <p:sp>
        <p:nvSpPr>
          <p:cNvPr id="18" name="Text 16"/>
          <p:cNvSpPr txBox="1"/>
          <p:nvPr/>
        </p:nvSpPr>
        <p:spPr>
          <a:xfrm>
            <a:off x="6323076"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6670548"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On usage  [OFF-4]</a:t>
            </a:r>
            <a:endParaRPr lang="en-US" sz="1150" dirty="0"/>
          </a:p>
        </p:txBody>
      </p:sp>
      <p:sp>
        <p:nvSpPr>
          <p:cNvPr id="20" name="Text 18"/>
          <p:cNvSpPr txBox="1"/>
          <p:nvPr/>
        </p:nvSpPr>
        <p:spPr>
          <a:xfrm>
            <a:off x="6323076" y="1773936"/>
            <a:ext cx="2379726" cy="16459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Analyze Agent Usage reviews user messages, feedback and issues from the last six months and reports common topics, recurring issues and suggested context improvements — with citations back to the underlying conversations.</a:t>
            </a:r>
            <a:endParaRPr lang="en-US" sz="1000" dirty="0"/>
          </a:p>
        </p:txBody>
      </p:sp>
      <p:sp>
        <p:nvSpPr>
          <p:cNvPr id="21" name="Shape 19"/>
          <p:cNvSpPr/>
          <p:nvPr/>
        </p:nvSpPr>
        <p:spPr>
          <a:xfrm>
            <a:off x="9013698" y="1207008"/>
            <a:ext cx="2672334" cy="2331720"/>
          </a:xfrm>
          <a:prstGeom prst="roundRect">
            <a:avLst>
              <a:gd name="adj" fmla="val 2353"/>
            </a:avLst>
          </a:prstGeom>
          <a:solidFill>
            <a:srgbClr val="F2F5F9"/>
          </a:solidFill>
          <a:ln w="9525">
            <a:solidFill>
              <a:srgbClr val="D2DDE9"/>
            </a:solidFill>
            <a:prstDash val="solid"/>
          </a:ln>
        </p:spPr>
      </p:sp>
      <p:sp>
        <p:nvSpPr>
          <p:cNvPr id="22" name="Shape 20"/>
          <p:cNvSpPr/>
          <p:nvPr/>
        </p:nvSpPr>
        <p:spPr>
          <a:xfrm>
            <a:off x="9160002" y="1344168"/>
            <a:ext cx="256032" cy="256032"/>
          </a:xfrm>
          <a:prstGeom prst="roundRect">
            <a:avLst>
              <a:gd name="adj" fmla="val 17857"/>
            </a:avLst>
          </a:prstGeom>
          <a:solidFill>
            <a:srgbClr val="13456E"/>
          </a:solidFill>
          <a:ln/>
        </p:spPr>
      </p:sp>
      <p:sp>
        <p:nvSpPr>
          <p:cNvPr id="23" name="Text 21"/>
          <p:cNvSpPr txBox="1"/>
          <p:nvPr/>
        </p:nvSpPr>
        <p:spPr>
          <a:xfrm>
            <a:off x="9160002"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9507474" y="1335024"/>
            <a:ext cx="203225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On benchmarks  [OFF-4]</a:t>
            </a:r>
            <a:endParaRPr lang="en-US" sz="1150" dirty="0"/>
          </a:p>
        </p:txBody>
      </p:sp>
      <p:sp>
        <p:nvSpPr>
          <p:cNvPr id="25" name="Text 23"/>
          <p:cNvSpPr txBox="1"/>
          <p:nvPr/>
        </p:nvSpPr>
        <p:spPr>
          <a:xfrm>
            <a:off x="9160002" y="1773936"/>
            <a:ext cx="2379726" cy="16459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After a benchmark run, Genie Code can review the whole run — expected results, generated results and current context together — and suggest improvements rather than leaving you to diff question by question.</a:t>
            </a:r>
            <a:endParaRPr lang="en-US" sz="1000" dirty="0"/>
          </a:p>
        </p:txBody>
      </p:sp>
      <p:sp>
        <p:nvSpPr>
          <p:cNvPr id="26" name="Shape 24"/>
          <p:cNvSpPr/>
          <p:nvPr/>
        </p:nvSpPr>
        <p:spPr>
          <a:xfrm>
            <a:off x="502920" y="3712464"/>
            <a:ext cx="11183112" cy="530352"/>
          </a:xfrm>
          <a:prstGeom prst="roundRect">
            <a:avLst>
              <a:gd name="adj" fmla="val 10345"/>
            </a:avLst>
          </a:prstGeom>
          <a:solidFill>
            <a:srgbClr val="0E1B2A"/>
          </a:solidFill>
          <a:ln w="9525">
            <a:solidFill>
              <a:srgbClr val="0E1B2A"/>
            </a:solidFill>
            <a:prstDash val="solid"/>
          </a:ln>
        </p:spPr>
      </p:sp>
      <p:sp>
        <p:nvSpPr>
          <p:cNvPr id="27" name="Shape 25"/>
          <p:cNvSpPr/>
          <p:nvPr/>
        </p:nvSpPr>
        <p:spPr>
          <a:xfrm>
            <a:off x="685800" y="3840480"/>
            <a:ext cx="274320" cy="274320"/>
          </a:xfrm>
          <a:prstGeom prst="roundRect">
            <a:avLst>
              <a:gd name="adj" fmla="val 16667"/>
            </a:avLst>
          </a:prstGeom>
          <a:solidFill>
            <a:srgbClr val="1B7A5A"/>
          </a:solidFill>
          <a:ln/>
        </p:spPr>
      </p:sp>
      <p:sp>
        <p:nvSpPr>
          <p:cNvPr id="28" name="Text 26"/>
          <p:cNvSpPr txBox="1"/>
          <p:nvPr/>
        </p:nvSpPr>
        <p:spPr>
          <a:xfrm>
            <a:off x="685800" y="384048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9" name="Text 27"/>
          <p:cNvSpPr txBox="1"/>
          <p:nvPr/>
        </p:nvSpPr>
        <p:spPr>
          <a:xfrm>
            <a:off x="1106424" y="3803904"/>
            <a:ext cx="10396728" cy="347472"/>
          </a:xfrm>
          <a:prstGeom prst="rect">
            <a:avLst/>
          </a:prstGeom>
          <a:noFill/>
          <a:ln/>
        </p:spPr>
        <p:txBody>
          <a:bodyPr wrap="square" lIns="0" tIns="0" rIns="0" bIns="0" rtlCol="0" anchor="ctr"/>
          <a:lstStyle/>
          <a:p>
            <a:pPr indent="0" marL="0">
              <a:lnSpc>
                <a:spcPts val="1400"/>
              </a:lnSpc>
              <a:buNone/>
            </a:pPr>
            <a:r>
              <a:rPr lang="en-US" sz="1100" dirty="0">
                <a:solidFill>
                  <a:srgbClr val="DCE6F2"/>
                </a:solidFill>
                <a:latin typeface="Calibri" pitchFamily="34" charset="0"/>
                <a:ea typeface="Calibri" pitchFamily="34" charset="-122"/>
                <a:cs typeface="Calibri" pitchFamily="34" charset="-120"/>
              </a:rPr>
              <a:t>For many common problems, the fastest path to a fix is Genie Code.  [OFF-5]</a:t>
            </a:r>
            <a:endParaRPr lang="en-US" sz="1100" dirty="0"/>
          </a:p>
        </p:txBody>
      </p:sp>
      <p:sp>
        <p:nvSpPr>
          <p:cNvPr id="30" name="Text 28"/>
          <p:cNvSpPr txBox="1"/>
          <p:nvPr/>
        </p:nvSpPr>
        <p:spPr>
          <a:xfrm>
            <a:off x="502920" y="4443984"/>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RELATED AUTOMATIC BEHAVIOUR: SUGGESTED QUERIES FROM QUERY HISTORY  [OFF-3]</a:t>
            </a:r>
            <a:endParaRPr lang="en-US" sz="850" dirty="0"/>
          </a:p>
        </p:txBody>
      </p:sp>
      <p:sp>
        <p:nvSpPr>
          <p:cNvPr id="31" name="Shape 29"/>
          <p:cNvSpPr/>
          <p:nvPr/>
        </p:nvSpPr>
        <p:spPr>
          <a:xfrm>
            <a:off x="502920" y="4700016"/>
            <a:ext cx="3605784" cy="1572768"/>
          </a:xfrm>
          <a:prstGeom prst="roundRect">
            <a:avLst>
              <a:gd name="adj" fmla="val 3488"/>
            </a:avLst>
          </a:prstGeom>
          <a:solidFill>
            <a:srgbClr val="F2F5F9"/>
          </a:solidFill>
          <a:ln w="9525">
            <a:solidFill>
              <a:srgbClr val="D2DDE9"/>
            </a:solidFill>
            <a:prstDash val="solid"/>
          </a:ln>
        </p:spPr>
      </p:sp>
      <p:sp>
        <p:nvSpPr>
          <p:cNvPr id="32" name="Text 30"/>
          <p:cNvSpPr txBox="1"/>
          <p:nvPr/>
        </p:nvSpPr>
        <p:spPr>
          <a:xfrm>
            <a:off x="649224" y="4818888"/>
            <a:ext cx="3313176"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What happens</a:t>
            </a:r>
            <a:endParaRPr lang="en-US" sz="1150" dirty="0"/>
          </a:p>
        </p:txBody>
      </p:sp>
      <p:sp>
        <p:nvSpPr>
          <p:cNvPr id="33" name="Text 31"/>
          <p:cNvSpPr txBox="1"/>
          <p:nvPr/>
        </p:nvSpPr>
        <p:spPr>
          <a:xfrm>
            <a:off x="649224" y="5157216"/>
            <a:ext cx="3313176" cy="996696"/>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When you add data assets, Genie automatically searches for relevant popular workspace queries associated with them — using your credentials — and surfaces them for review in the Data tab. Accepted queries become example SQL.</a:t>
            </a:r>
            <a:endParaRPr lang="en-US" sz="1000" dirty="0"/>
          </a:p>
        </p:txBody>
      </p:sp>
      <p:sp>
        <p:nvSpPr>
          <p:cNvPr id="34" name="Shape 32"/>
          <p:cNvSpPr/>
          <p:nvPr/>
        </p:nvSpPr>
        <p:spPr>
          <a:xfrm>
            <a:off x="4291584" y="4700016"/>
            <a:ext cx="3605784" cy="1572768"/>
          </a:xfrm>
          <a:prstGeom prst="roundRect">
            <a:avLst>
              <a:gd name="adj" fmla="val 3488"/>
            </a:avLst>
          </a:prstGeom>
          <a:solidFill>
            <a:srgbClr val="F2F5F9"/>
          </a:solidFill>
          <a:ln w="9525">
            <a:solidFill>
              <a:srgbClr val="D2DDE9"/>
            </a:solidFill>
            <a:prstDash val="solid"/>
          </a:ln>
        </p:spPr>
      </p:sp>
      <p:sp>
        <p:nvSpPr>
          <p:cNvPr id="35" name="Text 33"/>
          <p:cNvSpPr txBox="1"/>
          <p:nvPr/>
        </p:nvSpPr>
        <p:spPr>
          <a:xfrm>
            <a:off x="4437888" y="4818888"/>
            <a:ext cx="3313176"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Why nothing appears</a:t>
            </a:r>
            <a:endParaRPr lang="en-US" sz="1150" dirty="0"/>
          </a:p>
        </p:txBody>
      </p:sp>
      <p:sp>
        <p:nvSpPr>
          <p:cNvPr id="36" name="Text 34"/>
          <p:cNvSpPr txBox="1"/>
          <p:nvPr/>
        </p:nvSpPr>
        <p:spPr>
          <a:xfrm>
            <a:off x="4437888" y="5157216"/>
            <a:ext cx="3313176" cy="996696"/>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You lack access to the queries; no queries have ever run on the included tables; the queries only perform basic writes; or the relevant queries run against source tables that are not attached to the agent.</a:t>
            </a:r>
            <a:endParaRPr lang="en-US" sz="1000" dirty="0"/>
          </a:p>
        </p:txBody>
      </p:sp>
      <p:sp>
        <p:nvSpPr>
          <p:cNvPr id="37" name="Shape 35"/>
          <p:cNvSpPr/>
          <p:nvPr/>
        </p:nvSpPr>
        <p:spPr>
          <a:xfrm>
            <a:off x="8080248" y="4700016"/>
            <a:ext cx="3605784" cy="1572768"/>
          </a:xfrm>
          <a:prstGeom prst="roundRect">
            <a:avLst>
              <a:gd name="adj" fmla="val 3488"/>
            </a:avLst>
          </a:prstGeom>
          <a:solidFill>
            <a:srgbClr val="F2F5F9"/>
          </a:solidFill>
          <a:ln w="9525">
            <a:solidFill>
              <a:srgbClr val="D2DDE9"/>
            </a:solidFill>
            <a:prstDash val="solid"/>
          </a:ln>
        </p:spPr>
      </p:sp>
      <p:sp>
        <p:nvSpPr>
          <p:cNvPr id="38" name="Text 36"/>
          <p:cNvSpPr txBox="1"/>
          <p:nvPr/>
        </p:nvSpPr>
        <p:spPr>
          <a:xfrm>
            <a:off x="8226552" y="4818888"/>
            <a:ext cx="3313176"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How to use it</a:t>
            </a:r>
            <a:endParaRPr lang="en-US" sz="1150" dirty="0"/>
          </a:p>
        </p:txBody>
      </p:sp>
      <p:sp>
        <p:nvSpPr>
          <p:cNvPr id="39" name="Text 37"/>
          <p:cNvSpPr txBox="1"/>
          <p:nvPr/>
        </p:nvSpPr>
        <p:spPr>
          <a:xfrm>
            <a:off x="8226552" y="5157216"/>
            <a:ext cx="3313176" cy="996696"/>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Treat suggestions as candidates, not answers. Accept the ones that teach a reusable pattern, and reject the ones that merely memorise a single analyst's ad-hoc filter.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05</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Choosing the right surface</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There is a correct home for every piece of context. Putting it in the wrong one is the most common quality defect.</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official decision rule</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thirteen-rung priority ladder</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Vocabulary mapping: UI terms to API surfaces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Why column_configs must be built explicitly</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5.1 DECISION RULE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Three surfaces, three jobs [OFF-1]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18</a:t>
            </a:r>
            <a:endParaRPr lang="en-US" sz="800" dirty="0"/>
          </a:p>
        </p:txBody>
      </p:sp>
      <p:sp>
        <p:nvSpPr>
          <p:cNvPr id="6" name="Shape 4"/>
          <p:cNvSpPr/>
          <p:nvPr/>
        </p:nvSpPr>
        <p:spPr>
          <a:xfrm>
            <a:off x="502920" y="1207008"/>
            <a:ext cx="3581400" cy="2743200"/>
          </a:xfrm>
          <a:prstGeom prst="roundRect">
            <a:avLst>
              <a:gd name="adj" fmla="val 2000"/>
            </a:avLst>
          </a:prstGeom>
          <a:solidFill>
            <a:srgbClr val="F2F5F9"/>
          </a:solidFill>
          <a:ln w="9525">
            <a:solidFill>
              <a:srgbClr val="D2DDE9"/>
            </a:solidFill>
            <a:prstDash val="solid"/>
          </a:ln>
        </p:spPr>
      </p:sp>
      <p:sp>
        <p:nvSpPr>
          <p:cNvPr id="7" name="Shape 5"/>
          <p:cNvSpPr/>
          <p:nvPr/>
        </p:nvSpPr>
        <p:spPr>
          <a:xfrm>
            <a:off x="667512" y="1371600"/>
            <a:ext cx="274320" cy="274320"/>
          </a:xfrm>
          <a:prstGeom prst="roundRect">
            <a:avLst>
              <a:gd name="adj" fmla="val 16667"/>
            </a:avLst>
          </a:prstGeom>
          <a:solidFill>
            <a:srgbClr val="13456E"/>
          </a:solidFill>
          <a:ln/>
        </p:spPr>
      </p:sp>
      <p:sp>
        <p:nvSpPr>
          <p:cNvPr id="8" name="Text 6"/>
          <p:cNvSpPr txBox="1"/>
          <p:nvPr/>
        </p:nvSpPr>
        <p:spPr>
          <a:xfrm>
            <a:off x="667512" y="13716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1014984" y="1371600"/>
            <a:ext cx="2904744" cy="274320"/>
          </a:xfrm>
          <a:prstGeom prst="rect">
            <a:avLst/>
          </a:prstGeom>
          <a:noFill/>
          <a:ln/>
        </p:spPr>
        <p:txBody>
          <a:bodyPr wrap="square" lIns="0" tIns="0" rIns="0" bIns="0" rtlCol="0" anchor="ctr"/>
          <a:lstStyle/>
          <a:p>
            <a:pPr indent="0" marL="0">
              <a:buNone/>
            </a:pPr>
            <a:r>
              <a:rPr lang="en-US" sz="1350" b="1" dirty="0">
                <a:solidFill>
                  <a:srgbClr val="0E1B2A"/>
                </a:solidFill>
                <a:latin typeface="Calibri" pitchFamily="34" charset="0"/>
                <a:ea typeface="Calibri" pitchFamily="34" charset="-122"/>
                <a:cs typeface="Calibri" pitchFamily="34" charset="-120"/>
              </a:rPr>
              <a:t>SQL expressions</a:t>
            </a:r>
            <a:endParaRPr lang="en-US" sz="1350" dirty="0"/>
          </a:p>
        </p:txBody>
      </p:sp>
      <p:sp>
        <p:nvSpPr>
          <p:cNvPr id="10" name="Text 8"/>
          <p:cNvSpPr txBox="1"/>
          <p:nvPr/>
        </p:nvSpPr>
        <p:spPr>
          <a:xfrm>
            <a:off x="667512" y="1719072"/>
            <a:ext cx="3252216" cy="219456"/>
          </a:xfrm>
          <a:prstGeom prst="rect">
            <a:avLst/>
          </a:prstGeom>
          <a:noFill/>
          <a:ln/>
        </p:spPr>
        <p:txBody>
          <a:bodyPr wrap="square" lIns="0" tIns="0" rIns="0" bIns="0" rtlCol="0" anchor="t"/>
          <a:lstStyle/>
          <a:p>
            <a:pPr indent="0" marL="0">
              <a:buNone/>
            </a:pPr>
            <a:r>
              <a:rPr lang="en-US" sz="950" i="1" dirty="0">
                <a:solidFill>
                  <a:srgbClr val="13456E"/>
                </a:solidFill>
                <a:latin typeface="Calibri" pitchFamily="34" charset="0"/>
                <a:ea typeface="Calibri" pitchFamily="34" charset="-122"/>
                <a:cs typeface="Calibri" pitchFamily="34" charset="-120"/>
              </a:rPr>
              <a:t>for common business terms</a:t>
            </a:r>
            <a:endParaRPr lang="en-US" sz="950" dirty="0"/>
          </a:p>
        </p:txBody>
      </p:sp>
      <p:sp>
        <p:nvSpPr>
          <p:cNvPr id="11" name="Text 9"/>
          <p:cNvSpPr txBox="1"/>
          <p:nvPr/>
        </p:nvSpPr>
        <p:spPr>
          <a:xfrm>
            <a:off x="667512" y="1993392"/>
            <a:ext cx="3252216" cy="82296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Frequently used metrics, filters or dimensions representing standard business concepts.</a:t>
            </a:r>
            <a:endParaRPr lang="en-US" sz="1050" dirty="0"/>
          </a:p>
        </p:txBody>
      </p:sp>
      <p:sp>
        <p:nvSpPr>
          <p:cNvPr id="12" name="Shape 10"/>
          <p:cNvSpPr/>
          <p:nvPr/>
        </p:nvSpPr>
        <p:spPr>
          <a:xfrm>
            <a:off x="667512" y="2798064"/>
            <a:ext cx="3252216" cy="1024128"/>
          </a:xfrm>
          <a:prstGeom prst="roundRect">
            <a:avLst>
              <a:gd name="adj" fmla="val 4464"/>
            </a:avLst>
          </a:prstGeom>
          <a:solidFill>
            <a:srgbClr val="0E1B2A"/>
          </a:solidFill>
          <a:ln/>
        </p:spPr>
      </p:sp>
      <p:sp>
        <p:nvSpPr>
          <p:cNvPr id="13" name="Text 11"/>
          <p:cNvSpPr txBox="1"/>
          <p:nvPr/>
        </p:nvSpPr>
        <p:spPr>
          <a:xfrm>
            <a:off x="850392" y="2944368"/>
            <a:ext cx="2886456" cy="731520"/>
          </a:xfrm>
          <a:prstGeom prst="rect">
            <a:avLst/>
          </a:prstGeom>
          <a:noFill/>
          <a:ln/>
        </p:spPr>
        <p:txBody>
          <a:bodyPr wrap="square" lIns="0" tIns="0" rIns="0" bIns="0" rtlCol="0" anchor="t"/>
          <a:lstStyle/>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revenue</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active_customers</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gross_margin</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recent_sales</a:t>
            </a:r>
            <a:endParaRPr lang="en-US" sz="900" dirty="0"/>
          </a:p>
        </p:txBody>
      </p:sp>
      <p:sp>
        <p:nvSpPr>
          <p:cNvPr id="14" name="Shape 12"/>
          <p:cNvSpPr/>
          <p:nvPr/>
        </p:nvSpPr>
        <p:spPr>
          <a:xfrm>
            <a:off x="4303776" y="1207008"/>
            <a:ext cx="3581400" cy="2743200"/>
          </a:xfrm>
          <a:prstGeom prst="roundRect">
            <a:avLst>
              <a:gd name="adj" fmla="val 2000"/>
            </a:avLst>
          </a:prstGeom>
          <a:solidFill>
            <a:srgbClr val="F2F5F9"/>
          </a:solidFill>
          <a:ln w="9525">
            <a:solidFill>
              <a:srgbClr val="D2DDE9"/>
            </a:solidFill>
            <a:prstDash val="solid"/>
          </a:ln>
        </p:spPr>
      </p:sp>
      <p:sp>
        <p:nvSpPr>
          <p:cNvPr id="15" name="Shape 13"/>
          <p:cNvSpPr/>
          <p:nvPr/>
        </p:nvSpPr>
        <p:spPr>
          <a:xfrm>
            <a:off x="4468368" y="1371600"/>
            <a:ext cx="274320" cy="274320"/>
          </a:xfrm>
          <a:prstGeom prst="roundRect">
            <a:avLst>
              <a:gd name="adj" fmla="val 16667"/>
            </a:avLst>
          </a:prstGeom>
          <a:solidFill>
            <a:srgbClr val="2D6EA5"/>
          </a:solidFill>
          <a:ln/>
        </p:spPr>
      </p:sp>
      <p:sp>
        <p:nvSpPr>
          <p:cNvPr id="16" name="Text 14"/>
          <p:cNvSpPr txBox="1"/>
          <p:nvPr/>
        </p:nvSpPr>
        <p:spPr>
          <a:xfrm>
            <a:off x="4468368" y="13716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5"/>
          <p:cNvSpPr txBox="1"/>
          <p:nvPr/>
        </p:nvSpPr>
        <p:spPr>
          <a:xfrm>
            <a:off x="4815840" y="1371600"/>
            <a:ext cx="2904744" cy="274320"/>
          </a:xfrm>
          <a:prstGeom prst="rect">
            <a:avLst/>
          </a:prstGeom>
          <a:noFill/>
          <a:ln/>
        </p:spPr>
        <p:txBody>
          <a:bodyPr wrap="square" lIns="0" tIns="0" rIns="0" bIns="0" rtlCol="0" anchor="ctr"/>
          <a:lstStyle/>
          <a:p>
            <a:pPr indent="0" marL="0">
              <a:buNone/>
            </a:pPr>
            <a:r>
              <a:rPr lang="en-US" sz="1350" b="1" dirty="0">
                <a:solidFill>
                  <a:srgbClr val="0E1B2A"/>
                </a:solidFill>
                <a:latin typeface="Calibri" pitchFamily="34" charset="0"/>
                <a:ea typeface="Calibri" pitchFamily="34" charset="-122"/>
                <a:cs typeface="Calibri" pitchFamily="34" charset="-120"/>
              </a:rPr>
              <a:t>Example SQL queries</a:t>
            </a:r>
            <a:endParaRPr lang="en-US" sz="1350" dirty="0"/>
          </a:p>
        </p:txBody>
      </p:sp>
      <p:sp>
        <p:nvSpPr>
          <p:cNvPr id="18" name="Text 16"/>
          <p:cNvSpPr txBox="1"/>
          <p:nvPr/>
        </p:nvSpPr>
        <p:spPr>
          <a:xfrm>
            <a:off x="4468368" y="1719072"/>
            <a:ext cx="3252216" cy="219456"/>
          </a:xfrm>
          <a:prstGeom prst="rect">
            <a:avLst/>
          </a:prstGeom>
          <a:noFill/>
          <a:ln/>
        </p:spPr>
        <p:txBody>
          <a:bodyPr wrap="square" lIns="0" tIns="0" rIns="0" bIns="0" rtlCol="0" anchor="t"/>
          <a:lstStyle/>
          <a:p>
            <a:pPr indent="0" marL="0">
              <a:buNone/>
            </a:pPr>
            <a:r>
              <a:rPr lang="en-US" sz="950" i="1" dirty="0">
                <a:solidFill>
                  <a:srgbClr val="2D6EA5"/>
                </a:solidFill>
                <a:latin typeface="Calibri" pitchFamily="34" charset="0"/>
                <a:ea typeface="Calibri" pitchFamily="34" charset="-122"/>
                <a:cs typeface="Calibri" pitchFamily="34" charset="-120"/>
              </a:rPr>
              <a:t>for complex questions</a:t>
            </a:r>
            <a:endParaRPr lang="en-US" sz="950" dirty="0"/>
          </a:p>
        </p:txBody>
      </p:sp>
      <p:sp>
        <p:nvSpPr>
          <p:cNvPr id="19" name="Text 17"/>
          <p:cNvSpPr txBox="1"/>
          <p:nvPr/>
        </p:nvSpPr>
        <p:spPr>
          <a:xfrm>
            <a:off x="4468368" y="1993392"/>
            <a:ext cx="3252216" cy="82296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Hard-to-interpret, multi-part or complex questions needing intricate query patterns and multi-step logic.</a:t>
            </a:r>
            <a:endParaRPr lang="en-US" sz="1050" dirty="0"/>
          </a:p>
        </p:txBody>
      </p:sp>
      <p:sp>
        <p:nvSpPr>
          <p:cNvPr id="20" name="Shape 18"/>
          <p:cNvSpPr/>
          <p:nvPr/>
        </p:nvSpPr>
        <p:spPr>
          <a:xfrm>
            <a:off x="4468368" y="2798064"/>
            <a:ext cx="3252216" cy="1024128"/>
          </a:xfrm>
          <a:prstGeom prst="roundRect">
            <a:avLst>
              <a:gd name="adj" fmla="val 4464"/>
            </a:avLst>
          </a:prstGeom>
          <a:solidFill>
            <a:srgbClr val="0E1B2A"/>
          </a:solidFill>
          <a:ln/>
        </p:spPr>
      </p:sp>
      <p:sp>
        <p:nvSpPr>
          <p:cNvPr id="21" name="Text 19"/>
          <p:cNvSpPr txBox="1"/>
          <p:nvPr/>
        </p:nvSpPr>
        <p:spPr>
          <a:xfrm>
            <a:off x="4651248" y="2944368"/>
            <a:ext cx="2886456" cy="731520"/>
          </a:xfrm>
          <a:prstGeom prst="rect">
            <a:avLst/>
          </a:prstGeom>
          <a:noFill/>
          <a:ln/>
        </p:spPr>
        <p:txBody>
          <a:bodyPr wrap="square" lIns="0" tIns="0" rIns="0" bIns="0" rtlCol="0" anchor="t"/>
          <a:lstStyle/>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“breakdown my team's performance”</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“For customers who've only joined</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  recently, what products are doing</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  the best?”</a:t>
            </a:r>
            <a:endParaRPr lang="en-US" sz="900" dirty="0"/>
          </a:p>
        </p:txBody>
      </p:sp>
      <p:sp>
        <p:nvSpPr>
          <p:cNvPr id="22" name="Shape 20"/>
          <p:cNvSpPr/>
          <p:nvPr/>
        </p:nvSpPr>
        <p:spPr>
          <a:xfrm>
            <a:off x="8104632" y="1207008"/>
            <a:ext cx="3581400" cy="2743200"/>
          </a:xfrm>
          <a:prstGeom prst="roundRect">
            <a:avLst>
              <a:gd name="adj" fmla="val 2000"/>
            </a:avLst>
          </a:prstGeom>
          <a:solidFill>
            <a:srgbClr val="F2F5F9"/>
          </a:solidFill>
          <a:ln w="9525">
            <a:solidFill>
              <a:srgbClr val="D2DDE9"/>
            </a:solidFill>
            <a:prstDash val="solid"/>
          </a:ln>
        </p:spPr>
      </p:sp>
      <p:sp>
        <p:nvSpPr>
          <p:cNvPr id="23" name="Shape 21"/>
          <p:cNvSpPr/>
          <p:nvPr/>
        </p:nvSpPr>
        <p:spPr>
          <a:xfrm>
            <a:off x="8269224" y="1371600"/>
            <a:ext cx="274320" cy="274320"/>
          </a:xfrm>
          <a:prstGeom prst="roundRect">
            <a:avLst>
              <a:gd name="adj" fmla="val 16667"/>
            </a:avLst>
          </a:prstGeom>
          <a:solidFill>
            <a:srgbClr val="E8552D"/>
          </a:solidFill>
          <a:ln/>
        </p:spPr>
      </p:sp>
      <p:sp>
        <p:nvSpPr>
          <p:cNvPr id="24" name="Text 22"/>
          <p:cNvSpPr txBox="1"/>
          <p:nvPr/>
        </p:nvSpPr>
        <p:spPr>
          <a:xfrm>
            <a:off x="8269224" y="13716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5" name="Text 23"/>
          <p:cNvSpPr txBox="1"/>
          <p:nvPr/>
        </p:nvSpPr>
        <p:spPr>
          <a:xfrm>
            <a:off x="8616696" y="1371600"/>
            <a:ext cx="2904744" cy="274320"/>
          </a:xfrm>
          <a:prstGeom prst="rect">
            <a:avLst/>
          </a:prstGeom>
          <a:noFill/>
          <a:ln/>
        </p:spPr>
        <p:txBody>
          <a:bodyPr wrap="square" lIns="0" tIns="0" rIns="0" bIns="0" rtlCol="0" anchor="ctr"/>
          <a:lstStyle/>
          <a:p>
            <a:pPr indent="0" marL="0">
              <a:buNone/>
            </a:pPr>
            <a:r>
              <a:rPr lang="en-US" sz="1350" b="1" dirty="0">
                <a:solidFill>
                  <a:srgbClr val="0E1B2A"/>
                </a:solidFill>
                <a:latin typeface="Calibri" pitchFamily="34" charset="0"/>
                <a:ea typeface="Calibri" pitchFamily="34" charset="-122"/>
                <a:cs typeface="Calibri" pitchFamily="34" charset="-120"/>
              </a:rPr>
              <a:t>Text instructions</a:t>
            </a:r>
            <a:endParaRPr lang="en-US" sz="1350" dirty="0"/>
          </a:p>
        </p:txBody>
      </p:sp>
      <p:sp>
        <p:nvSpPr>
          <p:cNvPr id="26" name="Text 24"/>
          <p:cNvSpPr txBox="1"/>
          <p:nvPr/>
        </p:nvSpPr>
        <p:spPr>
          <a:xfrm>
            <a:off x="8269224" y="1719072"/>
            <a:ext cx="3252216" cy="219456"/>
          </a:xfrm>
          <a:prstGeom prst="rect">
            <a:avLst/>
          </a:prstGeom>
          <a:noFill/>
          <a:ln/>
        </p:spPr>
        <p:txBody>
          <a:bodyPr wrap="square" lIns="0" tIns="0" rIns="0" bIns="0" rtlCol="0" anchor="t"/>
          <a:lstStyle/>
          <a:p>
            <a:pPr indent="0" marL="0">
              <a:buNone/>
            </a:pPr>
            <a:r>
              <a:rPr lang="en-US" sz="950" i="1" dirty="0">
                <a:solidFill>
                  <a:srgbClr val="E8552D"/>
                </a:solidFill>
                <a:latin typeface="Calibri" pitchFamily="34" charset="0"/>
                <a:ea typeface="Calibri" pitchFamily="34" charset="-122"/>
                <a:cs typeface="Calibri" pitchFamily="34" charset="-120"/>
              </a:rPr>
              <a:t>last resort only</a:t>
            </a:r>
            <a:endParaRPr lang="en-US" sz="950" dirty="0"/>
          </a:p>
        </p:txBody>
      </p:sp>
      <p:sp>
        <p:nvSpPr>
          <p:cNvPr id="27" name="Text 25"/>
          <p:cNvSpPr txBox="1"/>
          <p:nvPr/>
        </p:nvSpPr>
        <p:spPr>
          <a:xfrm>
            <a:off x="8269224" y="1993392"/>
            <a:ext cx="3252216" cy="82296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Guidance that genuinely requires natural-language explanation — asking users to clarify a time range, or rounding percentages in summaries.</a:t>
            </a:r>
            <a:endParaRPr lang="en-US" sz="1050" dirty="0"/>
          </a:p>
        </p:txBody>
      </p:sp>
      <p:sp>
        <p:nvSpPr>
          <p:cNvPr id="28" name="Shape 26"/>
          <p:cNvSpPr/>
          <p:nvPr/>
        </p:nvSpPr>
        <p:spPr>
          <a:xfrm>
            <a:off x="8269224" y="2798064"/>
            <a:ext cx="3252216" cy="1024128"/>
          </a:xfrm>
          <a:prstGeom prst="roundRect">
            <a:avLst>
              <a:gd name="adj" fmla="val 4464"/>
            </a:avLst>
          </a:prstGeom>
          <a:solidFill>
            <a:srgbClr val="0E1B2A"/>
          </a:solidFill>
          <a:ln/>
        </p:spPr>
      </p:sp>
      <p:sp>
        <p:nvSpPr>
          <p:cNvPr id="29" name="Text 27"/>
          <p:cNvSpPr txBox="1"/>
          <p:nvPr/>
        </p:nvSpPr>
        <p:spPr>
          <a:xfrm>
            <a:off x="8452104" y="2944368"/>
            <a:ext cx="2886456" cy="731520"/>
          </a:xfrm>
          <a:prstGeom prst="rect">
            <a:avLst/>
          </a:prstGeom>
          <a:noFill/>
          <a:ln/>
        </p:spPr>
        <p:txBody>
          <a:bodyPr wrap="square" lIns="0" tIns="0" rIns="0" bIns="0" rtlCol="0" anchor="t"/>
          <a:lstStyle/>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Avoid using text instructions to</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define metrics, filters or query</a:t>
            </a:r>
            <a:endParaRPr lang="en-US" sz="900" dirty="0"/>
          </a:p>
          <a:p>
            <a:pPr indent="0" marL="0">
              <a:lnSpc>
                <a:spcPts val="1250"/>
              </a:lnSpc>
              <a:buNone/>
            </a:pPr>
            <a:r>
              <a:rPr lang="en-US" sz="900" dirty="0">
                <a:solidFill>
                  <a:srgbClr val="DCE6F2"/>
                </a:solidFill>
                <a:latin typeface="Courier New" pitchFamily="34" charset="0"/>
                <a:ea typeface="Courier New" pitchFamily="34" charset="-122"/>
                <a:cs typeface="Courier New" pitchFamily="34" charset="-120"/>
              </a:rPr>
              <a:t>patterns expressible through SQL.</a:t>
            </a:r>
            <a:endParaRPr lang="en-US" sz="900" dirty="0"/>
          </a:p>
        </p:txBody>
      </p:sp>
      <p:sp>
        <p:nvSpPr>
          <p:cNvPr id="30" name="Shape 28"/>
          <p:cNvSpPr/>
          <p:nvPr/>
        </p:nvSpPr>
        <p:spPr>
          <a:xfrm>
            <a:off x="502920" y="4169664"/>
            <a:ext cx="3581400" cy="2103120"/>
          </a:xfrm>
          <a:prstGeom prst="roundRect">
            <a:avLst>
              <a:gd name="adj" fmla="val 2609"/>
            </a:avLst>
          </a:prstGeom>
          <a:solidFill>
            <a:srgbClr val="E4ECF4"/>
          </a:solidFill>
          <a:ln w="9525">
            <a:solidFill>
              <a:srgbClr val="D2DDE9"/>
            </a:solidFill>
            <a:prstDash val="solid"/>
          </a:ln>
        </p:spPr>
      </p:sp>
      <p:sp>
        <p:nvSpPr>
          <p:cNvPr id="31" name="Text 29"/>
          <p:cNvSpPr txBox="1"/>
          <p:nvPr/>
        </p:nvSpPr>
        <p:spPr>
          <a:xfrm>
            <a:off x="649224" y="4288536"/>
            <a:ext cx="328879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Too many instructions actively hurt</a:t>
            </a:r>
            <a:endParaRPr lang="en-US" sz="1150" dirty="0"/>
          </a:p>
        </p:txBody>
      </p:sp>
      <p:sp>
        <p:nvSpPr>
          <p:cNvPr id="32" name="Text 30"/>
          <p:cNvSpPr txBox="1"/>
          <p:nvPr/>
        </p:nvSpPr>
        <p:spPr>
          <a:xfrm>
            <a:off x="649224" y="4626864"/>
            <a:ext cx="3288792" cy="152704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Genie Agents perform best with a limited, focused set of instructions. Too many can reduce effectiveness, especially in longer conversations, because Genie might struggle to prioritise the most important guidance.  [OFF-1]</a:t>
            </a:r>
            <a:endParaRPr lang="en-US" sz="1000" dirty="0"/>
          </a:p>
        </p:txBody>
      </p:sp>
      <p:sp>
        <p:nvSpPr>
          <p:cNvPr id="33" name="Shape 31"/>
          <p:cNvSpPr/>
          <p:nvPr/>
        </p:nvSpPr>
        <p:spPr>
          <a:xfrm>
            <a:off x="4303776" y="4169664"/>
            <a:ext cx="3581400" cy="2103120"/>
          </a:xfrm>
          <a:prstGeom prst="roundRect">
            <a:avLst>
              <a:gd name="adj" fmla="val 2609"/>
            </a:avLst>
          </a:prstGeom>
          <a:solidFill>
            <a:srgbClr val="E4ECF4"/>
          </a:solidFill>
          <a:ln w="9525">
            <a:solidFill>
              <a:srgbClr val="D2DDE9"/>
            </a:solidFill>
            <a:prstDash val="solid"/>
          </a:ln>
        </p:spPr>
      </p:sp>
      <p:sp>
        <p:nvSpPr>
          <p:cNvPr id="34" name="Text 32"/>
          <p:cNvSpPr txBox="1"/>
          <p:nvPr/>
        </p:nvSpPr>
        <p:spPr>
          <a:xfrm>
            <a:off x="4450080" y="4288536"/>
            <a:ext cx="328879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Global vs. subset scope</a:t>
            </a:r>
            <a:endParaRPr lang="en-US" sz="1150" dirty="0"/>
          </a:p>
        </p:txBody>
      </p:sp>
      <p:sp>
        <p:nvSpPr>
          <p:cNvPr id="35" name="Text 33"/>
          <p:cNvSpPr txBox="1"/>
          <p:nvPr/>
        </p:nvSpPr>
        <p:spPr>
          <a:xfrm>
            <a:off x="4450080" y="4626864"/>
            <a:ext cx="3288792" cy="152704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General text instructions apply to all prompts. If an instruction is relevant only to a subset of prompts, it belongs in an example query or function, or in table comments and metadata.  [OFF-2]</a:t>
            </a:r>
            <a:endParaRPr lang="en-US" sz="1000" dirty="0"/>
          </a:p>
        </p:txBody>
      </p:sp>
      <p:sp>
        <p:nvSpPr>
          <p:cNvPr id="36" name="Shape 34"/>
          <p:cNvSpPr/>
          <p:nvPr/>
        </p:nvSpPr>
        <p:spPr>
          <a:xfrm>
            <a:off x="8104632" y="4169664"/>
            <a:ext cx="3581400" cy="2103120"/>
          </a:xfrm>
          <a:prstGeom prst="roundRect">
            <a:avLst>
              <a:gd name="adj" fmla="val 2609"/>
            </a:avLst>
          </a:prstGeom>
          <a:solidFill>
            <a:srgbClr val="E4ECF4"/>
          </a:solidFill>
          <a:ln w="9525">
            <a:solidFill>
              <a:srgbClr val="D2DDE9"/>
            </a:solidFill>
            <a:prstDash val="solid"/>
          </a:ln>
        </p:spPr>
      </p:sp>
      <p:sp>
        <p:nvSpPr>
          <p:cNvPr id="37" name="Text 35"/>
          <p:cNvSpPr txBox="1"/>
          <p:nvPr/>
        </p:nvSpPr>
        <p:spPr>
          <a:xfrm>
            <a:off x="8250936" y="4288536"/>
            <a:ext cx="3288792"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Expressions and examples are complements</a:t>
            </a:r>
            <a:endParaRPr lang="en-US" sz="1150" dirty="0"/>
          </a:p>
        </p:txBody>
      </p:sp>
      <p:sp>
        <p:nvSpPr>
          <p:cNvPr id="38" name="Text 36"/>
          <p:cNvSpPr txBox="1"/>
          <p:nvPr/>
        </p:nvSpPr>
        <p:spPr>
          <a:xfrm>
            <a:off x="8250936" y="4626864"/>
            <a:ext cx="3288792" cy="152704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Expressions define reusable business concepts; examples teach Genie how to approach common prompt formats. If users ask for “a breakdown of performance”, an example query can show that this means closed sales by region, sales rep and manager.  [OFF-2]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5.2 SURFACE PRIORITY ORDER</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Thirteen rungs, structured first, text last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19</a:t>
            </a:r>
            <a:endParaRPr lang="en-US" sz="800" dirty="0"/>
          </a:p>
        </p:txBody>
      </p:sp>
      <p:sp>
        <p:nvSpPr>
          <p:cNvPr id="6" name="Shape 4"/>
          <p:cNvSpPr/>
          <p:nvPr/>
        </p:nvSpPr>
        <p:spPr>
          <a:xfrm>
            <a:off x="502920" y="1188720"/>
            <a:ext cx="5532120" cy="411480"/>
          </a:xfrm>
          <a:prstGeom prst="roundRect">
            <a:avLst>
              <a:gd name="adj" fmla="val 13333"/>
            </a:avLst>
          </a:prstGeom>
          <a:solidFill>
            <a:srgbClr val="F2F5F9"/>
          </a:solidFill>
          <a:ln w="9525">
            <a:solidFill>
              <a:srgbClr val="D2DDE9"/>
            </a:solidFill>
            <a:prstDash val="solid"/>
          </a:ln>
        </p:spPr>
      </p:sp>
      <p:sp>
        <p:nvSpPr>
          <p:cNvPr id="7" name="Shape 5"/>
          <p:cNvSpPr/>
          <p:nvPr/>
        </p:nvSpPr>
        <p:spPr>
          <a:xfrm>
            <a:off x="594360" y="1257300"/>
            <a:ext cx="274320" cy="274320"/>
          </a:xfrm>
          <a:prstGeom prst="roundRect">
            <a:avLst>
              <a:gd name="adj" fmla="val 16667"/>
            </a:avLst>
          </a:prstGeom>
          <a:solidFill>
            <a:srgbClr val="13456E"/>
          </a:solidFill>
          <a:ln/>
        </p:spPr>
      </p:sp>
      <p:sp>
        <p:nvSpPr>
          <p:cNvPr id="8" name="Text 6"/>
          <p:cNvSpPr txBox="1"/>
          <p:nvPr/>
        </p:nvSpPr>
        <p:spPr>
          <a:xfrm>
            <a:off x="594360" y="12573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41832" y="1188720"/>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Agent description</a:t>
            </a:r>
            <a:endParaRPr lang="en-US" sz="1000" dirty="0"/>
          </a:p>
        </p:txBody>
      </p:sp>
      <p:sp>
        <p:nvSpPr>
          <p:cNvPr id="10" name="Text 8"/>
          <p:cNvSpPr txBox="1"/>
          <p:nvPr/>
        </p:nvSpPr>
        <p:spPr>
          <a:xfrm>
            <a:off x="3319272" y="1188720"/>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Set first. Required for multi-agent routing.</a:t>
            </a:r>
            <a:endParaRPr lang="en-US" sz="850" dirty="0"/>
          </a:p>
        </p:txBody>
      </p:sp>
      <p:sp>
        <p:nvSpPr>
          <p:cNvPr id="11" name="Shape 9"/>
          <p:cNvSpPr/>
          <p:nvPr/>
        </p:nvSpPr>
        <p:spPr>
          <a:xfrm>
            <a:off x="502920" y="1673352"/>
            <a:ext cx="5532120" cy="411480"/>
          </a:xfrm>
          <a:prstGeom prst="roundRect">
            <a:avLst>
              <a:gd name="adj" fmla="val 13333"/>
            </a:avLst>
          </a:prstGeom>
          <a:solidFill>
            <a:srgbClr val="F2F5F9"/>
          </a:solidFill>
          <a:ln w="9525">
            <a:solidFill>
              <a:srgbClr val="D2DDE9"/>
            </a:solidFill>
            <a:prstDash val="solid"/>
          </a:ln>
        </p:spPr>
      </p:sp>
      <p:sp>
        <p:nvSpPr>
          <p:cNvPr id="12" name="Shape 10"/>
          <p:cNvSpPr/>
          <p:nvPr/>
        </p:nvSpPr>
        <p:spPr>
          <a:xfrm>
            <a:off x="594360" y="1741932"/>
            <a:ext cx="274320" cy="274320"/>
          </a:xfrm>
          <a:prstGeom prst="roundRect">
            <a:avLst>
              <a:gd name="adj" fmla="val 16667"/>
            </a:avLst>
          </a:prstGeom>
          <a:solidFill>
            <a:srgbClr val="13456E"/>
          </a:solidFill>
          <a:ln/>
        </p:spPr>
      </p:sp>
      <p:sp>
        <p:nvSpPr>
          <p:cNvPr id="13" name="Text 11"/>
          <p:cNvSpPr txBox="1"/>
          <p:nvPr/>
        </p:nvSpPr>
        <p:spPr>
          <a:xfrm>
            <a:off x="594360" y="174193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941832" y="1673352"/>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Metric View semantic metadata</a:t>
            </a:r>
            <a:endParaRPr lang="en-US" sz="1000" dirty="0"/>
          </a:p>
        </p:txBody>
      </p:sp>
      <p:sp>
        <p:nvSpPr>
          <p:cNvPr id="15" name="Text 13"/>
          <p:cNvSpPr txBox="1"/>
          <p:nvPr/>
        </p:nvSpPr>
        <p:spPr>
          <a:xfrm>
            <a:off x="3319272" y="1673352"/>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When it already owns the business definition.</a:t>
            </a:r>
            <a:endParaRPr lang="en-US" sz="850" dirty="0"/>
          </a:p>
        </p:txBody>
      </p:sp>
      <p:sp>
        <p:nvSpPr>
          <p:cNvPr id="16" name="Shape 14"/>
          <p:cNvSpPr/>
          <p:nvPr/>
        </p:nvSpPr>
        <p:spPr>
          <a:xfrm>
            <a:off x="502920" y="2157984"/>
            <a:ext cx="5532120" cy="411480"/>
          </a:xfrm>
          <a:prstGeom prst="roundRect">
            <a:avLst>
              <a:gd name="adj" fmla="val 13333"/>
            </a:avLst>
          </a:prstGeom>
          <a:solidFill>
            <a:srgbClr val="F2F5F9"/>
          </a:solidFill>
          <a:ln w="9525">
            <a:solidFill>
              <a:srgbClr val="D2DDE9"/>
            </a:solidFill>
            <a:prstDash val="solid"/>
          </a:ln>
        </p:spPr>
      </p:sp>
      <p:sp>
        <p:nvSpPr>
          <p:cNvPr id="17" name="Shape 15"/>
          <p:cNvSpPr/>
          <p:nvPr/>
        </p:nvSpPr>
        <p:spPr>
          <a:xfrm>
            <a:off x="594360" y="2226564"/>
            <a:ext cx="274320" cy="274320"/>
          </a:xfrm>
          <a:prstGeom prst="roundRect">
            <a:avLst>
              <a:gd name="adj" fmla="val 16667"/>
            </a:avLst>
          </a:prstGeom>
          <a:solidFill>
            <a:srgbClr val="13456E"/>
          </a:solidFill>
          <a:ln/>
        </p:spPr>
      </p:sp>
      <p:sp>
        <p:nvSpPr>
          <p:cNvPr id="18" name="Text 16"/>
          <p:cNvSpPr txBox="1"/>
          <p:nvPr/>
        </p:nvSpPr>
        <p:spPr>
          <a:xfrm>
            <a:off x="594360" y="222656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941832" y="2157984"/>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Focused data source selection</a:t>
            </a:r>
            <a:endParaRPr lang="en-US" sz="1000" dirty="0"/>
          </a:p>
        </p:txBody>
      </p:sp>
      <p:sp>
        <p:nvSpPr>
          <p:cNvPr id="20" name="Text 18"/>
          <p:cNvSpPr txBox="1"/>
          <p:nvPr/>
        </p:nvSpPr>
        <p:spPr>
          <a:xfrm>
            <a:off x="3319272" y="2157984"/>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Fewer, better-chosen objects beat broad coverage.</a:t>
            </a:r>
            <a:endParaRPr lang="en-US" sz="850" dirty="0"/>
          </a:p>
        </p:txBody>
      </p:sp>
      <p:sp>
        <p:nvSpPr>
          <p:cNvPr id="21" name="Shape 19"/>
          <p:cNvSpPr/>
          <p:nvPr/>
        </p:nvSpPr>
        <p:spPr>
          <a:xfrm>
            <a:off x="502920" y="2642616"/>
            <a:ext cx="5532120" cy="411480"/>
          </a:xfrm>
          <a:prstGeom prst="roundRect">
            <a:avLst>
              <a:gd name="adj" fmla="val 13333"/>
            </a:avLst>
          </a:prstGeom>
          <a:solidFill>
            <a:srgbClr val="F2F5F9"/>
          </a:solidFill>
          <a:ln w="9525">
            <a:solidFill>
              <a:srgbClr val="D2DDE9"/>
            </a:solidFill>
            <a:prstDash val="solid"/>
          </a:ln>
        </p:spPr>
      </p:sp>
      <p:sp>
        <p:nvSpPr>
          <p:cNvPr id="22" name="Shape 20"/>
          <p:cNvSpPr/>
          <p:nvPr/>
        </p:nvSpPr>
        <p:spPr>
          <a:xfrm>
            <a:off x="594360" y="2711196"/>
            <a:ext cx="274320" cy="274320"/>
          </a:xfrm>
          <a:prstGeom prst="roundRect">
            <a:avLst>
              <a:gd name="adj" fmla="val 16667"/>
            </a:avLst>
          </a:prstGeom>
          <a:solidFill>
            <a:srgbClr val="13456E"/>
          </a:solidFill>
          <a:ln/>
        </p:spPr>
      </p:sp>
      <p:sp>
        <p:nvSpPr>
          <p:cNvPr id="23" name="Text 21"/>
          <p:cNvSpPr txBox="1"/>
          <p:nvPr/>
        </p:nvSpPr>
        <p:spPr>
          <a:xfrm>
            <a:off x="594360" y="271119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941832" y="2642616"/>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Table / Metric View / column descriptions</a:t>
            </a:r>
            <a:endParaRPr lang="en-US" sz="1000" dirty="0"/>
          </a:p>
        </p:txBody>
      </p:sp>
      <p:sp>
        <p:nvSpPr>
          <p:cNvPr id="25" name="Text 23"/>
          <p:cNvSpPr txBox="1"/>
          <p:nvPr/>
        </p:nvSpPr>
        <p:spPr>
          <a:xfrm>
            <a:off x="3319272" y="2642616"/>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column_configs[].description</a:t>
            </a:r>
            <a:endParaRPr lang="en-US" sz="850" dirty="0"/>
          </a:p>
        </p:txBody>
      </p:sp>
      <p:sp>
        <p:nvSpPr>
          <p:cNvPr id="26" name="Shape 24"/>
          <p:cNvSpPr/>
          <p:nvPr/>
        </p:nvSpPr>
        <p:spPr>
          <a:xfrm>
            <a:off x="502920" y="3127248"/>
            <a:ext cx="5532120" cy="411480"/>
          </a:xfrm>
          <a:prstGeom prst="roundRect">
            <a:avLst>
              <a:gd name="adj" fmla="val 13333"/>
            </a:avLst>
          </a:prstGeom>
          <a:solidFill>
            <a:srgbClr val="F2F5F9"/>
          </a:solidFill>
          <a:ln w="9525">
            <a:solidFill>
              <a:srgbClr val="D2DDE9"/>
            </a:solidFill>
            <a:prstDash val="solid"/>
          </a:ln>
        </p:spPr>
      </p:sp>
      <p:sp>
        <p:nvSpPr>
          <p:cNvPr id="27" name="Shape 25"/>
          <p:cNvSpPr/>
          <p:nvPr/>
        </p:nvSpPr>
        <p:spPr>
          <a:xfrm>
            <a:off x="594360" y="3195828"/>
            <a:ext cx="274320" cy="274320"/>
          </a:xfrm>
          <a:prstGeom prst="roundRect">
            <a:avLst>
              <a:gd name="adj" fmla="val 16667"/>
            </a:avLst>
          </a:prstGeom>
          <a:solidFill>
            <a:srgbClr val="13456E"/>
          </a:solidFill>
          <a:ln/>
        </p:spPr>
      </p:sp>
      <p:sp>
        <p:nvSpPr>
          <p:cNvPr id="28" name="Text 26"/>
          <p:cNvSpPr txBox="1"/>
          <p:nvPr/>
        </p:nvSpPr>
        <p:spPr>
          <a:xfrm>
            <a:off x="594360" y="319582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941832" y="3127248"/>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Synonyms and display names</a:t>
            </a:r>
            <a:endParaRPr lang="en-US" sz="1000" dirty="0"/>
          </a:p>
        </p:txBody>
      </p:sp>
      <p:sp>
        <p:nvSpPr>
          <p:cNvPr id="30" name="Text 28"/>
          <p:cNvSpPr txBox="1"/>
          <p:nvPr/>
        </p:nvSpPr>
        <p:spPr>
          <a:xfrm>
            <a:off x="3319272" y="3127248"/>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column_configs[].synonyms</a:t>
            </a:r>
            <a:endParaRPr lang="en-US" sz="850" dirty="0"/>
          </a:p>
        </p:txBody>
      </p:sp>
      <p:sp>
        <p:nvSpPr>
          <p:cNvPr id="31" name="Shape 29"/>
          <p:cNvSpPr/>
          <p:nvPr/>
        </p:nvSpPr>
        <p:spPr>
          <a:xfrm>
            <a:off x="502920" y="3611880"/>
            <a:ext cx="5532120" cy="411480"/>
          </a:xfrm>
          <a:prstGeom prst="roundRect">
            <a:avLst>
              <a:gd name="adj" fmla="val 13333"/>
            </a:avLst>
          </a:prstGeom>
          <a:solidFill>
            <a:srgbClr val="F2F5F9"/>
          </a:solidFill>
          <a:ln w="9525">
            <a:solidFill>
              <a:srgbClr val="D2DDE9"/>
            </a:solidFill>
            <a:prstDash val="solid"/>
          </a:ln>
        </p:spPr>
      </p:sp>
      <p:sp>
        <p:nvSpPr>
          <p:cNvPr id="32" name="Shape 30"/>
          <p:cNvSpPr/>
          <p:nvPr/>
        </p:nvSpPr>
        <p:spPr>
          <a:xfrm>
            <a:off x="594360" y="3680460"/>
            <a:ext cx="274320" cy="274320"/>
          </a:xfrm>
          <a:prstGeom prst="roundRect">
            <a:avLst>
              <a:gd name="adj" fmla="val 16667"/>
            </a:avLst>
          </a:prstGeom>
          <a:solidFill>
            <a:srgbClr val="13456E"/>
          </a:solidFill>
          <a:ln/>
        </p:spPr>
      </p:sp>
      <p:sp>
        <p:nvSpPr>
          <p:cNvPr id="33" name="Text 31"/>
          <p:cNvSpPr txBox="1"/>
          <p:nvPr/>
        </p:nvSpPr>
        <p:spPr>
          <a:xfrm>
            <a:off x="594360" y="368046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4" name="Text 32"/>
          <p:cNvSpPr txBox="1"/>
          <p:nvPr/>
        </p:nvSpPr>
        <p:spPr>
          <a:xfrm>
            <a:off x="941832" y="3611880"/>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Format assistance &amp; entity matching</a:t>
            </a:r>
            <a:endParaRPr lang="en-US" sz="1000" dirty="0"/>
          </a:p>
        </p:txBody>
      </p:sp>
      <p:sp>
        <p:nvSpPr>
          <p:cNvPr id="35" name="Text 33"/>
          <p:cNvSpPr txBox="1"/>
          <p:nvPr/>
        </p:nvSpPr>
        <p:spPr>
          <a:xfrm>
            <a:off x="3319272" y="3611880"/>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enable_format_assistance / enable_entity_matching — selectively.</a:t>
            </a:r>
            <a:endParaRPr lang="en-US" sz="850" dirty="0"/>
          </a:p>
        </p:txBody>
      </p:sp>
      <p:sp>
        <p:nvSpPr>
          <p:cNvPr id="36" name="Shape 34"/>
          <p:cNvSpPr/>
          <p:nvPr/>
        </p:nvSpPr>
        <p:spPr>
          <a:xfrm>
            <a:off x="502920" y="4096512"/>
            <a:ext cx="5532120" cy="411480"/>
          </a:xfrm>
          <a:prstGeom prst="roundRect">
            <a:avLst>
              <a:gd name="adj" fmla="val 13333"/>
            </a:avLst>
          </a:prstGeom>
          <a:solidFill>
            <a:srgbClr val="F2F5F9"/>
          </a:solidFill>
          <a:ln w="9525">
            <a:solidFill>
              <a:srgbClr val="D2DDE9"/>
            </a:solidFill>
            <a:prstDash val="solid"/>
          </a:ln>
        </p:spPr>
      </p:sp>
      <p:sp>
        <p:nvSpPr>
          <p:cNvPr id="37" name="Shape 35"/>
          <p:cNvSpPr/>
          <p:nvPr/>
        </p:nvSpPr>
        <p:spPr>
          <a:xfrm>
            <a:off x="594360" y="4165092"/>
            <a:ext cx="274320" cy="274320"/>
          </a:xfrm>
          <a:prstGeom prst="roundRect">
            <a:avLst>
              <a:gd name="adj" fmla="val 16667"/>
            </a:avLst>
          </a:prstGeom>
          <a:solidFill>
            <a:srgbClr val="13456E"/>
          </a:solidFill>
          <a:ln/>
        </p:spPr>
      </p:sp>
      <p:sp>
        <p:nvSpPr>
          <p:cNvPr id="38" name="Text 36"/>
          <p:cNvSpPr txBox="1"/>
          <p:nvPr/>
        </p:nvSpPr>
        <p:spPr>
          <a:xfrm>
            <a:off x="594360" y="416509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39" name="Text 37"/>
          <p:cNvSpPr txBox="1"/>
          <p:nvPr/>
        </p:nvSpPr>
        <p:spPr>
          <a:xfrm>
            <a:off x="941832" y="4096512"/>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Hidden fields</a:t>
            </a:r>
            <a:endParaRPr lang="en-US" sz="1000" dirty="0"/>
          </a:p>
        </p:txBody>
      </p:sp>
      <p:sp>
        <p:nvSpPr>
          <p:cNvPr id="40" name="Text 38"/>
          <p:cNvSpPr txBox="1"/>
          <p:nvPr/>
        </p:nvSpPr>
        <p:spPr>
          <a:xfrm>
            <a:off x="3319272" y="4096512"/>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column_configs[].exclude</a:t>
            </a:r>
            <a:endParaRPr lang="en-US" sz="850" dirty="0"/>
          </a:p>
        </p:txBody>
      </p:sp>
      <p:sp>
        <p:nvSpPr>
          <p:cNvPr id="41" name="Shape 39"/>
          <p:cNvSpPr/>
          <p:nvPr/>
        </p:nvSpPr>
        <p:spPr>
          <a:xfrm>
            <a:off x="6199632" y="1188720"/>
            <a:ext cx="5532120" cy="411480"/>
          </a:xfrm>
          <a:prstGeom prst="roundRect">
            <a:avLst>
              <a:gd name="adj" fmla="val 13333"/>
            </a:avLst>
          </a:prstGeom>
          <a:solidFill>
            <a:srgbClr val="F2F5F9"/>
          </a:solidFill>
          <a:ln w="9525">
            <a:solidFill>
              <a:srgbClr val="D2DDE9"/>
            </a:solidFill>
            <a:prstDash val="solid"/>
          </a:ln>
        </p:spPr>
      </p:sp>
      <p:sp>
        <p:nvSpPr>
          <p:cNvPr id="42" name="Shape 40"/>
          <p:cNvSpPr/>
          <p:nvPr/>
        </p:nvSpPr>
        <p:spPr>
          <a:xfrm>
            <a:off x="6291072" y="1257300"/>
            <a:ext cx="274320" cy="274320"/>
          </a:xfrm>
          <a:prstGeom prst="roundRect">
            <a:avLst>
              <a:gd name="adj" fmla="val 16667"/>
            </a:avLst>
          </a:prstGeom>
          <a:solidFill>
            <a:srgbClr val="2D6EA5"/>
          </a:solidFill>
          <a:ln/>
        </p:spPr>
      </p:sp>
      <p:sp>
        <p:nvSpPr>
          <p:cNvPr id="43" name="Text 41"/>
          <p:cNvSpPr txBox="1"/>
          <p:nvPr/>
        </p:nvSpPr>
        <p:spPr>
          <a:xfrm>
            <a:off x="6291072" y="12573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a:t>
            </a:r>
            <a:endParaRPr lang="en-US" sz="1050" dirty="0"/>
          </a:p>
        </p:txBody>
      </p:sp>
      <p:sp>
        <p:nvSpPr>
          <p:cNvPr id="44" name="Text 42"/>
          <p:cNvSpPr txBox="1"/>
          <p:nvPr/>
        </p:nvSpPr>
        <p:spPr>
          <a:xfrm>
            <a:off x="6638544" y="1188720"/>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Join specs</a:t>
            </a:r>
            <a:endParaRPr lang="en-US" sz="1000" dirty="0"/>
          </a:p>
        </p:txBody>
      </p:sp>
      <p:sp>
        <p:nvSpPr>
          <p:cNvPr id="45" name="Text 43"/>
          <p:cNvSpPr txBox="1"/>
          <p:nvPr/>
        </p:nvSpPr>
        <p:spPr>
          <a:xfrm>
            <a:off x="9015984" y="1188720"/>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For raw tables exposed together, only where evidence or user confirmation supports them.</a:t>
            </a:r>
            <a:endParaRPr lang="en-US" sz="850" dirty="0"/>
          </a:p>
        </p:txBody>
      </p:sp>
      <p:sp>
        <p:nvSpPr>
          <p:cNvPr id="46" name="Shape 44"/>
          <p:cNvSpPr/>
          <p:nvPr/>
        </p:nvSpPr>
        <p:spPr>
          <a:xfrm>
            <a:off x="6199632" y="1673352"/>
            <a:ext cx="5532120" cy="411480"/>
          </a:xfrm>
          <a:prstGeom prst="roundRect">
            <a:avLst>
              <a:gd name="adj" fmla="val 13333"/>
            </a:avLst>
          </a:prstGeom>
          <a:solidFill>
            <a:srgbClr val="F2F5F9"/>
          </a:solidFill>
          <a:ln w="9525">
            <a:solidFill>
              <a:srgbClr val="D2DDE9"/>
            </a:solidFill>
            <a:prstDash val="solid"/>
          </a:ln>
        </p:spPr>
      </p:sp>
      <p:sp>
        <p:nvSpPr>
          <p:cNvPr id="47" name="Shape 45"/>
          <p:cNvSpPr/>
          <p:nvPr/>
        </p:nvSpPr>
        <p:spPr>
          <a:xfrm>
            <a:off x="6291072" y="1741932"/>
            <a:ext cx="274320" cy="274320"/>
          </a:xfrm>
          <a:prstGeom prst="roundRect">
            <a:avLst>
              <a:gd name="adj" fmla="val 16667"/>
            </a:avLst>
          </a:prstGeom>
          <a:solidFill>
            <a:srgbClr val="2D6EA5"/>
          </a:solidFill>
          <a:ln/>
        </p:spPr>
      </p:sp>
      <p:sp>
        <p:nvSpPr>
          <p:cNvPr id="48" name="Text 46"/>
          <p:cNvSpPr txBox="1"/>
          <p:nvPr/>
        </p:nvSpPr>
        <p:spPr>
          <a:xfrm>
            <a:off x="6291072" y="174193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9</a:t>
            </a:r>
            <a:endParaRPr lang="en-US" sz="1050" dirty="0"/>
          </a:p>
        </p:txBody>
      </p:sp>
      <p:sp>
        <p:nvSpPr>
          <p:cNvPr id="49" name="Text 47"/>
          <p:cNvSpPr txBox="1"/>
          <p:nvPr/>
        </p:nvSpPr>
        <p:spPr>
          <a:xfrm>
            <a:off x="6638544" y="1673352"/>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SQL snippets</a:t>
            </a:r>
            <a:endParaRPr lang="en-US" sz="1000" dirty="0"/>
          </a:p>
        </p:txBody>
      </p:sp>
      <p:sp>
        <p:nvSpPr>
          <p:cNvPr id="50" name="Text 48"/>
          <p:cNvSpPr txBox="1"/>
          <p:nvPr/>
        </p:nvSpPr>
        <p:spPr>
          <a:xfrm>
            <a:off x="9015984" y="1673352"/>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Reusable filters, expressions and measures not already governed by Metric Views.</a:t>
            </a:r>
            <a:endParaRPr lang="en-US" sz="850" dirty="0"/>
          </a:p>
        </p:txBody>
      </p:sp>
      <p:sp>
        <p:nvSpPr>
          <p:cNvPr id="51" name="Shape 49"/>
          <p:cNvSpPr/>
          <p:nvPr/>
        </p:nvSpPr>
        <p:spPr>
          <a:xfrm>
            <a:off x="6199632" y="2157984"/>
            <a:ext cx="5532120" cy="411480"/>
          </a:xfrm>
          <a:prstGeom prst="roundRect">
            <a:avLst>
              <a:gd name="adj" fmla="val 13333"/>
            </a:avLst>
          </a:prstGeom>
          <a:solidFill>
            <a:srgbClr val="F2F5F9"/>
          </a:solidFill>
          <a:ln w="9525">
            <a:solidFill>
              <a:srgbClr val="D2DDE9"/>
            </a:solidFill>
            <a:prstDash val="solid"/>
          </a:ln>
        </p:spPr>
      </p:sp>
      <p:sp>
        <p:nvSpPr>
          <p:cNvPr id="52" name="Shape 50"/>
          <p:cNvSpPr/>
          <p:nvPr/>
        </p:nvSpPr>
        <p:spPr>
          <a:xfrm>
            <a:off x="6291072" y="2226564"/>
            <a:ext cx="274320" cy="274320"/>
          </a:xfrm>
          <a:prstGeom prst="roundRect">
            <a:avLst>
              <a:gd name="adj" fmla="val 16667"/>
            </a:avLst>
          </a:prstGeom>
          <a:solidFill>
            <a:srgbClr val="2D6EA5"/>
          </a:solidFill>
          <a:ln/>
        </p:spPr>
      </p:sp>
      <p:sp>
        <p:nvSpPr>
          <p:cNvPr id="53" name="Text 51"/>
          <p:cNvSpPr txBox="1"/>
          <p:nvPr/>
        </p:nvSpPr>
        <p:spPr>
          <a:xfrm>
            <a:off x="6291072" y="222656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a:t>
            </a:r>
            <a:endParaRPr lang="en-US" sz="1050" dirty="0"/>
          </a:p>
        </p:txBody>
      </p:sp>
      <p:sp>
        <p:nvSpPr>
          <p:cNvPr id="54" name="Text 52"/>
          <p:cNvSpPr txBox="1"/>
          <p:nvPr/>
        </p:nvSpPr>
        <p:spPr>
          <a:xfrm>
            <a:off x="6638544" y="2157984"/>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Example SQL</a:t>
            </a:r>
            <a:endParaRPr lang="en-US" sz="1000" dirty="0"/>
          </a:p>
        </p:txBody>
      </p:sp>
      <p:sp>
        <p:nvSpPr>
          <p:cNvPr id="55" name="Text 53"/>
          <p:cNvSpPr txBox="1"/>
          <p:nvPr/>
        </p:nvSpPr>
        <p:spPr>
          <a:xfrm>
            <a:off x="9015984" y="2157984"/>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Representative complex question patterns — instructive, not memorised benchmark answers.</a:t>
            </a:r>
            <a:endParaRPr lang="en-US" sz="850" dirty="0"/>
          </a:p>
        </p:txBody>
      </p:sp>
      <p:sp>
        <p:nvSpPr>
          <p:cNvPr id="56" name="Shape 54"/>
          <p:cNvSpPr/>
          <p:nvPr/>
        </p:nvSpPr>
        <p:spPr>
          <a:xfrm>
            <a:off x="6199632" y="2642616"/>
            <a:ext cx="5532120" cy="411480"/>
          </a:xfrm>
          <a:prstGeom prst="roundRect">
            <a:avLst>
              <a:gd name="adj" fmla="val 13333"/>
            </a:avLst>
          </a:prstGeom>
          <a:solidFill>
            <a:srgbClr val="F2F5F9"/>
          </a:solidFill>
          <a:ln w="9525">
            <a:solidFill>
              <a:srgbClr val="D2DDE9"/>
            </a:solidFill>
            <a:prstDash val="solid"/>
          </a:ln>
        </p:spPr>
      </p:sp>
      <p:sp>
        <p:nvSpPr>
          <p:cNvPr id="57" name="Shape 55"/>
          <p:cNvSpPr/>
          <p:nvPr/>
        </p:nvSpPr>
        <p:spPr>
          <a:xfrm>
            <a:off x="6291072" y="2711196"/>
            <a:ext cx="274320" cy="274320"/>
          </a:xfrm>
          <a:prstGeom prst="roundRect">
            <a:avLst>
              <a:gd name="adj" fmla="val 16667"/>
            </a:avLst>
          </a:prstGeom>
          <a:solidFill>
            <a:srgbClr val="2D6EA5"/>
          </a:solidFill>
          <a:ln/>
        </p:spPr>
      </p:sp>
      <p:sp>
        <p:nvSpPr>
          <p:cNvPr id="58" name="Text 56"/>
          <p:cNvSpPr txBox="1"/>
          <p:nvPr/>
        </p:nvSpPr>
        <p:spPr>
          <a:xfrm>
            <a:off x="6291072" y="271119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11</a:t>
            </a:r>
            <a:endParaRPr lang="en-US" sz="1050" dirty="0"/>
          </a:p>
        </p:txBody>
      </p:sp>
      <p:sp>
        <p:nvSpPr>
          <p:cNvPr id="59" name="Text 57"/>
          <p:cNvSpPr txBox="1"/>
          <p:nvPr/>
        </p:nvSpPr>
        <p:spPr>
          <a:xfrm>
            <a:off x="6638544" y="2642616"/>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SQL functions</a:t>
            </a:r>
            <a:endParaRPr lang="en-US" sz="1000" dirty="0"/>
          </a:p>
        </p:txBody>
      </p:sp>
      <p:sp>
        <p:nvSpPr>
          <p:cNvPr id="60" name="Text 58"/>
          <p:cNvSpPr txBox="1"/>
          <p:nvPr/>
        </p:nvSpPr>
        <p:spPr>
          <a:xfrm>
            <a:off x="9015984" y="2642616"/>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Trusted registered Unity Catalog logic.</a:t>
            </a:r>
            <a:endParaRPr lang="en-US" sz="850" dirty="0"/>
          </a:p>
        </p:txBody>
      </p:sp>
      <p:sp>
        <p:nvSpPr>
          <p:cNvPr id="61" name="Shape 59"/>
          <p:cNvSpPr/>
          <p:nvPr/>
        </p:nvSpPr>
        <p:spPr>
          <a:xfrm>
            <a:off x="6199632" y="3127248"/>
            <a:ext cx="5532120" cy="411480"/>
          </a:xfrm>
          <a:prstGeom prst="roundRect">
            <a:avLst>
              <a:gd name="adj" fmla="val 13333"/>
            </a:avLst>
          </a:prstGeom>
          <a:solidFill>
            <a:srgbClr val="FBEDEA"/>
          </a:solidFill>
          <a:ln w="9525">
            <a:solidFill>
              <a:srgbClr val="E8B5AA"/>
            </a:solidFill>
            <a:prstDash val="solid"/>
          </a:ln>
        </p:spPr>
      </p:sp>
      <p:sp>
        <p:nvSpPr>
          <p:cNvPr id="62" name="Shape 60"/>
          <p:cNvSpPr/>
          <p:nvPr/>
        </p:nvSpPr>
        <p:spPr>
          <a:xfrm>
            <a:off x="6291072" y="3195828"/>
            <a:ext cx="274320" cy="274320"/>
          </a:xfrm>
          <a:prstGeom prst="roundRect">
            <a:avLst>
              <a:gd name="adj" fmla="val 16667"/>
            </a:avLst>
          </a:prstGeom>
          <a:solidFill>
            <a:srgbClr val="E8552D"/>
          </a:solidFill>
          <a:ln/>
        </p:spPr>
      </p:sp>
      <p:sp>
        <p:nvSpPr>
          <p:cNvPr id="63" name="Text 61"/>
          <p:cNvSpPr txBox="1"/>
          <p:nvPr/>
        </p:nvSpPr>
        <p:spPr>
          <a:xfrm>
            <a:off x="6291072" y="319582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12</a:t>
            </a:r>
            <a:endParaRPr lang="en-US" sz="1050" dirty="0"/>
          </a:p>
        </p:txBody>
      </p:sp>
      <p:sp>
        <p:nvSpPr>
          <p:cNvPr id="64" name="Text 62"/>
          <p:cNvSpPr txBox="1"/>
          <p:nvPr/>
        </p:nvSpPr>
        <p:spPr>
          <a:xfrm>
            <a:off x="6638544" y="3127248"/>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Text instructions</a:t>
            </a:r>
            <a:endParaRPr lang="en-US" sz="1000" dirty="0"/>
          </a:p>
        </p:txBody>
      </p:sp>
      <p:sp>
        <p:nvSpPr>
          <p:cNvPr id="65" name="Text 63"/>
          <p:cNvSpPr txBox="1"/>
          <p:nvPr/>
        </p:nvSpPr>
        <p:spPr>
          <a:xfrm>
            <a:off x="9015984" y="3127248"/>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Last resort.</a:t>
            </a:r>
            <a:endParaRPr lang="en-US" sz="850" dirty="0"/>
          </a:p>
        </p:txBody>
      </p:sp>
      <p:sp>
        <p:nvSpPr>
          <p:cNvPr id="66" name="Shape 64"/>
          <p:cNvSpPr/>
          <p:nvPr/>
        </p:nvSpPr>
        <p:spPr>
          <a:xfrm>
            <a:off x="6199632" y="3611880"/>
            <a:ext cx="5532120" cy="411480"/>
          </a:xfrm>
          <a:prstGeom prst="roundRect">
            <a:avLst>
              <a:gd name="adj" fmla="val 13333"/>
            </a:avLst>
          </a:prstGeom>
          <a:solidFill>
            <a:srgbClr val="F2F5F9"/>
          </a:solidFill>
          <a:ln w="9525">
            <a:solidFill>
              <a:srgbClr val="D2DDE9"/>
            </a:solidFill>
            <a:prstDash val="solid"/>
          </a:ln>
        </p:spPr>
      </p:sp>
      <p:sp>
        <p:nvSpPr>
          <p:cNvPr id="67" name="Shape 65"/>
          <p:cNvSpPr/>
          <p:nvPr/>
        </p:nvSpPr>
        <p:spPr>
          <a:xfrm>
            <a:off x="6291072" y="3680460"/>
            <a:ext cx="274320" cy="274320"/>
          </a:xfrm>
          <a:prstGeom prst="roundRect">
            <a:avLst>
              <a:gd name="adj" fmla="val 16667"/>
            </a:avLst>
          </a:prstGeom>
          <a:solidFill>
            <a:srgbClr val="F0A34A"/>
          </a:solidFill>
          <a:ln/>
        </p:spPr>
      </p:sp>
      <p:sp>
        <p:nvSpPr>
          <p:cNvPr id="68" name="Text 66"/>
          <p:cNvSpPr txBox="1"/>
          <p:nvPr/>
        </p:nvSpPr>
        <p:spPr>
          <a:xfrm>
            <a:off x="6291072" y="368046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13</a:t>
            </a:r>
            <a:endParaRPr lang="en-US" sz="1050" dirty="0"/>
          </a:p>
        </p:txBody>
      </p:sp>
      <p:sp>
        <p:nvSpPr>
          <p:cNvPr id="69" name="Text 67"/>
          <p:cNvSpPr txBox="1"/>
          <p:nvPr/>
        </p:nvSpPr>
        <p:spPr>
          <a:xfrm>
            <a:off x="6638544" y="3611880"/>
            <a:ext cx="2331720" cy="411480"/>
          </a:xfrm>
          <a:prstGeom prst="rect">
            <a:avLst/>
          </a:prstGeom>
          <a:noFill/>
          <a:ln/>
        </p:spPr>
        <p:txBody>
          <a:bodyPr wrap="square" lIns="0" tIns="0" rIns="0" bIns="0" rtlCol="0" anchor="ctr"/>
          <a:lstStyle/>
          <a:p>
            <a:pPr indent="0" marL="0">
              <a:buNone/>
            </a:pPr>
            <a:r>
              <a:rPr lang="en-US" sz="1000" b="1" dirty="0">
                <a:solidFill>
                  <a:srgbClr val="0E1B2A"/>
                </a:solidFill>
                <a:latin typeface="Calibri" pitchFamily="34" charset="0"/>
                <a:ea typeface="Calibri" pitchFamily="34" charset="-122"/>
                <a:cs typeface="Calibri" pitchFamily="34" charset="-120"/>
              </a:rPr>
              <a:t>Sample questions and benchmarks</a:t>
            </a:r>
            <a:endParaRPr lang="en-US" sz="1000" dirty="0"/>
          </a:p>
        </p:txBody>
      </p:sp>
      <p:sp>
        <p:nvSpPr>
          <p:cNvPr id="70" name="Text 68"/>
          <p:cNvSpPr txBox="1"/>
          <p:nvPr/>
        </p:nvSpPr>
        <p:spPr>
          <a:xfrm>
            <a:off x="9015984" y="3611880"/>
            <a:ext cx="2624328" cy="411480"/>
          </a:xfrm>
          <a:prstGeom prst="rect">
            <a:avLst/>
          </a:prstGeom>
          <a:noFill/>
          <a:ln/>
        </p:spPr>
        <p:txBody>
          <a:bodyPr wrap="square" lIns="0" tIns="0" rIns="0" bIns="0" rtlCol="0" anchor="ctr"/>
          <a:lstStyle/>
          <a:p>
            <a:pPr indent="0" marL="0">
              <a:lnSpc>
                <a:spcPts val="1050"/>
              </a:lnSpc>
              <a:buNone/>
            </a:pPr>
            <a:r>
              <a:rPr lang="en-US" sz="850" dirty="0">
                <a:solidFill>
                  <a:srgbClr val="56677C"/>
                </a:solidFill>
                <a:latin typeface="Calibri" pitchFamily="34" charset="0"/>
                <a:ea typeface="Calibri" pitchFamily="34" charset="-122"/>
                <a:cs typeface="Calibri" pitchFamily="34" charset="-120"/>
              </a:rPr>
              <a:t>User-facing prompts and the evaluation set.</a:t>
            </a:r>
            <a:endParaRPr lang="en-US" sz="850" dirty="0"/>
          </a:p>
        </p:txBody>
      </p:sp>
      <p:sp>
        <p:nvSpPr>
          <p:cNvPr id="71" name="Shape 69"/>
          <p:cNvSpPr/>
          <p:nvPr/>
        </p:nvSpPr>
        <p:spPr>
          <a:xfrm>
            <a:off x="6199632" y="4096512"/>
            <a:ext cx="5532120" cy="1234440"/>
          </a:xfrm>
          <a:prstGeom prst="roundRect">
            <a:avLst>
              <a:gd name="adj" fmla="val 4444"/>
            </a:avLst>
          </a:prstGeom>
          <a:solidFill>
            <a:srgbClr val="0E1B2A"/>
          </a:solidFill>
          <a:ln w="9525">
            <a:solidFill>
              <a:srgbClr val="0E1B2A"/>
            </a:solidFill>
            <a:prstDash val="solid"/>
          </a:ln>
        </p:spPr>
      </p:sp>
      <p:sp>
        <p:nvSpPr>
          <p:cNvPr id="72" name="Text 70"/>
          <p:cNvSpPr txBox="1"/>
          <p:nvPr/>
        </p:nvSpPr>
        <p:spPr>
          <a:xfrm>
            <a:off x="6400800" y="4224528"/>
            <a:ext cx="5120640" cy="256032"/>
          </a:xfrm>
          <a:prstGeom prst="rect">
            <a:avLst/>
          </a:prstGeom>
          <a:noFill/>
          <a:ln/>
        </p:spPr>
        <p:txBody>
          <a:bodyPr wrap="square" lIns="0" tIns="0" rIns="0" bIns="0" rtlCol="0" anchor="t"/>
          <a:lstStyle/>
          <a:p>
            <a:pPr indent="0" marL="0">
              <a:buNone/>
            </a:pPr>
            <a:r>
              <a:rPr lang="en-US" sz="1250" b="1" dirty="0">
                <a:solidFill>
                  <a:srgbClr val="F0A34A"/>
                </a:solidFill>
                <a:latin typeface="Calibri" pitchFamily="34" charset="0"/>
                <a:ea typeface="Calibri" pitchFamily="34" charset="-122"/>
                <a:cs typeface="Calibri" pitchFamily="34" charset="-120"/>
              </a:rPr>
              <a:t>Surfaces 4–7 are per column</a:t>
            </a:r>
            <a:endParaRPr lang="en-US" sz="1250" dirty="0"/>
          </a:p>
        </p:txBody>
      </p:sp>
      <p:sp>
        <p:nvSpPr>
          <p:cNvPr id="73" name="Text 71"/>
          <p:cNvSpPr txBox="1"/>
          <p:nvPr/>
        </p:nvSpPr>
        <p:spPr>
          <a:xfrm>
            <a:off x="6400800" y="4517136"/>
            <a:ext cx="5120640" cy="731520"/>
          </a:xfrm>
          <a:prstGeom prst="rect">
            <a:avLst/>
          </a:prstGeom>
          <a:noFill/>
          <a:ln/>
        </p:spPr>
        <p:txBody>
          <a:bodyPr wrap="square" lIns="0" tIns="0" rIns="0" bIns="0" rtlCol="0" anchor="t"/>
          <a:lstStyle/>
          <a:p>
            <a:pPr indent="0" marL="0">
              <a:lnSpc>
                <a:spcPts val="1300"/>
              </a:lnSpc>
              <a:buNone/>
            </a:pPr>
            <a:r>
              <a:rPr lang="en-US" sz="1000" dirty="0">
                <a:solidFill>
                  <a:srgbClr val="B7C7D8"/>
                </a:solidFill>
                <a:latin typeface="Calibri" pitchFamily="34" charset="0"/>
                <a:ea typeface="Calibri" pitchFamily="34" charset="-122"/>
                <a:cs typeface="Calibri" pitchFamily="34" charset="-120"/>
              </a:rPr>
              <a:t>They are applied through data_sources.tables[].column_configs[]. The array is optional, so an Agent created without it ships with none of these — you must build it explicitly during creation.  [GH-1]</a:t>
            </a:r>
            <a:endParaRPr lang="en-US" sz="1000" dirty="0"/>
          </a:p>
        </p:txBody>
      </p:sp>
      <p:sp>
        <p:nvSpPr>
          <p:cNvPr id="74" name="Text 72"/>
          <p:cNvSpPr txBox="1"/>
          <p:nvPr/>
        </p:nvSpPr>
        <p:spPr>
          <a:xfrm>
            <a:off x="502920" y="4645152"/>
            <a:ext cx="5532120" cy="182880"/>
          </a:xfrm>
          <a:prstGeom prst="rect">
            <a:avLst/>
          </a:prstGeom>
          <a:noFill/>
          <a:ln/>
        </p:spPr>
        <p:txBody>
          <a:bodyPr wrap="square" lIns="0" tIns="0" rIns="0" bIns="0" rtlCol="0" anchor="t"/>
          <a:lstStyle/>
          <a:p>
            <a:pPr indent="0" marL="0">
              <a:buNone/>
            </a:pPr>
            <a:r>
              <a:rPr lang="en-US" sz="800" b="1" spc="120" kern="0" dirty="0">
                <a:solidFill>
                  <a:srgbClr val="56677C"/>
                </a:solidFill>
                <a:latin typeface="Calibri" pitchFamily="34" charset="0"/>
                <a:ea typeface="Calibri" pitchFamily="34" charset="-122"/>
                <a:cs typeface="Calibri" pitchFamily="34" charset="-120"/>
              </a:rPr>
              <a:t>VOCABULARY MAPPING — WHAT THE UI CALLS IT vs. WHAT THIS DECK CALLS IT  [GH-1]</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532120" cy="914400"/>
        </p:xfrm>
        <a:graphic>
          <a:graphicData uri="http://schemas.openxmlformats.org/drawingml/2006/table">
            <a:tbl>
              <a:tblPr/>
              <a:tblGrid>
                <a:gridCol w="3520440"/>
                <a:gridCol w="2011680"/>
              </a:tblGrid>
              <a:tr h="19202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Genie UI / common term</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Surface</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192024">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Agent description / instructions header</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Agent description (#1)</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192024">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SQL expressions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SQL snippets (#9)</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192024">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SQL queries / trusted or certified SQL</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Example SQL (#10)</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192024">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SQL functions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SQL functions (#11)</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192024">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General instructions / notes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Text instructions (#12)</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6" name="Text 73"/>
          <p:cNvSpPr txBox="1"/>
          <p:nvPr/>
        </p:nvSpPr>
        <p:spPr>
          <a:xfrm>
            <a:off x="6199632" y="5468112"/>
            <a:ext cx="5532120" cy="822960"/>
          </a:xfrm>
          <a:prstGeom prst="rect">
            <a:avLst/>
          </a:prstGeom>
          <a:noFill/>
          <a:ln/>
        </p:spPr>
        <p:txBody>
          <a:bodyPr wrap="square" lIns="0" tIns="0" rIns="0" bIns="0" rtlCol="0" anchor="t"/>
          <a:lstStyle/>
          <a:p>
            <a:pPr indent="0" marL="0">
              <a:lnSpc>
                <a:spcPts val="1350"/>
              </a:lnSpc>
              <a:buNone/>
            </a:pPr>
            <a:r>
              <a:rPr lang="en-US" sz="1000" i="1" dirty="0">
                <a:solidFill>
                  <a:srgbClr val="2B3A4C"/>
                </a:solidFill>
                <a:latin typeface="Calibri" pitchFamily="34" charset="0"/>
                <a:ea typeface="Calibri" pitchFamily="34" charset="-122"/>
                <a:cs typeface="Calibri" pitchFamily="34" charset="-120"/>
              </a:rPr>
              <a:t>Read the ladder as a cost curve: a rule encoded at rung 4 is enforced deterministically and costs almost no tokens. The same rule written at rung 12 is interpreted probabilistically, competes with every other instruction for attention, and degrades first in long conversations.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06</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Data profiling</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Metadata first, bounded SQL second. Profile to answer the business questions — not to document the warehouse.</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Four-phase inspection</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Required signals per table and Metric View</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Turning findings into configuration</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Using profiled values in examples</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6.1 PHASED INSPECTION</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Workspace metadata first, bounded read-only SQL second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21</a:t>
            </a:r>
            <a:endParaRPr lang="en-US" sz="800" dirty="0"/>
          </a:p>
        </p:txBody>
      </p:sp>
      <p:sp>
        <p:nvSpPr>
          <p:cNvPr id="6" name="Shape 4"/>
          <p:cNvSpPr/>
          <p:nvPr/>
        </p:nvSpPr>
        <p:spPr>
          <a:xfrm>
            <a:off x="502920" y="1207008"/>
            <a:ext cx="2548890" cy="1371600"/>
          </a:xfrm>
          <a:prstGeom prst="roundRect">
            <a:avLst>
              <a:gd name="adj" fmla="val 4000"/>
            </a:avLst>
          </a:prstGeom>
          <a:solidFill>
            <a:srgbClr val="F2F5F9"/>
          </a:solidFill>
          <a:ln w="9525">
            <a:solidFill>
              <a:srgbClr val="D2DDE9"/>
            </a:solidFill>
            <a:prstDash val="solid"/>
          </a:ln>
        </p:spPr>
      </p:sp>
      <p:sp>
        <p:nvSpPr>
          <p:cNvPr id="7" name="Shape 5"/>
          <p:cNvSpPr/>
          <p:nvPr/>
        </p:nvSpPr>
        <p:spPr>
          <a:xfrm>
            <a:off x="649224" y="1353312"/>
            <a:ext cx="274320" cy="274320"/>
          </a:xfrm>
          <a:prstGeom prst="roundRect">
            <a:avLst>
              <a:gd name="adj" fmla="val 16667"/>
            </a:avLst>
          </a:prstGeom>
          <a:solidFill>
            <a:srgbClr val="13456E"/>
          </a:solidFill>
          <a:ln/>
        </p:spPr>
      </p:sp>
      <p:sp>
        <p:nvSpPr>
          <p:cNvPr id="8" name="Text 6"/>
          <p:cNvSpPr txBox="1"/>
          <p:nvPr/>
        </p:nvSpPr>
        <p:spPr>
          <a:xfrm>
            <a:off x="649224" y="135331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96696" y="1353312"/>
            <a:ext cx="1908810" cy="274320"/>
          </a:xfrm>
          <a:prstGeom prst="rect">
            <a:avLst/>
          </a:prstGeom>
          <a:noFill/>
          <a:ln/>
        </p:spPr>
        <p:txBody>
          <a:bodyPr wrap="square" lIns="0" tIns="0" rIns="0" bIns="0" rtlCol="0" anchor="ctr"/>
          <a:lstStyle/>
          <a:p>
            <a:pPr indent="0" marL="0">
              <a:buNone/>
            </a:pPr>
            <a:r>
              <a:rPr lang="en-US" sz="1250" b="1" dirty="0">
                <a:solidFill>
                  <a:srgbClr val="0E1B2A"/>
                </a:solidFill>
                <a:latin typeface="Calibri" pitchFamily="34" charset="0"/>
                <a:ea typeface="Calibri" pitchFamily="34" charset="-122"/>
                <a:cs typeface="Calibri" pitchFamily="34" charset="-120"/>
              </a:rPr>
              <a:t>Structure</a:t>
            </a:r>
            <a:endParaRPr lang="en-US" sz="1250" dirty="0"/>
          </a:p>
        </p:txBody>
      </p:sp>
      <p:sp>
        <p:nvSpPr>
          <p:cNvPr id="10" name="Text 8"/>
          <p:cNvSpPr txBox="1"/>
          <p:nvPr/>
        </p:nvSpPr>
        <p:spPr>
          <a:xfrm>
            <a:off x="649224" y="1719072"/>
            <a:ext cx="2256282" cy="74980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Objects, comments, columns, data types, constraints, and sample rows with a narrow column list — never SELECT *.</a:t>
            </a:r>
            <a:endParaRPr lang="en-US" sz="1000" dirty="0"/>
          </a:p>
        </p:txBody>
      </p:sp>
      <p:sp>
        <p:nvSpPr>
          <p:cNvPr id="11" name="Shape 9"/>
          <p:cNvSpPr/>
          <p:nvPr/>
        </p:nvSpPr>
        <p:spPr>
          <a:xfrm>
            <a:off x="3106674" y="1792224"/>
            <a:ext cx="219456" cy="201168"/>
          </a:xfrm>
          <a:prstGeom prst="rightArrow">
            <a:avLst/>
          </a:prstGeom>
          <a:solidFill>
            <a:srgbClr val="E8552D"/>
          </a:solidFill>
          <a:ln/>
        </p:spPr>
      </p:sp>
      <p:sp>
        <p:nvSpPr>
          <p:cNvPr id="12" name="Shape 10"/>
          <p:cNvSpPr/>
          <p:nvPr/>
        </p:nvSpPr>
        <p:spPr>
          <a:xfrm>
            <a:off x="3380994" y="1207008"/>
            <a:ext cx="2548890" cy="1371600"/>
          </a:xfrm>
          <a:prstGeom prst="roundRect">
            <a:avLst>
              <a:gd name="adj" fmla="val 4000"/>
            </a:avLst>
          </a:prstGeom>
          <a:solidFill>
            <a:srgbClr val="F2F5F9"/>
          </a:solidFill>
          <a:ln w="9525">
            <a:solidFill>
              <a:srgbClr val="D2DDE9"/>
            </a:solidFill>
            <a:prstDash val="solid"/>
          </a:ln>
        </p:spPr>
      </p:sp>
      <p:sp>
        <p:nvSpPr>
          <p:cNvPr id="13" name="Shape 11"/>
          <p:cNvSpPr/>
          <p:nvPr/>
        </p:nvSpPr>
        <p:spPr>
          <a:xfrm>
            <a:off x="3527298" y="1353312"/>
            <a:ext cx="274320" cy="274320"/>
          </a:xfrm>
          <a:prstGeom prst="roundRect">
            <a:avLst>
              <a:gd name="adj" fmla="val 16667"/>
            </a:avLst>
          </a:prstGeom>
          <a:solidFill>
            <a:srgbClr val="13456E"/>
          </a:solidFill>
          <a:ln/>
        </p:spPr>
      </p:sp>
      <p:sp>
        <p:nvSpPr>
          <p:cNvPr id="14" name="Text 12"/>
          <p:cNvSpPr txBox="1"/>
          <p:nvPr/>
        </p:nvSpPr>
        <p:spPr>
          <a:xfrm>
            <a:off x="3527298" y="135331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3"/>
          <p:cNvSpPr txBox="1"/>
          <p:nvPr/>
        </p:nvSpPr>
        <p:spPr>
          <a:xfrm>
            <a:off x="3874770" y="1353312"/>
            <a:ext cx="1908810" cy="274320"/>
          </a:xfrm>
          <a:prstGeom prst="rect">
            <a:avLst/>
          </a:prstGeom>
          <a:noFill/>
          <a:ln/>
        </p:spPr>
        <p:txBody>
          <a:bodyPr wrap="square" lIns="0" tIns="0" rIns="0" bIns="0" rtlCol="0" anchor="ctr"/>
          <a:lstStyle/>
          <a:p>
            <a:pPr indent="0" marL="0">
              <a:buNone/>
            </a:pPr>
            <a:r>
              <a:rPr lang="en-US" sz="1250" b="1" dirty="0">
                <a:solidFill>
                  <a:srgbClr val="0E1B2A"/>
                </a:solidFill>
                <a:latin typeface="Calibri" pitchFamily="34" charset="0"/>
                <a:ea typeface="Calibri" pitchFamily="34" charset="-122"/>
                <a:cs typeface="Calibri" pitchFamily="34" charset="-120"/>
              </a:rPr>
              <a:t>Quality and usage</a:t>
            </a:r>
            <a:endParaRPr lang="en-US" sz="1250" dirty="0"/>
          </a:p>
        </p:txBody>
      </p:sp>
      <p:sp>
        <p:nvSpPr>
          <p:cNvPr id="16" name="Text 14"/>
          <p:cNvSpPr txBox="1"/>
          <p:nvPr/>
        </p:nvSpPr>
        <p:spPr>
          <a:xfrm>
            <a:off x="3527298" y="1719072"/>
            <a:ext cx="2256282" cy="74980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Nulls, empty strings, constants, distinct counts, casing issues, boolean-as-string values, plus usage and lineage where system tables are accessible.</a:t>
            </a:r>
            <a:endParaRPr lang="en-US" sz="1000" dirty="0"/>
          </a:p>
        </p:txBody>
      </p:sp>
      <p:sp>
        <p:nvSpPr>
          <p:cNvPr id="17" name="Shape 15"/>
          <p:cNvSpPr/>
          <p:nvPr/>
        </p:nvSpPr>
        <p:spPr>
          <a:xfrm>
            <a:off x="5984748" y="1792224"/>
            <a:ext cx="219456" cy="201168"/>
          </a:xfrm>
          <a:prstGeom prst="rightArrow">
            <a:avLst/>
          </a:prstGeom>
          <a:solidFill>
            <a:srgbClr val="E8552D"/>
          </a:solidFill>
          <a:ln/>
        </p:spPr>
      </p:sp>
      <p:sp>
        <p:nvSpPr>
          <p:cNvPr id="18" name="Shape 16"/>
          <p:cNvSpPr/>
          <p:nvPr/>
        </p:nvSpPr>
        <p:spPr>
          <a:xfrm>
            <a:off x="6259068" y="1207008"/>
            <a:ext cx="2548890" cy="1371600"/>
          </a:xfrm>
          <a:prstGeom prst="roundRect">
            <a:avLst>
              <a:gd name="adj" fmla="val 4000"/>
            </a:avLst>
          </a:prstGeom>
          <a:solidFill>
            <a:srgbClr val="F2F5F9"/>
          </a:solidFill>
          <a:ln w="9525">
            <a:solidFill>
              <a:srgbClr val="D2DDE9"/>
            </a:solidFill>
            <a:prstDash val="solid"/>
          </a:ln>
        </p:spPr>
      </p:sp>
      <p:sp>
        <p:nvSpPr>
          <p:cNvPr id="19" name="Shape 17"/>
          <p:cNvSpPr/>
          <p:nvPr/>
        </p:nvSpPr>
        <p:spPr>
          <a:xfrm>
            <a:off x="6405372" y="1353312"/>
            <a:ext cx="274320" cy="274320"/>
          </a:xfrm>
          <a:prstGeom prst="roundRect">
            <a:avLst>
              <a:gd name="adj" fmla="val 16667"/>
            </a:avLst>
          </a:prstGeom>
          <a:solidFill>
            <a:srgbClr val="13456E"/>
          </a:solidFill>
          <a:ln/>
        </p:spPr>
      </p:sp>
      <p:sp>
        <p:nvSpPr>
          <p:cNvPr id="20" name="Text 18"/>
          <p:cNvSpPr txBox="1"/>
          <p:nvPr/>
        </p:nvSpPr>
        <p:spPr>
          <a:xfrm>
            <a:off x="6405372" y="135331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1" name="Text 19"/>
          <p:cNvSpPr txBox="1"/>
          <p:nvPr/>
        </p:nvSpPr>
        <p:spPr>
          <a:xfrm>
            <a:off x="6752844" y="1353312"/>
            <a:ext cx="1908810" cy="274320"/>
          </a:xfrm>
          <a:prstGeom prst="rect">
            <a:avLst/>
          </a:prstGeom>
          <a:noFill/>
          <a:ln/>
        </p:spPr>
        <p:txBody>
          <a:bodyPr wrap="square" lIns="0" tIns="0" rIns="0" bIns="0" rtlCol="0" anchor="ctr"/>
          <a:lstStyle/>
          <a:p>
            <a:pPr indent="0" marL="0">
              <a:buNone/>
            </a:pPr>
            <a:r>
              <a:rPr lang="en-US" sz="1250" b="1" dirty="0">
                <a:solidFill>
                  <a:srgbClr val="0E1B2A"/>
                </a:solidFill>
                <a:latin typeface="Calibri" pitchFamily="34" charset="0"/>
                <a:ea typeface="Calibri" pitchFamily="34" charset="-122"/>
                <a:cs typeface="Calibri" pitchFamily="34" charset="-120"/>
              </a:rPr>
              <a:t>Column profiling</a:t>
            </a:r>
            <a:endParaRPr lang="en-US" sz="1250" dirty="0"/>
          </a:p>
        </p:txBody>
      </p:sp>
      <p:sp>
        <p:nvSpPr>
          <p:cNvPr id="22" name="Text 20"/>
          <p:cNvSpPr txBox="1"/>
          <p:nvPr/>
        </p:nvSpPr>
        <p:spPr>
          <a:xfrm>
            <a:off x="6405372" y="1719072"/>
            <a:ext cx="2256282" cy="74980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Only the columns that affect Genie quality: dates, likely filters, categorical strings, join keys and candidate measures.</a:t>
            </a:r>
            <a:endParaRPr lang="en-US" sz="1000" dirty="0"/>
          </a:p>
        </p:txBody>
      </p:sp>
      <p:sp>
        <p:nvSpPr>
          <p:cNvPr id="23" name="Shape 21"/>
          <p:cNvSpPr/>
          <p:nvPr/>
        </p:nvSpPr>
        <p:spPr>
          <a:xfrm>
            <a:off x="8862822" y="1792224"/>
            <a:ext cx="219456" cy="201168"/>
          </a:xfrm>
          <a:prstGeom prst="rightArrow">
            <a:avLst/>
          </a:prstGeom>
          <a:solidFill>
            <a:srgbClr val="E8552D"/>
          </a:solidFill>
          <a:ln/>
        </p:spPr>
      </p:sp>
      <p:sp>
        <p:nvSpPr>
          <p:cNvPr id="24" name="Shape 22"/>
          <p:cNvSpPr/>
          <p:nvPr/>
        </p:nvSpPr>
        <p:spPr>
          <a:xfrm>
            <a:off x="9137142" y="1207008"/>
            <a:ext cx="2548890" cy="1371600"/>
          </a:xfrm>
          <a:prstGeom prst="roundRect">
            <a:avLst>
              <a:gd name="adj" fmla="val 4000"/>
            </a:avLst>
          </a:prstGeom>
          <a:solidFill>
            <a:srgbClr val="F2F5F9"/>
          </a:solidFill>
          <a:ln w="9525">
            <a:solidFill>
              <a:srgbClr val="D2DDE9"/>
            </a:solidFill>
            <a:prstDash val="solid"/>
          </a:ln>
        </p:spPr>
      </p:sp>
      <p:sp>
        <p:nvSpPr>
          <p:cNvPr id="25" name="Shape 23"/>
          <p:cNvSpPr/>
          <p:nvPr/>
        </p:nvSpPr>
        <p:spPr>
          <a:xfrm>
            <a:off x="9283446" y="1353312"/>
            <a:ext cx="274320" cy="274320"/>
          </a:xfrm>
          <a:prstGeom prst="roundRect">
            <a:avLst>
              <a:gd name="adj" fmla="val 16667"/>
            </a:avLst>
          </a:prstGeom>
          <a:solidFill>
            <a:srgbClr val="13456E"/>
          </a:solidFill>
          <a:ln/>
        </p:spPr>
      </p:sp>
      <p:sp>
        <p:nvSpPr>
          <p:cNvPr id="26" name="Text 24"/>
          <p:cNvSpPr txBox="1"/>
          <p:nvPr/>
        </p:nvSpPr>
        <p:spPr>
          <a:xfrm>
            <a:off x="9283446" y="135331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7" name="Text 25"/>
          <p:cNvSpPr txBox="1"/>
          <p:nvPr/>
        </p:nvSpPr>
        <p:spPr>
          <a:xfrm>
            <a:off x="9630918" y="1353312"/>
            <a:ext cx="1908810" cy="274320"/>
          </a:xfrm>
          <a:prstGeom prst="rect">
            <a:avLst/>
          </a:prstGeom>
          <a:noFill/>
          <a:ln/>
        </p:spPr>
        <p:txBody>
          <a:bodyPr wrap="square" lIns="0" tIns="0" rIns="0" bIns="0" rtlCol="0" anchor="ctr"/>
          <a:lstStyle/>
          <a:p>
            <a:pPr indent="0" marL="0">
              <a:buNone/>
            </a:pPr>
            <a:r>
              <a:rPr lang="en-US" sz="1250" b="1" dirty="0">
                <a:solidFill>
                  <a:srgbClr val="0E1B2A"/>
                </a:solidFill>
                <a:latin typeface="Calibri" pitchFamily="34" charset="0"/>
                <a:ea typeface="Calibri" pitchFamily="34" charset="-122"/>
                <a:cs typeface="Calibri" pitchFamily="34" charset="-120"/>
              </a:rPr>
              <a:t>Readiness</a:t>
            </a:r>
            <a:endParaRPr lang="en-US" sz="1250" dirty="0"/>
          </a:p>
        </p:txBody>
      </p:sp>
      <p:sp>
        <p:nvSpPr>
          <p:cNvPr id="28" name="Text 26"/>
          <p:cNvSpPr txBox="1"/>
          <p:nvPr/>
        </p:nvSpPr>
        <p:spPr>
          <a:xfrm>
            <a:off x="9283446" y="1719072"/>
            <a:ext cx="2256282" cy="74980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Map every finding back to the 3–5 business questions. A finding that changes no answer changes no configuration.</a:t>
            </a:r>
            <a:endParaRPr lang="en-US" sz="1000" dirty="0"/>
          </a:p>
        </p:txBody>
      </p:sp>
      <p:sp>
        <p:nvSpPr>
          <p:cNvPr id="29" name="Text 27"/>
          <p:cNvSpPr txBox="1"/>
          <p:nvPr/>
        </p:nvSpPr>
        <p:spPr>
          <a:xfrm>
            <a:off x="502920" y="2779776"/>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REQUIRED SIGNALS</a:t>
            </a:r>
            <a:endParaRPr lang="en-US" sz="850" dirty="0"/>
          </a:p>
        </p:txBody>
      </p:sp>
      <p:sp>
        <p:nvSpPr>
          <p:cNvPr id="30" name="Shape 28"/>
          <p:cNvSpPr/>
          <p:nvPr/>
        </p:nvSpPr>
        <p:spPr>
          <a:xfrm>
            <a:off x="502920" y="3035808"/>
            <a:ext cx="3593592" cy="3255264"/>
          </a:xfrm>
          <a:prstGeom prst="roundRect">
            <a:avLst>
              <a:gd name="adj" fmla="val 1685"/>
            </a:avLst>
          </a:prstGeom>
          <a:solidFill>
            <a:srgbClr val="F2F5F9"/>
          </a:solidFill>
          <a:ln w="9525">
            <a:solidFill>
              <a:srgbClr val="D2DDE9"/>
            </a:solidFill>
            <a:prstDash val="solid"/>
          </a:ln>
        </p:spPr>
      </p:sp>
      <p:sp>
        <p:nvSpPr>
          <p:cNvPr id="31" name="Text 29"/>
          <p:cNvSpPr txBox="1"/>
          <p:nvPr/>
        </p:nvSpPr>
        <p:spPr>
          <a:xfrm>
            <a:off x="649224" y="3154680"/>
            <a:ext cx="3300984"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Per table or view</a:t>
            </a:r>
            <a:endParaRPr lang="en-US" sz="1250" dirty="0"/>
          </a:p>
        </p:txBody>
      </p:sp>
      <p:sp>
        <p:nvSpPr>
          <p:cNvPr id="32" name="Text 30"/>
          <p:cNvSpPr txBox="1"/>
          <p:nvPr/>
        </p:nvSpPr>
        <p:spPr>
          <a:xfrm>
            <a:off x="649224" y="3493008"/>
            <a:ext cx="3300984" cy="2679192"/>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Row count and grain</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Freshness and date range</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Measures and dimensions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Likely filters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Data-quality caveats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Sensitive or noisy fields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Join candidates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Whether joins are supported by constraints, naming, row-count checks, query history or user confirmation</a:t>
            </a:r>
            <a:endParaRPr lang="en-US" sz="950" dirty="0"/>
          </a:p>
        </p:txBody>
      </p:sp>
      <p:sp>
        <p:nvSpPr>
          <p:cNvPr id="33" name="Shape 31"/>
          <p:cNvSpPr/>
          <p:nvPr/>
        </p:nvSpPr>
        <p:spPr>
          <a:xfrm>
            <a:off x="4297680" y="3035808"/>
            <a:ext cx="3593592" cy="3255264"/>
          </a:xfrm>
          <a:prstGeom prst="roundRect">
            <a:avLst>
              <a:gd name="adj" fmla="val 1685"/>
            </a:avLst>
          </a:prstGeom>
          <a:solidFill>
            <a:srgbClr val="F2F5F9"/>
          </a:solidFill>
          <a:ln w="9525">
            <a:solidFill>
              <a:srgbClr val="D2DDE9"/>
            </a:solidFill>
            <a:prstDash val="solid"/>
          </a:ln>
        </p:spPr>
      </p:sp>
      <p:sp>
        <p:nvSpPr>
          <p:cNvPr id="34" name="Text 32"/>
          <p:cNvSpPr txBox="1"/>
          <p:nvPr/>
        </p:nvSpPr>
        <p:spPr>
          <a:xfrm>
            <a:off x="4443984" y="3154680"/>
            <a:ext cx="3300984"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Per Metric View</a:t>
            </a:r>
            <a:endParaRPr lang="en-US" sz="1250" dirty="0"/>
          </a:p>
        </p:txBody>
      </p:sp>
      <p:sp>
        <p:nvSpPr>
          <p:cNvPr id="35" name="Text 33"/>
          <p:cNvSpPr txBox="1"/>
          <p:nvPr/>
        </p:nvSpPr>
        <p:spPr>
          <a:xfrm>
            <a:off x="4443984" y="3493008"/>
            <a:ext cx="3300984" cy="2679192"/>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Governed measures and dimensions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Filters and joins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Time dimensions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Display names and synonyms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Formatting and comments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Valid MEASURE() query patterns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Upstream semantic gaps to report rather than work around</a:t>
            </a:r>
            <a:endParaRPr lang="en-US" sz="950" dirty="0"/>
          </a:p>
        </p:txBody>
      </p:sp>
      <p:sp>
        <p:nvSpPr>
          <p:cNvPr id="36" name="Shape 34"/>
          <p:cNvSpPr/>
          <p:nvPr/>
        </p:nvSpPr>
        <p:spPr>
          <a:xfrm>
            <a:off x="8092440" y="3035808"/>
            <a:ext cx="3593592" cy="3255264"/>
          </a:xfrm>
          <a:prstGeom prst="roundRect">
            <a:avLst>
              <a:gd name="adj" fmla="val 1685"/>
            </a:avLst>
          </a:prstGeom>
          <a:solidFill>
            <a:srgbClr val="F2F5F9"/>
          </a:solidFill>
          <a:ln w="9525">
            <a:solidFill>
              <a:srgbClr val="D2DDE9"/>
            </a:solidFill>
            <a:prstDash val="solid"/>
          </a:ln>
        </p:spPr>
      </p:sp>
      <p:sp>
        <p:nvSpPr>
          <p:cNvPr id="37" name="Text 35"/>
          <p:cNvSpPr txBox="1"/>
          <p:nvPr/>
        </p:nvSpPr>
        <p:spPr>
          <a:xfrm>
            <a:off x="8238744" y="3154680"/>
            <a:ext cx="3300984"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How to use the findings</a:t>
            </a:r>
            <a:endParaRPr lang="en-US" sz="1250" dirty="0"/>
          </a:p>
        </p:txBody>
      </p:sp>
      <p:sp>
        <p:nvSpPr>
          <p:cNvPr id="38" name="Text 36"/>
          <p:cNvSpPr txBox="1"/>
          <p:nvPr/>
        </p:nvSpPr>
        <p:spPr>
          <a:xfrm>
            <a:off x="8238744" y="3493008"/>
            <a:ext cx="3300984" cy="2679192"/>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Hide ETL metadata, all-null columns, raw blobs, embeddings, secrets, tokens and sensitive free text</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Record high-null, constant, inconsistent-casing and boolean-as-string caveats under DATA QUALITY NOTES — only where Genie needs them</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Enable format assistance on useful dimensions and filters; entity matching only for stable low/medium-cardinality strings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Use actual profiled values for example SQL parameters and benchmark literals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Use query history as evidence for joins, sample questions, examples and benchmarks</a:t>
            </a:r>
            <a:endParaRPr lang="en-US" sz="950" dirty="0"/>
          </a:p>
          <a:p>
            <a:pPr marL="152400" indent="-152400">
              <a:lnSpc>
                <a:spcPts val="130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Ask the user to confirm metric formulas, joins, fiscal rules and default filters not supported by evidence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07</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Knowledge store</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Agent-scoped customisation that never touches Unity Catalog — and the two toggles that decide whether filters work at all.</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What the knowledge store contains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Hiding columns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Format assistance vs entity matching</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Florida-to-FL worked example</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Governance constraints and refresh</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7.1 THE KNOWLEDGE STORE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Everything here is scoped to the agent [OFF-2]</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23</a:t>
            </a:r>
            <a:endParaRPr lang="en-US" sz="800" dirty="0"/>
          </a:p>
        </p:txBody>
      </p:sp>
      <p:sp>
        <p:nvSpPr>
          <p:cNvPr id="6" name="Shape 4"/>
          <p:cNvSpPr/>
          <p:nvPr/>
        </p:nvSpPr>
        <p:spPr>
          <a:xfrm>
            <a:off x="502920" y="1207008"/>
            <a:ext cx="2104949" cy="1188720"/>
          </a:xfrm>
          <a:prstGeom prst="roundRect">
            <a:avLst>
              <a:gd name="adj" fmla="val 4615"/>
            </a:avLst>
          </a:prstGeom>
          <a:solidFill>
            <a:srgbClr val="F2F5F9"/>
          </a:solidFill>
          <a:ln w="9525">
            <a:solidFill>
              <a:srgbClr val="D2DDE9"/>
            </a:solidFill>
            <a:prstDash val="solid"/>
          </a:ln>
        </p:spPr>
      </p:sp>
      <p:sp>
        <p:nvSpPr>
          <p:cNvPr id="7" name="Text 5"/>
          <p:cNvSpPr txBox="1"/>
          <p:nvPr/>
        </p:nvSpPr>
        <p:spPr>
          <a:xfrm>
            <a:off x="649224" y="1325880"/>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Metadata customisation</a:t>
            </a:r>
            <a:endParaRPr lang="en-US" sz="1100" dirty="0"/>
          </a:p>
        </p:txBody>
      </p:sp>
      <p:sp>
        <p:nvSpPr>
          <p:cNvPr id="8" name="Text 6"/>
          <p:cNvSpPr txBox="1"/>
          <p:nvPr/>
        </p:nvSpPr>
        <p:spPr>
          <a:xfrm>
            <a:off x="649224" y="1664208"/>
            <a:ext cx="1812341"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Agent-level descriptions, business terms and synonyms — layered over the catalog without changing it.</a:t>
            </a:r>
            <a:endParaRPr lang="en-US" sz="950" dirty="0"/>
          </a:p>
        </p:txBody>
      </p:sp>
      <p:sp>
        <p:nvSpPr>
          <p:cNvPr id="9" name="Shape 7"/>
          <p:cNvSpPr/>
          <p:nvPr/>
        </p:nvSpPr>
        <p:spPr>
          <a:xfrm>
            <a:off x="2772461" y="1207008"/>
            <a:ext cx="2104949" cy="1188720"/>
          </a:xfrm>
          <a:prstGeom prst="roundRect">
            <a:avLst>
              <a:gd name="adj" fmla="val 4615"/>
            </a:avLst>
          </a:prstGeom>
          <a:solidFill>
            <a:srgbClr val="F2F5F9"/>
          </a:solidFill>
          <a:ln w="9525">
            <a:solidFill>
              <a:srgbClr val="D2DDE9"/>
            </a:solidFill>
            <a:prstDash val="solid"/>
          </a:ln>
        </p:spPr>
      </p:sp>
      <p:sp>
        <p:nvSpPr>
          <p:cNvPr id="10" name="Text 8"/>
          <p:cNvSpPr txBox="1"/>
          <p:nvPr/>
        </p:nvSpPr>
        <p:spPr>
          <a:xfrm>
            <a:off x="2918765" y="1325880"/>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Data customisation</a:t>
            </a:r>
            <a:endParaRPr lang="en-US" sz="1100" dirty="0"/>
          </a:p>
        </p:txBody>
      </p:sp>
      <p:sp>
        <p:nvSpPr>
          <p:cNvPr id="11" name="Text 9"/>
          <p:cNvSpPr txBox="1"/>
          <p:nvPr/>
        </p:nvSpPr>
        <p:spPr>
          <a:xfrm>
            <a:off x="2918765" y="1664208"/>
            <a:ext cx="1812341"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Simplified, focused datasets for the agent without changing the underlying tables.</a:t>
            </a:r>
            <a:endParaRPr lang="en-US" sz="950" dirty="0"/>
          </a:p>
        </p:txBody>
      </p:sp>
      <p:sp>
        <p:nvSpPr>
          <p:cNvPr id="12" name="Shape 10"/>
          <p:cNvSpPr/>
          <p:nvPr/>
        </p:nvSpPr>
        <p:spPr>
          <a:xfrm>
            <a:off x="5042002" y="1207008"/>
            <a:ext cx="2104949" cy="1188720"/>
          </a:xfrm>
          <a:prstGeom prst="roundRect">
            <a:avLst>
              <a:gd name="adj" fmla="val 4615"/>
            </a:avLst>
          </a:prstGeom>
          <a:solidFill>
            <a:srgbClr val="F2F5F9"/>
          </a:solidFill>
          <a:ln w="9525">
            <a:solidFill>
              <a:srgbClr val="D2DDE9"/>
            </a:solidFill>
            <a:prstDash val="solid"/>
          </a:ln>
        </p:spPr>
      </p:sp>
      <p:sp>
        <p:nvSpPr>
          <p:cNvPr id="13" name="Text 11"/>
          <p:cNvSpPr txBox="1"/>
          <p:nvPr/>
        </p:nvSpPr>
        <p:spPr>
          <a:xfrm>
            <a:off x="5188306" y="1325880"/>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Prompt matching</a:t>
            </a:r>
            <a:endParaRPr lang="en-US" sz="1100" dirty="0"/>
          </a:p>
        </p:txBody>
      </p:sp>
      <p:sp>
        <p:nvSpPr>
          <p:cNvPr id="14" name="Text 12"/>
          <p:cNvSpPr txBox="1"/>
          <p:nvPr/>
        </p:nvSpPr>
        <p:spPr>
          <a:xfrm>
            <a:off x="5188306" y="1664208"/>
            <a:ext cx="1812341"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Format assistance and entity matching — the values layer that makes filters resolve correctly.</a:t>
            </a:r>
            <a:endParaRPr lang="en-US" sz="950" dirty="0"/>
          </a:p>
        </p:txBody>
      </p:sp>
      <p:sp>
        <p:nvSpPr>
          <p:cNvPr id="15" name="Shape 13"/>
          <p:cNvSpPr/>
          <p:nvPr/>
        </p:nvSpPr>
        <p:spPr>
          <a:xfrm>
            <a:off x="7311542" y="1207008"/>
            <a:ext cx="2104949" cy="1188720"/>
          </a:xfrm>
          <a:prstGeom prst="roundRect">
            <a:avLst>
              <a:gd name="adj" fmla="val 4615"/>
            </a:avLst>
          </a:prstGeom>
          <a:solidFill>
            <a:srgbClr val="F2F5F9"/>
          </a:solidFill>
          <a:ln w="9525">
            <a:solidFill>
              <a:srgbClr val="D2DDE9"/>
            </a:solidFill>
            <a:prstDash val="solid"/>
          </a:ln>
        </p:spPr>
      </p:sp>
      <p:sp>
        <p:nvSpPr>
          <p:cNvPr id="16" name="Text 14"/>
          <p:cNvSpPr txBox="1"/>
          <p:nvPr/>
        </p:nvSpPr>
        <p:spPr>
          <a:xfrm>
            <a:off x="7457846" y="1325880"/>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Join relationships</a:t>
            </a:r>
            <a:endParaRPr lang="en-US" sz="1100" dirty="0"/>
          </a:p>
        </p:txBody>
      </p:sp>
      <p:sp>
        <p:nvSpPr>
          <p:cNvPr id="17" name="Text 15"/>
          <p:cNvSpPr txBox="1"/>
          <p:nvPr/>
        </p:nvSpPr>
        <p:spPr>
          <a:xfrm>
            <a:off x="7457846" y="1664208"/>
            <a:ext cx="1812341"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Left and right table, join condition, and cardinality — for cases UC constraints do not cover.</a:t>
            </a:r>
            <a:endParaRPr lang="en-US" sz="950" dirty="0"/>
          </a:p>
        </p:txBody>
      </p:sp>
      <p:sp>
        <p:nvSpPr>
          <p:cNvPr id="18" name="Shape 16"/>
          <p:cNvSpPr/>
          <p:nvPr/>
        </p:nvSpPr>
        <p:spPr>
          <a:xfrm>
            <a:off x="9581083" y="1207008"/>
            <a:ext cx="2104949" cy="1188720"/>
          </a:xfrm>
          <a:prstGeom prst="roundRect">
            <a:avLst>
              <a:gd name="adj" fmla="val 4615"/>
            </a:avLst>
          </a:prstGeom>
          <a:solidFill>
            <a:srgbClr val="F2F5F9"/>
          </a:solidFill>
          <a:ln w="9525">
            <a:solidFill>
              <a:srgbClr val="D2DDE9"/>
            </a:solidFill>
            <a:prstDash val="solid"/>
          </a:ln>
        </p:spPr>
      </p:sp>
      <p:sp>
        <p:nvSpPr>
          <p:cNvPr id="19" name="Text 17"/>
          <p:cNvSpPr txBox="1"/>
          <p:nvPr/>
        </p:nvSpPr>
        <p:spPr>
          <a:xfrm>
            <a:off x="9727387" y="1325880"/>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SQL expressions</a:t>
            </a:r>
            <a:endParaRPr lang="en-US" sz="1100" dirty="0"/>
          </a:p>
        </p:txBody>
      </p:sp>
      <p:sp>
        <p:nvSpPr>
          <p:cNvPr id="20" name="Text 18"/>
          <p:cNvSpPr txBox="1"/>
          <p:nvPr/>
        </p:nvSpPr>
        <p:spPr>
          <a:xfrm>
            <a:off x="9727387" y="1664208"/>
            <a:ext cx="1812341"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Named filters, measures and fields that encode your business vocabulary as executable logic.</a:t>
            </a:r>
            <a:endParaRPr lang="en-US" sz="950" dirty="0"/>
          </a:p>
        </p:txBody>
      </p:sp>
      <p:sp>
        <p:nvSpPr>
          <p:cNvPr id="21" name="Shape 19"/>
          <p:cNvSpPr/>
          <p:nvPr/>
        </p:nvSpPr>
        <p:spPr>
          <a:xfrm>
            <a:off x="502920" y="2542032"/>
            <a:ext cx="11183112" cy="566928"/>
          </a:xfrm>
          <a:prstGeom prst="roundRect">
            <a:avLst>
              <a:gd name="adj" fmla="val 9677"/>
            </a:avLst>
          </a:prstGeom>
          <a:solidFill>
            <a:srgbClr val="0E1B2A"/>
          </a:solidFill>
          <a:ln w="9525">
            <a:solidFill>
              <a:srgbClr val="0E1B2A"/>
            </a:solidFill>
            <a:prstDash val="solid"/>
          </a:ln>
        </p:spPr>
      </p:sp>
      <p:sp>
        <p:nvSpPr>
          <p:cNvPr id="22" name="Shape 20"/>
          <p:cNvSpPr/>
          <p:nvPr/>
        </p:nvSpPr>
        <p:spPr>
          <a:xfrm>
            <a:off x="685800" y="2688336"/>
            <a:ext cx="274320" cy="274320"/>
          </a:xfrm>
          <a:prstGeom prst="roundRect">
            <a:avLst>
              <a:gd name="adj" fmla="val 16667"/>
            </a:avLst>
          </a:prstGeom>
          <a:solidFill>
            <a:srgbClr val="E8552D"/>
          </a:solidFill>
          <a:ln/>
        </p:spPr>
      </p:sp>
      <p:sp>
        <p:nvSpPr>
          <p:cNvPr id="23" name="Text 21"/>
          <p:cNvSpPr txBox="1"/>
          <p:nvPr/>
        </p:nvSpPr>
        <p:spPr>
          <a:xfrm>
            <a:off x="685800" y="268833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t>
            </a:r>
            <a:endParaRPr lang="en-US" sz="1050" dirty="0"/>
          </a:p>
        </p:txBody>
      </p:sp>
      <p:sp>
        <p:nvSpPr>
          <p:cNvPr id="24" name="Text 22"/>
          <p:cNvSpPr txBox="1"/>
          <p:nvPr/>
        </p:nvSpPr>
        <p:spPr>
          <a:xfrm>
            <a:off x="1106424" y="2633472"/>
            <a:ext cx="10396728" cy="384048"/>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All configurations are scoped to the agent and do not affect Unity Catalog metadata or other assets. They also improve usability for users who lack direct permissions on the underlying tables, and support quicker iteration when updating instruction versions.  [OFF-1] [OFF-2]</a:t>
            </a:r>
            <a:endParaRPr lang="en-US" sz="1050" dirty="0"/>
          </a:p>
        </p:txBody>
      </p:sp>
      <p:sp>
        <p:nvSpPr>
          <p:cNvPr id="25" name="Shape 23"/>
          <p:cNvSpPr/>
          <p:nvPr/>
        </p:nvSpPr>
        <p:spPr>
          <a:xfrm>
            <a:off x="502920" y="3310128"/>
            <a:ext cx="3593592" cy="2980944"/>
          </a:xfrm>
          <a:prstGeom prst="roundRect">
            <a:avLst>
              <a:gd name="adj" fmla="val 1840"/>
            </a:avLst>
          </a:prstGeom>
          <a:solidFill>
            <a:srgbClr val="E4ECF4"/>
          </a:solidFill>
          <a:ln w="9525">
            <a:solidFill>
              <a:srgbClr val="D2DDE9"/>
            </a:solidFill>
            <a:prstDash val="solid"/>
          </a:ln>
        </p:spPr>
      </p:sp>
      <p:sp>
        <p:nvSpPr>
          <p:cNvPr id="26" name="Text 24"/>
          <p:cNvSpPr txBox="1"/>
          <p:nvPr/>
        </p:nvSpPr>
        <p:spPr>
          <a:xfrm>
            <a:off x="649224" y="3429000"/>
            <a:ext cx="3300984"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Hiding columns  [OFF-2]</a:t>
            </a:r>
            <a:endParaRPr lang="en-US" sz="1250" dirty="0"/>
          </a:p>
        </p:txBody>
      </p:sp>
      <p:sp>
        <p:nvSpPr>
          <p:cNvPr id="27" name="Text 25"/>
          <p:cNvSpPr txBox="1"/>
          <p:nvPr/>
        </p:nvSpPr>
        <p:spPr>
          <a:xfrm>
            <a:off x="649224" y="3767328"/>
            <a:ext cx="3300984" cy="2404872"/>
          </a:xfrm>
          <a:prstGeom prst="rect">
            <a:avLst/>
          </a:prstGeom>
          <a:noFill/>
          <a:ln/>
        </p:spPr>
        <p:txBody>
          <a:bodyPr wrap="square" lIns="0" tIns="0" rIns="0" bIns="0" rtlCol="0" anchor="t"/>
          <a:lstStyle/>
          <a:p>
            <a:pPr indent="0" marL="0">
              <a:lnSpc>
                <a:spcPts val="1450"/>
              </a:lnSpc>
              <a:buNone/>
            </a:pPr>
            <a:r>
              <a:rPr lang="en-US" sz="1050" dirty="0">
                <a:solidFill>
                  <a:srgbClr val="2B3A4C"/>
                </a:solidFill>
                <a:latin typeface="Calibri" pitchFamily="34" charset="0"/>
                <a:ea typeface="Calibri" pitchFamily="34" charset="-122"/>
                <a:cs typeface="Calibri" pitchFamily="34" charset="-120"/>
              </a:rPr>
              <a:t>Hiding removes a column from the agent's context, so Genie will not reference it when generating SQL or answering questions. Use it for unnecessary, duplicate or confusing columns. It does not affect the underlying data or Unity Catalog permissions — the column still exists and stays visible to users with direct table access. Columns can be hidden individually or in bulk.</a:t>
            </a:r>
            <a:endParaRPr lang="en-US" sz="1050" dirty="0"/>
          </a:p>
        </p:txBody>
      </p:sp>
      <p:sp>
        <p:nvSpPr>
          <p:cNvPr id="28" name="Shape 26"/>
          <p:cNvSpPr/>
          <p:nvPr/>
        </p:nvSpPr>
        <p:spPr>
          <a:xfrm>
            <a:off x="4297680" y="3310128"/>
            <a:ext cx="3593592" cy="2980944"/>
          </a:xfrm>
          <a:prstGeom prst="roundRect">
            <a:avLst>
              <a:gd name="adj" fmla="val 1840"/>
            </a:avLst>
          </a:prstGeom>
          <a:solidFill>
            <a:srgbClr val="E4ECF4"/>
          </a:solidFill>
          <a:ln w="9525">
            <a:solidFill>
              <a:srgbClr val="D2DDE9"/>
            </a:solidFill>
            <a:prstDash val="solid"/>
          </a:ln>
        </p:spPr>
      </p:sp>
      <p:sp>
        <p:nvSpPr>
          <p:cNvPr id="29" name="Text 27"/>
          <p:cNvSpPr txBox="1"/>
          <p:nvPr/>
        </p:nvSpPr>
        <p:spPr>
          <a:xfrm>
            <a:off x="4443984" y="3429000"/>
            <a:ext cx="3300984"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Knowledge mining  [OFF-2]</a:t>
            </a:r>
            <a:endParaRPr lang="en-US" sz="1250" dirty="0"/>
          </a:p>
        </p:txBody>
      </p:sp>
      <p:sp>
        <p:nvSpPr>
          <p:cNvPr id="30" name="Text 28"/>
          <p:cNvSpPr txBox="1"/>
          <p:nvPr/>
        </p:nvSpPr>
        <p:spPr>
          <a:xfrm>
            <a:off x="4443984" y="3767328"/>
            <a:ext cx="3300984" cy="2404872"/>
          </a:xfrm>
          <a:prstGeom prst="rect">
            <a:avLst/>
          </a:prstGeom>
          <a:noFill/>
          <a:ln/>
        </p:spPr>
        <p:txBody>
          <a:bodyPr wrap="square" lIns="0" tIns="0" rIns="0" bIns="0" rtlCol="0" anchor="t"/>
          <a:lstStyle/>
          <a:p>
            <a:pPr indent="0" marL="0">
              <a:lnSpc>
                <a:spcPts val="1450"/>
              </a:lnSpc>
              <a:buNone/>
            </a:pPr>
            <a:r>
              <a:rPr lang="en-US" sz="1050" dirty="0">
                <a:solidFill>
                  <a:srgbClr val="2B3A4C"/>
                </a:solidFill>
                <a:latin typeface="Calibri" pitchFamily="34" charset="0"/>
                <a:ea typeface="Calibri" pitchFamily="34" charset="-122"/>
                <a:cs typeface="Calibri" pitchFamily="34" charset="-120"/>
              </a:rPr>
              <a:t>Genie analyses Unity Catalog metadata for connected tables and views; primary and foreign keys defined in your schema are automatically saved as join relationships. It also learns from author interactions — when an author thumbs-up a response or downloads query results, Genie analyses the query and may suggest new SQL expressions and join relationships for the knowledge store.</a:t>
            </a:r>
            <a:endParaRPr lang="en-US" sz="1050" dirty="0"/>
          </a:p>
        </p:txBody>
      </p:sp>
      <p:sp>
        <p:nvSpPr>
          <p:cNvPr id="31" name="Shape 29"/>
          <p:cNvSpPr/>
          <p:nvPr/>
        </p:nvSpPr>
        <p:spPr>
          <a:xfrm>
            <a:off x="8092440" y="3310128"/>
            <a:ext cx="3593592" cy="2980944"/>
          </a:xfrm>
          <a:prstGeom prst="roundRect">
            <a:avLst>
              <a:gd name="adj" fmla="val 1840"/>
            </a:avLst>
          </a:prstGeom>
          <a:solidFill>
            <a:srgbClr val="E4ECF4"/>
          </a:solidFill>
          <a:ln w="9525">
            <a:solidFill>
              <a:srgbClr val="D2DDE9"/>
            </a:solidFill>
            <a:prstDash val="solid"/>
          </a:ln>
        </p:spPr>
      </p:sp>
      <p:sp>
        <p:nvSpPr>
          <p:cNvPr id="32" name="Text 30"/>
          <p:cNvSpPr txBox="1"/>
          <p:nvPr/>
        </p:nvSpPr>
        <p:spPr>
          <a:xfrm>
            <a:off x="8238744" y="3429000"/>
            <a:ext cx="3300984" cy="292608"/>
          </a:xfrm>
          <a:prstGeom prst="rect">
            <a:avLst/>
          </a:prstGeom>
          <a:noFill/>
          <a:ln/>
        </p:spPr>
        <p:txBody>
          <a:bodyPr wrap="square" lIns="0" tIns="0" rIns="0" bIns="0" rtlCol="0" anchor="t"/>
          <a:lstStyle/>
          <a:p>
            <a:pPr indent="0" marL="0">
              <a:buNone/>
            </a:pPr>
            <a:r>
              <a:rPr lang="en-US" sz="1250" b="1" dirty="0">
                <a:solidFill>
                  <a:srgbClr val="0E1B2A"/>
                </a:solidFill>
                <a:latin typeface="Calibri" pitchFamily="34" charset="0"/>
                <a:ea typeface="Calibri" pitchFamily="34" charset="-122"/>
                <a:cs typeface="Calibri" pitchFamily="34" charset="-120"/>
              </a:rPr>
              <a:t>Budget the store deliberately</a:t>
            </a:r>
            <a:endParaRPr lang="en-US" sz="1250" dirty="0"/>
          </a:p>
        </p:txBody>
      </p:sp>
      <p:sp>
        <p:nvSpPr>
          <p:cNvPr id="33" name="Text 31"/>
          <p:cNvSpPr txBox="1"/>
          <p:nvPr/>
        </p:nvSpPr>
        <p:spPr>
          <a:xfrm>
            <a:off x="8238744" y="3767328"/>
            <a:ext cx="3300984" cy="2404872"/>
          </a:xfrm>
          <a:prstGeom prst="rect">
            <a:avLst/>
          </a:prstGeom>
          <a:noFill/>
          <a:ln/>
        </p:spPr>
        <p:txBody>
          <a:bodyPr wrap="square" lIns="0" tIns="0" rIns="0" bIns="0" rtlCol="0" anchor="t"/>
          <a:lstStyle/>
          <a:p>
            <a:pPr indent="0" marL="0">
              <a:lnSpc>
                <a:spcPts val="1450"/>
              </a:lnSpc>
              <a:buNone/>
            </a:pPr>
            <a:r>
              <a:rPr lang="en-US" sz="1050" dirty="0">
                <a:solidFill>
                  <a:srgbClr val="2B3A4C"/>
                </a:solidFill>
                <a:latin typeface="Calibri" pitchFamily="34" charset="0"/>
                <a:ea typeface="Calibri" pitchFamily="34" charset="-122"/>
                <a:cs typeface="Calibri" pitchFamily="34" charset="-120"/>
              </a:rPr>
              <a:t>The store holds up to 200 snippets across table descriptions, join relationships and SQL expressions, and instructions are capped at 100 (each example SQL, each SQL function and the whole General instructions block counts as one). Prune redundant entries as you approach either ceiling rather than discovering the limit in production.  [OFF-2]</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7.2 PROMPT MATCHING</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On by default, applied to eligible columns automatically [OFF-2]</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24</a:t>
            </a:r>
            <a:endParaRPr lang="en-US" sz="800" dirty="0"/>
          </a:p>
        </p:txBody>
      </p:sp>
      <p:sp>
        <p:nvSpPr>
          <p:cNvPr id="6" name="Shape 4"/>
          <p:cNvSpPr/>
          <p:nvPr/>
        </p:nvSpPr>
        <p:spPr>
          <a:xfrm>
            <a:off x="502920" y="1207008"/>
            <a:ext cx="5504688" cy="1920240"/>
          </a:xfrm>
          <a:prstGeom prst="roundRect">
            <a:avLst>
              <a:gd name="adj" fmla="val 2857"/>
            </a:avLst>
          </a:prstGeom>
          <a:solidFill>
            <a:srgbClr val="F2F5F9"/>
          </a:solidFill>
          <a:ln w="9525">
            <a:solidFill>
              <a:srgbClr val="D2DDE9"/>
            </a:solidFill>
            <a:prstDash val="solid"/>
          </a:ln>
        </p:spPr>
      </p:sp>
      <p:sp>
        <p:nvSpPr>
          <p:cNvPr id="7" name="Shape 5"/>
          <p:cNvSpPr/>
          <p:nvPr/>
        </p:nvSpPr>
        <p:spPr>
          <a:xfrm>
            <a:off x="667512" y="1371600"/>
            <a:ext cx="274320" cy="274320"/>
          </a:xfrm>
          <a:prstGeom prst="roundRect">
            <a:avLst>
              <a:gd name="adj" fmla="val 16667"/>
            </a:avLst>
          </a:prstGeom>
          <a:solidFill>
            <a:srgbClr val="13456E"/>
          </a:solidFill>
          <a:ln/>
        </p:spPr>
      </p:sp>
      <p:sp>
        <p:nvSpPr>
          <p:cNvPr id="8" name="Text 6"/>
          <p:cNvSpPr txBox="1"/>
          <p:nvPr/>
        </p:nvSpPr>
        <p:spPr>
          <a:xfrm>
            <a:off x="667512" y="13716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a:t>
            </a:r>
            <a:endParaRPr lang="en-US" sz="1050" dirty="0"/>
          </a:p>
        </p:txBody>
      </p:sp>
      <p:sp>
        <p:nvSpPr>
          <p:cNvPr id="9" name="Text 7"/>
          <p:cNvSpPr txBox="1"/>
          <p:nvPr/>
        </p:nvSpPr>
        <p:spPr>
          <a:xfrm>
            <a:off x="1014984" y="1371600"/>
            <a:ext cx="4114800" cy="274320"/>
          </a:xfrm>
          <a:prstGeom prst="rect">
            <a:avLst/>
          </a:prstGeom>
          <a:noFill/>
          <a:ln/>
        </p:spPr>
        <p:txBody>
          <a:bodyPr wrap="square" lIns="0" tIns="0" rIns="0" bIns="0" rtlCol="0" anchor="ctr"/>
          <a:lstStyle/>
          <a:p>
            <a:pPr indent="0" marL="0">
              <a:buNone/>
            </a:pPr>
            <a:r>
              <a:rPr lang="en-US" sz="1350" b="1" dirty="0">
                <a:solidFill>
                  <a:srgbClr val="0E1B2A"/>
                </a:solidFill>
                <a:latin typeface="Calibri" pitchFamily="34" charset="0"/>
                <a:ea typeface="Calibri" pitchFamily="34" charset="-122"/>
                <a:cs typeface="Calibri" pitchFamily="34" charset="-120"/>
              </a:rPr>
              <a:t>Format assistance</a:t>
            </a:r>
            <a:endParaRPr lang="en-US" sz="1350" dirty="0"/>
          </a:p>
        </p:txBody>
      </p:sp>
      <p:sp>
        <p:nvSpPr>
          <p:cNvPr id="10" name="Text 8"/>
          <p:cNvSpPr txBox="1"/>
          <p:nvPr/>
        </p:nvSpPr>
        <p:spPr>
          <a:xfrm>
            <a:off x="667512" y="1737360"/>
            <a:ext cx="5175504" cy="128016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Provides representative values for all eligible columns, helping Genie understand data types and formatting patterns. Values are generated using the author's data permissions and become part of the agent's shared context. It is the prerequisite for entity matching — turning it off also disables entity matching.</a:t>
            </a:r>
            <a:endParaRPr lang="en-US" sz="1050" dirty="0"/>
          </a:p>
        </p:txBody>
      </p:sp>
      <p:sp>
        <p:nvSpPr>
          <p:cNvPr id="11" name="Shape 9"/>
          <p:cNvSpPr/>
          <p:nvPr/>
        </p:nvSpPr>
        <p:spPr>
          <a:xfrm>
            <a:off x="6181344" y="1207008"/>
            <a:ext cx="5504688" cy="1920240"/>
          </a:xfrm>
          <a:prstGeom prst="roundRect">
            <a:avLst>
              <a:gd name="adj" fmla="val 2857"/>
            </a:avLst>
          </a:prstGeom>
          <a:solidFill>
            <a:srgbClr val="F2F5F9"/>
          </a:solidFill>
          <a:ln w="9525">
            <a:solidFill>
              <a:srgbClr val="D2DDE9"/>
            </a:solidFill>
            <a:prstDash val="solid"/>
          </a:ln>
        </p:spPr>
      </p:sp>
      <p:sp>
        <p:nvSpPr>
          <p:cNvPr id="12" name="Shape 10"/>
          <p:cNvSpPr/>
          <p:nvPr/>
        </p:nvSpPr>
        <p:spPr>
          <a:xfrm>
            <a:off x="6345936" y="1371600"/>
            <a:ext cx="274320" cy="274320"/>
          </a:xfrm>
          <a:prstGeom prst="roundRect">
            <a:avLst>
              <a:gd name="adj" fmla="val 16667"/>
            </a:avLst>
          </a:prstGeom>
          <a:solidFill>
            <a:srgbClr val="E8552D"/>
          </a:solidFill>
          <a:ln/>
        </p:spPr>
      </p:sp>
      <p:sp>
        <p:nvSpPr>
          <p:cNvPr id="13" name="Text 11"/>
          <p:cNvSpPr txBox="1"/>
          <p:nvPr/>
        </p:nvSpPr>
        <p:spPr>
          <a:xfrm>
            <a:off x="6345936" y="13716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14" name="Text 12"/>
          <p:cNvSpPr txBox="1"/>
          <p:nvPr/>
        </p:nvSpPr>
        <p:spPr>
          <a:xfrm>
            <a:off x="6693408" y="1371600"/>
            <a:ext cx="4114800" cy="274320"/>
          </a:xfrm>
          <a:prstGeom prst="rect">
            <a:avLst/>
          </a:prstGeom>
          <a:noFill/>
          <a:ln/>
        </p:spPr>
        <p:txBody>
          <a:bodyPr wrap="square" lIns="0" tIns="0" rIns="0" bIns="0" rtlCol="0" anchor="ctr"/>
          <a:lstStyle/>
          <a:p>
            <a:pPr indent="0" marL="0">
              <a:buNone/>
            </a:pPr>
            <a:r>
              <a:rPr lang="en-US" sz="1350" b="1" dirty="0">
                <a:solidFill>
                  <a:srgbClr val="0E1B2A"/>
                </a:solidFill>
                <a:latin typeface="Calibri" pitchFamily="34" charset="0"/>
                <a:ea typeface="Calibri" pitchFamily="34" charset="-122"/>
                <a:cs typeface="Calibri" pitchFamily="34" charset="-120"/>
              </a:rPr>
              <a:t>Entity matching</a:t>
            </a:r>
            <a:endParaRPr lang="en-US" sz="1350" dirty="0"/>
          </a:p>
        </p:txBody>
      </p:sp>
      <p:sp>
        <p:nvSpPr>
          <p:cNvPr id="15" name="Text 13"/>
          <p:cNvSpPr txBox="1"/>
          <p:nvPr/>
        </p:nvSpPr>
        <p:spPr>
          <a:xfrm>
            <a:off x="6345936" y="1737360"/>
            <a:ext cx="5175504" cy="128016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Provides curated lists of distinct values for columns where users reference specific entries. String columns only. Good candidates: state or country codes, product categories, status codes, department names. When users filter on an entity-matched column, the filter renders as an editable drop-down of stored values.</a:t>
            </a:r>
            <a:endParaRPr lang="en-US" sz="1050" dirty="0"/>
          </a:p>
        </p:txBody>
      </p:sp>
      <p:sp>
        <p:nvSpPr>
          <p:cNvPr id="16" name="Text 14"/>
          <p:cNvSpPr txBox="1"/>
          <p:nvPr/>
        </p:nvSpPr>
        <p:spPr>
          <a:xfrm>
            <a:off x="502920" y="3291840"/>
            <a:ext cx="11183112" cy="182880"/>
          </a:xfrm>
          <a:prstGeom prst="rect">
            <a:avLst/>
          </a:prstGeom>
          <a:noFill/>
          <a:ln/>
        </p:spPr>
        <p:txBody>
          <a:bodyPr wrap="square" lIns="0" tIns="0" rIns="0" bIns="0" rtlCol="0" anchor="t"/>
          <a:lstStyle/>
          <a:p>
            <a:pPr indent="0" marL="0">
              <a:buNone/>
            </a:pPr>
            <a:r>
              <a:rPr lang="en-US" sz="850" b="1" spc="130" kern="0" dirty="0">
                <a:solidFill>
                  <a:srgbClr val="56677C"/>
                </a:solidFill>
                <a:latin typeface="Calibri" pitchFamily="34" charset="0"/>
                <a:ea typeface="Calibri" pitchFamily="34" charset="-122"/>
                <a:cs typeface="Calibri" pitchFamily="34" charset="-120"/>
              </a:rPr>
              <a:t>WORKED EXAMPLE — “SHOW ME CAR SALES IN FLORIDA FOR Q1” AGAINST DATA STORING ‘FL’  [OFF-2]</a:t>
            </a:r>
            <a:endParaRPr lang="en-US" sz="850" dirty="0"/>
          </a:p>
        </p:txBody>
      </p:sp>
      <p:sp>
        <p:nvSpPr>
          <p:cNvPr id="17" name="Shape 15"/>
          <p:cNvSpPr/>
          <p:nvPr/>
        </p:nvSpPr>
        <p:spPr>
          <a:xfrm>
            <a:off x="502920" y="3547872"/>
            <a:ext cx="5504688" cy="1060704"/>
          </a:xfrm>
          <a:prstGeom prst="roundRect">
            <a:avLst>
              <a:gd name="adj" fmla="val 4310"/>
            </a:avLst>
          </a:prstGeom>
          <a:solidFill>
            <a:srgbClr val="0E1B2A"/>
          </a:solidFill>
          <a:ln/>
        </p:spPr>
      </p:sp>
      <p:sp>
        <p:nvSpPr>
          <p:cNvPr id="18" name="Text 16"/>
          <p:cNvSpPr txBox="1"/>
          <p:nvPr/>
        </p:nvSpPr>
        <p:spPr>
          <a:xfrm>
            <a:off x="685800" y="3666744"/>
            <a:ext cx="5138928" cy="201168"/>
          </a:xfrm>
          <a:prstGeom prst="rect">
            <a:avLst/>
          </a:prstGeom>
          <a:noFill/>
          <a:ln/>
        </p:spPr>
        <p:txBody>
          <a:bodyPr wrap="square" lIns="0" tIns="0" rIns="0" bIns="0" rtlCol="0" anchor="t"/>
          <a:lstStyle/>
          <a:p>
            <a:pPr indent="0" marL="0">
              <a:buNone/>
            </a:pPr>
            <a:r>
              <a:rPr lang="en-US" sz="850" b="1" spc="160" kern="0" dirty="0">
                <a:solidFill>
                  <a:srgbClr val="F0A0A0"/>
                </a:solidFill>
                <a:latin typeface="Calibri" pitchFamily="34" charset="0"/>
                <a:ea typeface="Calibri" pitchFamily="34" charset="-122"/>
                <a:cs typeface="Calibri" pitchFamily="34" charset="-120"/>
              </a:rPr>
              <a:t>WITHOUT ENTITY MATCHING</a:t>
            </a:r>
            <a:endParaRPr lang="en-US" sz="850" dirty="0"/>
          </a:p>
        </p:txBody>
      </p:sp>
      <p:sp>
        <p:nvSpPr>
          <p:cNvPr id="19" name="Text 17"/>
          <p:cNvSpPr txBox="1"/>
          <p:nvPr/>
        </p:nvSpPr>
        <p:spPr>
          <a:xfrm>
            <a:off x="685800" y="3931920"/>
            <a:ext cx="5138928" cy="530352"/>
          </a:xfrm>
          <a:prstGeom prst="rect">
            <a:avLst/>
          </a:prstGeom>
          <a:noFill/>
          <a:ln/>
        </p:spPr>
        <p:txBody>
          <a:bodyPr wrap="square" lIns="0" tIns="0" rIns="0" bIns="0" rtlCol="0" anchor="t"/>
          <a:lstStyle/>
          <a:p>
            <a:pPr indent="0" marL="0">
              <a:lnSpc>
                <a:spcPts val="1400"/>
              </a:lnSpc>
              <a:buNone/>
            </a:pPr>
            <a:r>
              <a:rPr lang="en-US" sz="1050" dirty="0">
                <a:solidFill>
                  <a:srgbClr val="FFB3A7"/>
                </a:solidFill>
                <a:latin typeface="Courier New" pitchFamily="34" charset="0"/>
                <a:ea typeface="Courier New" pitchFamily="34" charset="-122"/>
                <a:cs typeface="Courier New" pitchFamily="34" charset="-120"/>
              </a:rPr>
              <a:t>WHERE state ILIKE '%Florida%'</a:t>
            </a:r>
            <a:endParaRPr lang="en-US" sz="1050" dirty="0"/>
          </a:p>
          <a:p>
            <a:pPr indent="0" marL="0">
              <a:lnSpc>
                <a:spcPts val="1400"/>
              </a:lnSpc>
              <a:buNone/>
            </a:pPr>
            <a:endParaRPr lang="en-US" sz="1050" dirty="0"/>
          </a:p>
          <a:p>
            <a:pPr indent="0" marL="0">
              <a:lnSpc>
                <a:spcPts val="1400"/>
              </a:lnSpc>
              <a:buNone/>
            </a:pPr>
            <a:r>
              <a:rPr lang="en-US" sz="1050" dirty="0">
                <a:solidFill>
                  <a:srgbClr val="8FA5BC"/>
                </a:solidFill>
                <a:latin typeface="Courier New" pitchFamily="34" charset="0"/>
                <a:ea typeface="Courier New" pitchFamily="34" charset="-122"/>
                <a:cs typeface="Courier New" pitchFamily="34" charset="-120"/>
              </a:rPr>
              <a:t>-&gt; 0 rows. The agent looks broken.</a:t>
            </a:r>
            <a:endParaRPr lang="en-US" sz="1050" dirty="0"/>
          </a:p>
        </p:txBody>
      </p:sp>
      <p:sp>
        <p:nvSpPr>
          <p:cNvPr id="20" name="Shape 18"/>
          <p:cNvSpPr/>
          <p:nvPr/>
        </p:nvSpPr>
        <p:spPr>
          <a:xfrm>
            <a:off x="6181344" y="3547872"/>
            <a:ext cx="5504688" cy="1060704"/>
          </a:xfrm>
          <a:prstGeom prst="roundRect">
            <a:avLst>
              <a:gd name="adj" fmla="val 4310"/>
            </a:avLst>
          </a:prstGeom>
          <a:solidFill>
            <a:srgbClr val="0E1B2A"/>
          </a:solidFill>
          <a:ln/>
        </p:spPr>
      </p:sp>
      <p:sp>
        <p:nvSpPr>
          <p:cNvPr id="21" name="Text 19"/>
          <p:cNvSpPr txBox="1"/>
          <p:nvPr/>
        </p:nvSpPr>
        <p:spPr>
          <a:xfrm>
            <a:off x="6364224" y="3666744"/>
            <a:ext cx="5138928" cy="201168"/>
          </a:xfrm>
          <a:prstGeom prst="rect">
            <a:avLst/>
          </a:prstGeom>
          <a:noFill/>
          <a:ln/>
        </p:spPr>
        <p:txBody>
          <a:bodyPr wrap="square" lIns="0" tIns="0" rIns="0" bIns="0" rtlCol="0" anchor="t"/>
          <a:lstStyle/>
          <a:p>
            <a:pPr indent="0" marL="0">
              <a:buNone/>
            </a:pPr>
            <a:r>
              <a:rPr lang="en-US" sz="850" b="1" spc="160" kern="0" dirty="0">
                <a:solidFill>
                  <a:srgbClr val="9FE3C0"/>
                </a:solidFill>
                <a:latin typeface="Calibri" pitchFamily="34" charset="0"/>
                <a:ea typeface="Calibri" pitchFamily="34" charset="-122"/>
                <a:cs typeface="Calibri" pitchFamily="34" charset="-120"/>
              </a:rPr>
              <a:t>WITH ENTITY MATCHING</a:t>
            </a:r>
            <a:endParaRPr lang="en-US" sz="850" dirty="0"/>
          </a:p>
        </p:txBody>
      </p:sp>
      <p:sp>
        <p:nvSpPr>
          <p:cNvPr id="22" name="Text 20"/>
          <p:cNvSpPr txBox="1"/>
          <p:nvPr/>
        </p:nvSpPr>
        <p:spPr>
          <a:xfrm>
            <a:off x="6364224" y="3931920"/>
            <a:ext cx="5138928" cy="530352"/>
          </a:xfrm>
          <a:prstGeom prst="rect">
            <a:avLst/>
          </a:prstGeom>
          <a:noFill/>
          <a:ln/>
        </p:spPr>
        <p:txBody>
          <a:bodyPr wrap="square" lIns="0" tIns="0" rIns="0" bIns="0" rtlCol="0" anchor="t"/>
          <a:lstStyle/>
          <a:p>
            <a:pPr indent="0" marL="0">
              <a:lnSpc>
                <a:spcPts val="1400"/>
              </a:lnSpc>
              <a:buNone/>
            </a:pPr>
            <a:r>
              <a:rPr lang="en-US" sz="1050" dirty="0">
                <a:solidFill>
                  <a:srgbClr val="9FE3C0"/>
                </a:solidFill>
                <a:latin typeface="Courier New" pitchFamily="34" charset="0"/>
                <a:ea typeface="Courier New" pitchFamily="34" charset="-122"/>
                <a:cs typeface="Courier New" pitchFamily="34" charset="-120"/>
              </a:rPr>
              <a:t>WHERE state = 'FL'</a:t>
            </a:r>
            <a:endParaRPr lang="en-US" sz="1050" dirty="0"/>
          </a:p>
          <a:p>
            <a:pPr indent="0" marL="0">
              <a:lnSpc>
                <a:spcPts val="1400"/>
              </a:lnSpc>
              <a:buNone/>
            </a:pPr>
            <a:endParaRPr lang="en-US" sz="1050" dirty="0"/>
          </a:p>
          <a:p>
            <a:pPr indent="0" marL="0">
              <a:lnSpc>
                <a:spcPts val="1400"/>
              </a:lnSpc>
              <a:buNone/>
            </a:pPr>
            <a:r>
              <a:rPr lang="en-US" sz="1050" dirty="0">
                <a:solidFill>
                  <a:srgbClr val="8FA5BC"/>
                </a:solidFill>
                <a:latin typeface="Courier New" pitchFamily="34" charset="0"/>
                <a:ea typeface="Courier New" pitchFamily="34" charset="-122"/>
                <a:cs typeface="Courier New" pitchFamily="34" charset="-120"/>
              </a:rPr>
              <a:t>-&gt; correct rows, and an editable drop-down.</a:t>
            </a:r>
            <a:endParaRPr lang="en-US" sz="1050" dirty="0"/>
          </a:p>
        </p:txBody>
      </p:sp>
      <p:sp>
        <p:nvSpPr>
          <p:cNvPr id="23" name="Text 21"/>
          <p:cNvSpPr txBox="1"/>
          <p:nvPr/>
        </p:nvSpPr>
        <p:spPr>
          <a:xfrm>
            <a:off x="502920" y="4718304"/>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GOVERNANCE CONSTRAINTS AND LIMITS</a:t>
            </a:r>
            <a:endParaRPr lang="en-US" sz="850" dirty="0"/>
          </a:p>
        </p:txBody>
      </p:sp>
      <p:sp>
        <p:nvSpPr>
          <p:cNvPr id="24" name="Shape 22"/>
          <p:cNvSpPr/>
          <p:nvPr/>
        </p:nvSpPr>
        <p:spPr>
          <a:xfrm>
            <a:off x="502920" y="4919472"/>
            <a:ext cx="2104949" cy="1371600"/>
          </a:xfrm>
          <a:prstGeom prst="roundRect">
            <a:avLst>
              <a:gd name="adj" fmla="val 4000"/>
            </a:avLst>
          </a:prstGeom>
          <a:solidFill>
            <a:srgbClr val="FBEDEA"/>
          </a:solidFill>
          <a:ln w="9525">
            <a:solidFill>
              <a:srgbClr val="E8B5AA"/>
            </a:solidFill>
            <a:prstDash val="solid"/>
          </a:ln>
        </p:spPr>
      </p:sp>
      <p:sp>
        <p:nvSpPr>
          <p:cNvPr id="25" name="Text 23"/>
          <p:cNvSpPr txBox="1"/>
          <p:nvPr/>
        </p:nvSpPr>
        <p:spPr>
          <a:xfrm>
            <a:off x="649224" y="5038344"/>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Row filter</a:t>
            </a:r>
            <a:endParaRPr lang="en-US" sz="1100" dirty="0"/>
          </a:p>
        </p:txBody>
      </p:sp>
      <p:sp>
        <p:nvSpPr>
          <p:cNvPr id="26" name="Text 24"/>
          <p:cNvSpPr txBox="1"/>
          <p:nvPr/>
        </p:nvSpPr>
        <p:spPr>
          <a:xfrm>
            <a:off x="649224"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A row filter excludes the entire table from prompt matching.  [OFF-2]</a:t>
            </a:r>
            <a:endParaRPr lang="en-US" sz="900" dirty="0"/>
          </a:p>
        </p:txBody>
      </p:sp>
      <p:sp>
        <p:nvSpPr>
          <p:cNvPr id="27" name="Shape 25"/>
          <p:cNvSpPr/>
          <p:nvPr/>
        </p:nvSpPr>
        <p:spPr>
          <a:xfrm>
            <a:off x="2772461" y="4919472"/>
            <a:ext cx="2104949" cy="1371600"/>
          </a:xfrm>
          <a:prstGeom prst="roundRect">
            <a:avLst>
              <a:gd name="adj" fmla="val 4000"/>
            </a:avLst>
          </a:prstGeom>
          <a:solidFill>
            <a:srgbClr val="FBEDEA"/>
          </a:solidFill>
          <a:ln w="9525">
            <a:solidFill>
              <a:srgbClr val="E8B5AA"/>
            </a:solidFill>
            <a:prstDash val="solid"/>
          </a:ln>
        </p:spPr>
      </p:sp>
      <p:sp>
        <p:nvSpPr>
          <p:cNvPr id="28" name="Text 26"/>
          <p:cNvSpPr txBox="1"/>
          <p:nvPr/>
        </p:nvSpPr>
        <p:spPr>
          <a:xfrm>
            <a:off x="2918765" y="5038344"/>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Column mask</a:t>
            </a:r>
            <a:endParaRPr lang="en-US" sz="1100" dirty="0"/>
          </a:p>
        </p:txBody>
      </p:sp>
      <p:sp>
        <p:nvSpPr>
          <p:cNvPr id="29" name="Text 27"/>
          <p:cNvSpPr txBox="1"/>
          <p:nvPr/>
        </p:nvSpPr>
        <p:spPr>
          <a:xfrm>
            <a:off x="2918765"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A column mask excludes only the masked columns.  [OFF-2]</a:t>
            </a:r>
            <a:endParaRPr lang="en-US" sz="900" dirty="0"/>
          </a:p>
        </p:txBody>
      </p:sp>
      <p:sp>
        <p:nvSpPr>
          <p:cNvPr id="30" name="Shape 28"/>
          <p:cNvSpPr/>
          <p:nvPr/>
        </p:nvSpPr>
        <p:spPr>
          <a:xfrm>
            <a:off x="5042002" y="4919472"/>
            <a:ext cx="2104949" cy="1371600"/>
          </a:xfrm>
          <a:prstGeom prst="roundRect">
            <a:avLst>
              <a:gd name="adj" fmla="val 4000"/>
            </a:avLst>
          </a:prstGeom>
          <a:solidFill>
            <a:srgbClr val="FBEDEA"/>
          </a:solidFill>
          <a:ln w="9525">
            <a:solidFill>
              <a:srgbClr val="E8B5AA"/>
            </a:solidFill>
            <a:prstDash val="solid"/>
          </a:ln>
        </p:spPr>
      </p:sp>
      <p:sp>
        <p:nvSpPr>
          <p:cNvPr id="31" name="Text 29"/>
          <p:cNvSpPr txBox="1"/>
          <p:nvPr/>
        </p:nvSpPr>
        <p:spPr>
          <a:xfrm>
            <a:off x="5188306" y="5038344"/>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The manual gap</a:t>
            </a:r>
            <a:endParaRPr lang="en-US" sz="1100" dirty="0"/>
          </a:p>
        </p:txBody>
      </p:sp>
      <p:sp>
        <p:nvSpPr>
          <p:cNvPr id="32" name="Text 30"/>
          <p:cNvSpPr txBox="1"/>
          <p:nvPr/>
        </p:nvSpPr>
        <p:spPr>
          <a:xfrm>
            <a:off x="5188306"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Genie blocks it where row filters or column masks exist — but authors must manually disable it for views referencing those tables, and for dynamic views.  [OFF-2]</a:t>
            </a:r>
            <a:endParaRPr lang="en-US" sz="900" dirty="0"/>
          </a:p>
        </p:txBody>
      </p:sp>
      <p:sp>
        <p:nvSpPr>
          <p:cNvPr id="33" name="Shape 31"/>
          <p:cNvSpPr/>
          <p:nvPr/>
        </p:nvSpPr>
        <p:spPr>
          <a:xfrm>
            <a:off x="7311542" y="4919472"/>
            <a:ext cx="2104949" cy="1371600"/>
          </a:xfrm>
          <a:prstGeom prst="roundRect">
            <a:avLst>
              <a:gd name="adj" fmla="val 4000"/>
            </a:avLst>
          </a:prstGeom>
          <a:solidFill>
            <a:srgbClr val="F2F5F9"/>
          </a:solidFill>
          <a:ln w="9525">
            <a:solidFill>
              <a:srgbClr val="D2DDE9"/>
            </a:solidFill>
            <a:prstDash val="solid"/>
          </a:ln>
        </p:spPr>
      </p:sp>
      <p:sp>
        <p:nvSpPr>
          <p:cNvPr id="34" name="Text 32"/>
          <p:cNvSpPr txBox="1"/>
          <p:nvPr/>
        </p:nvSpPr>
        <p:spPr>
          <a:xfrm>
            <a:off x="7457846" y="5038344"/>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Ceilings</a:t>
            </a:r>
            <a:endParaRPr lang="en-US" sz="1100" dirty="0"/>
          </a:p>
        </p:txBody>
      </p:sp>
      <p:sp>
        <p:nvSpPr>
          <p:cNvPr id="35" name="Text 33"/>
          <p:cNvSpPr txBox="1"/>
          <p:nvPr/>
        </p:nvSpPr>
        <p:spPr>
          <a:xfrm>
            <a:off x="7457846"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120 entity-matching columns per agent; 1,024 distinct values per column, each up to 127 characters.  [OFF-2]</a:t>
            </a:r>
            <a:endParaRPr lang="en-US" sz="900" dirty="0"/>
          </a:p>
        </p:txBody>
      </p:sp>
      <p:sp>
        <p:nvSpPr>
          <p:cNvPr id="36" name="Shape 34"/>
          <p:cNvSpPr/>
          <p:nvPr/>
        </p:nvSpPr>
        <p:spPr>
          <a:xfrm>
            <a:off x="9581083" y="4919472"/>
            <a:ext cx="2104949" cy="1371600"/>
          </a:xfrm>
          <a:prstGeom prst="roundRect">
            <a:avLst>
              <a:gd name="adj" fmla="val 4000"/>
            </a:avLst>
          </a:prstGeom>
          <a:solidFill>
            <a:srgbClr val="F2F5F9"/>
          </a:solidFill>
          <a:ln w="9525">
            <a:solidFill>
              <a:srgbClr val="D2DDE9"/>
            </a:solidFill>
            <a:prstDash val="solid"/>
          </a:ln>
        </p:spPr>
      </p:sp>
      <p:sp>
        <p:nvSpPr>
          <p:cNvPr id="37" name="Text 35"/>
          <p:cNvSpPr txBox="1"/>
          <p:nvPr/>
        </p:nvSpPr>
        <p:spPr>
          <a:xfrm>
            <a:off x="9727387" y="5038344"/>
            <a:ext cx="1812341"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Refresh</a:t>
            </a:r>
            <a:endParaRPr lang="en-US" sz="1100" dirty="0"/>
          </a:p>
        </p:txBody>
      </p:sp>
      <p:sp>
        <p:nvSpPr>
          <p:cNvPr id="38" name="Text 36"/>
          <p:cNvSpPr txBox="1"/>
          <p:nvPr/>
        </p:nvSpPr>
        <p:spPr>
          <a:xfrm>
            <a:off x="9727387"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Refresh prompt matching data when new values have been added or the format of existing values has changed.  [OFF-2]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08</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Writing the surfaces well</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The craft layer: what good looks like in expressions, examples, joins and — reluctantly — text instructions.</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SQL expressions: filter, measure, field</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Example SQL and trusted assets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Join relationships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Qualify every column</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Text instructions: structure and limits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Clarification, summaries, timezones</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8.1 SQL EXPRESSIONS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Name, code, synonyms, instructions — worked examples [OFF-2]</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26</a:t>
            </a:r>
            <a:endParaRPr lang="en-US" sz="800" dirty="0"/>
          </a:p>
        </p:txBody>
      </p:sp>
      <p:sp>
        <p:nvSpPr>
          <p:cNvPr id="6" name="Text 4"/>
          <p:cNvSpPr txBox="1"/>
          <p:nvPr/>
        </p:nvSpPr>
        <p:spPr>
          <a:xfrm>
            <a:off x="502920" y="1188720"/>
            <a:ext cx="11183112" cy="384048"/>
          </a:xfrm>
          <a:prstGeom prst="rect">
            <a:avLst/>
          </a:prstGeom>
          <a:noFill/>
          <a:ln/>
        </p:spPr>
        <p:txBody>
          <a:bodyPr wrap="square" lIns="0" tIns="0" rIns="0" bIns="0" rtlCol="0" anchor="t"/>
          <a:lstStyle/>
          <a:p>
            <a:pPr indent="0" marL="0">
              <a:lnSpc>
                <a:spcPts val="1450"/>
              </a:lnSpc>
              <a:buNone/>
            </a:pPr>
            <a:r>
              <a:rPr lang="en-US" sz="1100" dirty="0">
                <a:solidFill>
                  <a:srgbClr val="2B3A4C"/>
                </a:solidFill>
                <a:latin typeface="Calibri" pitchFamily="34" charset="0"/>
                <a:ea typeface="Calibri" pitchFamily="34" charset="-122"/>
                <a:cs typeface="Calibri" pitchFamily="34" charset="-120"/>
              </a:rPr>
              <a:t>Use expressions to provide structured definitions for KPIs and metrics, give Genie explicit context about how to calculate important values, define additional fields such as month or customer segment, and teach filters for business conditions.</a:t>
            </a:r>
            <a:endParaRPr lang="en-US" sz="1100" dirty="0"/>
          </a:p>
        </p:txBody>
      </p:sp>
      <p:sp>
        <p:nvSpPr>
          <p:cNvPr id="7" name="Shape 5"/>
          <p:cNvSpPr/>
          <p:nvPr/>
        </p:nvSpPr>
        <p:spPr>
          <a:xfrm>
            <a:off x="502920" y="1664208"/>
            <a:ext cx="3581400" cy="3657600"/>
          </a:xfrm>
          <a:prstGeom prst="roundRect">
            <a:avLst>
              <a:gd name="adj" fmla="val 1532"/>
            </a:avLst>
          </a:prstGeom>
          <a:solidFill>
            <a:srgbClr val="F2F5F9"/>
          </a:solidFill>
          <a:ln w="9525">
            <a:solidFill>
              <a:srgbClr val="D2DDE9"/>
            </a:solidFill>
            <a:prstDash val="solid"/>
          </a:ln>
        </p:spPr>
      </p:sp>
      <p:sp>
        <p:nvSpPr>
          <p:cNvPr id="8" name="Shape 6"/>
          <p:cNvSpPr/>
          <p:nvPr/>
        </p:nvSpPr>
        <p:spPr>
          <a:xfrm>
            <a:off x="667512" y="1810512"/>
            <a:ext cx="274320" cy="274320"/>
          </a:xfrm>
          <a:prstGeom prst="roundRect">
            <a:avLst>
              <a:gd name="adj" fmla="val 16667"/>
            </a:avLst>
          </a:prstGeom>
          <a:solidFill>
            <a:srgbClr val="13456E"/>
          </a:solidFill>
          <a:ln/>
        </p:spPr>
      </p:sp>
      <p:sp>
        <p:nvSpPr>
          <p:cNvPr id="9" name="Text 7"/>
          <p:cNvSpPr txBox="1"/>
          <p:nvPr/>
        </p:nvSpPr>
        <p:spPr>
          <a:xfrm>
            <a:off x="667512" y="181051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8"/>
          <p:cNvSpPr txBox="1"/>
          <p:nvPr/>
        </p:nvSpPr>
        <p:spPr>
          <a:xfrm>
            <a:off x="1014984" y="1810512"/>
            <a:ext cx="2904744" cy="274320"/>
          </a:xfrm>
          <a:prstGeom prst="rect">
            <a:avLst/>
          </a:prstGeom>
          <a:noFill/>
          <a:ln/>
        </p:spPr>
        <p:txBody>
          <a:bodyPr wrap="square" lIns="0" tIns="0" rIns="0" bIns="0" rtlCol="0" anchor="ctr"/>
          <a:lstStyle/>
          <a:p>
            <a:pPr indent="0" marL="0">
              <a:buNone/>
            </a:pPr>
            <a:r>
              <a:rPr lang="en-US" sz="1400" b="1" dirty="0">
                <a:solidFill>
                  <a:srgbClr val="0E1B2A"/>
                </a:solidFill>
                <a:latin typeface="Calibri" pitchFamily="34" charset="0"/>
                <a:ea typeface="Calibri" pitchFamily="34" charset="-122"/>
                <a:cs typeface="Calibri" pitchFamily="34" charset="-120"/>
              </a:rPr>
              <a:t>Filter</a:t>
            </a:r>
            <a:endParaRPr lang="en-US" sz="1400" dirty="0"/>
          </a:p>
        </p:txBody>
      </p:sp>
      <p:sp>
        <p:nvSpPr>
          <p:cNvPr id="11" name="Text 9"/>
          <p:cNvSpPr txBox="1"/>
          <p:nvPr/>
        </p:nvSpPr>
        <p:spPr>
          <a:xfrm>
            <a:off x="667512" y="2157984"/>
            <a:ext cx="3252216" cy="219456"/>
          </a:xfrm>
          <a:prstGeom prst="rect">
            <a:avLst/>
          </a:prstGeom>
          <a:noFill/>
          <a:ln/>
        </p:spPr>
        <p:txBody>
          <a:bodyPr wrap="square" lIns="0" tIns="0" rIns="0" bIns="0" rtlCol="0" anchor="t"/>
          <a:lstStyle/>
          <a:p>
            <a:pPr indent="0" marL="0">
              <a:buNone/>
            </a:pPr>
            <a:r>
              <a:rPr lang="en-US" sz="950" i="1" dirty="0">
                <a:solidFill>
                  <a:srgbClr val="13456E"/>
                </a:solidFill>
                <a:latin typeface="Calibri" pitchFamily="34" charset="0"/>
                <a:ea typeface="Calibri" pitchFamily="34" charset="-122"/>
                <a:cs typeface="Calibri" pitchFamily="34" charset="-120"/>
              </a:rPr>
              <a:t>Evaluates to a boolean condition</a:t>
            </a:r>
            <a:endParaRPr lang="en-US" sz="950" dirty="0"/>
          </a:p>
        </p:txBody>
      </p:sp>
      <p:sp>
        <p:nvSpPr>
          <p:cNvPr id="12" name="Text 10"/>
          <p:cNvSpPr txBox="1"/>
          <p:nvPr/>
        </p:nvSpPr>
        <p:spPr>
          <a:xfrm>
            <a:off x="667512" y="243230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NAME</a:t>
            </a:r>
            <a:endParaRPr lang="en-US" sz="750" dirty="0"/>
          </a:p>
        </p:txBody>
      </p:sp>
      <p:sp>
        <p:nvSpPr>
          <p:cNvPr id="13" name="Text 11"/>
          <p:cNvSpPr txBox="1"/>
          <p:nvPr/>
        </p:nvSpPr>
        <p:spPr>
          <a:xfrm>
            <a:off x="667512" y="2606040"/>
            <a:ext cx="3252216" cy="237744"/>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High-value orders</a:t>
            </a:r>
            <a:endParaRPr lang="en-US" sz="1200" dirty="0"/>
          </a:p>
        </p:txBody>
      </p:sp>
      <p:sp>
        <p:nvSpPr>
          <p:cNvPr id="14" name="Text 12"/>
          <p:cNvSpPr txBox="1"/>
          <p:nvPr/>
        </p:nvSpPr>
        <p:spPr>
          <a:xfrm>
            <a:off x="667512" y="288950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CODE</a:t>
            </a:r>
            <a:endParaRPr lang="en-US" sz="750" dirty="0"/>
          </a:p>
        </p:txBody>
      </p:sp>
      <p:sp>
        <p:nvSpPr>
          <p:cNvPr id="15" name="Shape 13"/>
          <p:cNvSpPr/>
          <p:nvPr/>
        </p:nvSpPr>
        <p:spPr>
          <a:xfrm>
            <a:off x="667512" y="3072384"/>
            <a:ext cx="3252216" cy="841248"/>
          </a:xfrm>
          <a:prstGeom prst="roundRect">
            <a:avLst>
              <a:gd name="adj" fmla="val 5435"/>
            </a:avLst>
          </a:prstGeom>
          <a:solidFill>
            <a:srgbClr val="0E1B2A"/>
          </a:solidFill>
          <a:ln/>
        </p:spPr>
      </p:sp>
      <p:sp>
        <p:nvSpPr>
          <p:cNvPr id="16" name="Text 14"/>
          <p:cNvSpPr txBox="1"/>
          <p:nvPr/>
        </p:nvSpPr>
        <p:spPr>
          <a:xfrm>
            <a:off x="850392" y="3218688"/>
            <a:ext cx="2886456" cy="548640"/>
          </a:xfrm>
          <a:prstGeom prst="rect">
            <a:avLst/>
          </a:prstGeom>
          <a:noFill/>
          <a:ln/>
        </p:spPr>
        <p:txBody>
          <a:bodyPr wrap="square" lIns="0" tIns="0" rIns="0" bIns="0" rtlCol="0" anchor="t"/>
          <a:lstStyle/>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orders.amount &gt; 10000</a:t>
            </a:r>
            <a:endParaRPr lang="en-US" sz="850" dirty="0"/>
          </a:p>
        </p:txBody>
      </p:sp>
      <p:sp>
        <p:nvSpPr>
          <p:cNvPr id="17" name="Text 15"/>
          <p:cNvSpPr txBox="1"/>
          <p:nvPr/>
        </p:nvSpPr>
        <p:spPr>
          <a:xfrm>
            <a:off x="667512" y="398678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SYNONYMS</a:t>
            </a:r>
            <a:endParaRPr lang="en-US" sz="750" dirty="0"/>
          </a:p>
        </p:txBody>
      </p:sp>
      <p:sp>
        <p:nvSpPr>
          <p:cNvPr id="18" name="Text 16"/>
          <p:cNvSpPr txBox="1"/>
          <p:nvPr/>
        </p:nvSpPr>
        <p:spPr>
          <a:xfrm>
            <a:off x="667512" y="4160520"/>
            <a:ext cx="3252216" cy="329184"/>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large orders, big deals, significant orders</a:t>
            </a:r>
            <a:endParaRPr lang="en-US" sz="1000" dirty="0"/>
          </a:p>
        </p:txBody>
      </p:sp>
      <p:sp>
        <p:nvSpPr>
          <p:cNvPr id="19" name="Text 17"/>
          <p:cNvSpPr txBox="1"/>
          <p:nvPr/>
        </p:nvSpPr>
        <p:spPr>
          <a:xfrm>
            <a:off x="667512" y="453542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INSTRUCTIONS</a:t>
            </a:r>
            <a:endParaRPr lang="en-US" sz="750" dirty="0"/>
          </a:p>
        </p:txBody>
      </p:sp>
      <p:sp>
        <p:nvSpPr>
          <p:cNvPr id="20" name="Text 18"/>
          <p:cNvSpPr txBox="1"/>
          <p:nvPr/>
        </p:nvSpPr>
        <p:spPr>
          <a:xfrm>
            <a:off x="667512" y="4709160"/>
            <a:ext cx="3252216" cy="56692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Instruction notes the $10,000 threshold so Genie does not renegotiate it per question.</a:t>
            </a:r>
            <a:endParaRPr lang="en-US" sz="1000" dirty="0"/>
          </a:p>
        </p:txBody>
      </p:sp>
      <p:sp>
        <p:nvSpPr>
          <p:cNvPr id="21" name="Shape 19"/>
          <p:cNvSpPr/>
          <p:nvPr/>
        </p:nvSpPr>
        <p:spPr>
          <a:xfrm>
            <a:off x="4303776" y="1664208"/>
            <a:ext cx="3581400" cy="3657600"/>
          </a:xfrm>
          <a:prstGeom prst="roundRect">
            <a:avLst>
              <a:gd name="adj" fmla="val 1532"/>
            </a:avLst>
          </a:prstGeom>
          <a:solidFill>
            <a:srgbClr val="F2F5F9"/>
          </a:solidFill>
          <a:ln w="9525">
            <a:solidFill>
              <a:srgbClr val="D2DDE9"/>
            </a:solidFill>
            <a:prstDash val="solid"/>
          </a:ln>
        </p:spPr>
      </p:sp>
      <p:sp>
        <p:nvSpPr>
          <p:cNvPr id="22" name="Shape 20"/>
          <p:cNvSpPr/>
          <p:nvPr/>
        </p:nvSpPr>
        <p:spPr>
          <a:xfrm>
            <a:off x="4468368" y="1810512"/>
            <a:ext cx="274320" cy="274320"/>
          </a:xfrm>
          <a:prstGeom prst="roundRect">
            <a:avLst>
              <a:gd name="adj" fmla="val 16667"/>
            </a:avLst>
          </a:prstGeom>
          <a:solidFill>
            <a:srgbClr val="2D6EA5"/>
          </a:solidFill>
          <a:ln/>
        </p:spPr>
      </p:sp>
      <p:sp>
        <p:nvSpPr>
          <p:cNvPr id="23" name="Text 21"/>
          <p:cNvSpPr txBox="1"/>
          <p:nvPr/>
        </p:nvSpPr>
        <p:spPr>
          <a:xfrm>
            <a:off x="4468368" y="181051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4" name="Text 22"/>
          <p:cNvSpPr txBox="1"/>
          <p:nvPr/>
        </p:nvSpPr>
        <p:spPr>
          <a:xfrm>
            <a:off x="4815840" y="1810512"/>
            <a:ext cx="2904744" cy="274320"/>
          </a:xfrm>
          <a:prstGeom prst="rect">
            <a:avLst/>
          </a:prstGeom>
          <a:noFill/>
          <a:ln/>
        </p:spPr>
        <p:txBody>
          <a:bodyPr wrap="square" lIns="0" tIns="0" rIns="0" bIns="0" rtlCol="0" anchor="ctr"/>
          <a:lstStyle/>
          <a:p>
            <a:pPr indent="0" marL="0">
              <a:buNone/>
            </a:pPr>
            <a:r>
              <a:rPr lang="en-US" sz="1400" b="1" dirty="0">
                <a:solidFill>
                  <a:srgbClr val="0E1B2A"/>
                </a:solidFill>
                <a:latin typeface="Calibri" pitchFamily="34" charset="0"/>
                <a:ea typeface="Calibri" pitchFamily="34" charset="-122"/>
                <a:cs typeface="Calibri" pitchFamily="34" charset="-120"/>
              </a:rPr>
              <a:t>Measure</a:t>
            </a:r>
            <a:endParaRPr lang="en-US" sz="1400" dirty="0"/>
          </a:p>
        </p:txBody>
      </p:sp>
      <p:sp>
        <p:nvSpPr>
          <p:cNvPr id="25" name="Text 23"/>
          <p:cNvSpPr txBox="1"/>
          <p:nvPr/>
        </p:nvSpPr>
        <p:spPr>
          <a:xfrm>
            <a:off x="4468368" y="2157984"/>
            <a:ext cx="3252216" cy="219456"/>
          </a:xfrm>
          <a:prstGeom prst="rect">
            <a:avLst/>
          </a:prstGeom>
          <a:noFill/>
          <a:ln/>
        </p:spPr>
        <p:txBody>
          <a:bodyPr wrap="square" lIns="0" tIns="0" rIns="0" bIns="0" rtlCol="0" anchor="t"/>
          <a:lstStyle/>
          <a:p>
            <a:pPr indent="0" marL="0">
              <a:buNone/>
            </a:pPr>
            <a:r>
              <a:rPr lang="en-US" sz="950" i="1" dirty="0">
                <a:solidFill>
                  <a:srgbClr val="2D6EA5"/>
                </a:solidFill>
                <a:latin typeface="Calibri" pitchFamily="34" charset="0"/>
                <a:ea typeface="Calibri" pitchFamily="34" charset="-122"/>
                <a:cs typeface="Calibri" pitchFamily="34" charset="-120"/>
              </a:rPr>
              <a:t>Aggregation over multiple rows</a:t>
            </a:r>
            <a:endParaRPr lang="en-US" sz="950" dirty="0"/>
          </a:p>
        </p:txBody>
      </p:sp>
      <p:sp>
        <p:nvSpPr>
          <p:cNvPr id="26" name="Text 24"/>
          <p:cNvSpPr txBox="1"/>
          <p:nvPr/>
        </p:nvSpPr>
        <p:spPr>
          <a:xfrm>
            <a:off x="4468368" y="243230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NAME</a:t>
            </a:r>
            <a:endParaRPr lang="en-US" sz="750" dirty="0"/>
          </a:p>
        </p:txBody>
      </p:sp>
      <p:sp>
        <p:nvSpPr>
          <p:cNvPr id="27" name="Text 25"/>
          <p:cNvSpPr txBox="1"/>
          <p:nvPr/>
        </p:nvSpPr>
        <p:spPr>
          <a:xfrm>
            <a:off x="4468368" y="2606040"/>
            <a:ext cx="3252216" cy="237744"/>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Win rate</a:t>
            </a:r>
            <a:endParaRPr lang="en-US" sz="1200" dirty="0"/>
          </a:p>
        </p:txBody>
      </p:sp>
      <p:sp>
        <p:nvSpPr>
          <p:cNvPr id="28" name="Text 26"/>
          <p:cNvSpPr txBox="1"/>
          <p:nvPr/>
        </p:nvSpPr>
        <p:spPr>
          <a:xfrm>
            <a:off x="4468368" y="288950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CODE</a:t>
            </a:r>
            <a:endParaRPr lang="en-US" sz="750" dirty="0"/>
          </a:p>
        </p:txBody>
      </p:sp>
      <p:sp>
        <p:nvSpPr>
          <p:cNvPr id="29" name="Shape 27"/>
          <p:cNvSpPr/>
          <p:nvPr/>
        </p:nvSpPr>
        <p:spPr>
          <a:xfrm>
            <a:off x="4468368" y="3072384"/>
            <a:ext cx="3252216" cy="841248"/>
          </a:xfrm>
          <a:prstGeom prst="roundRect">
            <a:avLst>
              <a:gd name="adj" fmla="val 5435"/>
            </a:avLst>
          </a:prstGeom>
          <a:solidFill>
            <a:srgbClr val="0E1B2A"/>
          </a:solidFill>
          <a:ln/>
        </p:spPr>
      </p:sp>
      <p:sp>
        <p:nvSpPr>
          <p:cNvPr id="30" name="Text 28"/>
          <p:cNvSpPr txBox="1"/>
          <p:nvPr/>
        </p:nvSpPr>
        <p:spPr>
          <a:xfrm>
            <a:off x="4651248" y="3218688"/>
            <a:ext cx="2886456" cy="548640"/>
          </a:xfrm>
          <a:prstGeom prst="rect">
            <a:avLst/>
          </a:prstGeom>
          <a:noFill/>
          <a:ln/>
        </p:spPr>
        <p:txBody>
          <a:bodyPr wrap="square" lIns="0" tIns="0" rIns="0" bIns="0" rtlCol="0" anchor="t"/>
          <a:lstStyle/>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COUNT(CASE WHEN stage = 'Closed Won'</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      THEN 1 END)</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  / NULLIF(COUNT(*), 0)</a:t>
            </a:r>
            <a:endParaRPr lang="en-US" sz="850" dirty="0"/>
          </a:p>
        </p:txBody>
      </p:sp>
      <p:sp>
        <p:nvSpPr>
          <p:cNvPr id="31" name="Text 29"/>
          <p:cNvSpPr txBox="1"/>
          <p:nvPr/>
        </p:nvSpPr>
        <p:spPr>
          <a:xfrm>
            <a:off x="4468368" y="398678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SYNONYMS</a:t>
            </a:r>
            <a:endParaRPr lang="en-US" sz="750" dirty="0"/>
          </a:p>
        </p:txBody>
      </p:sp>
      <p:sp>
        <p:nvSpPr>
          <p:cNvPr id="32" name="Text 30"/>
          <p:cNvSpPr txBox="1"/>
          <p:nvPr/>
        </p:nvSpPr>
        <p:spPr>
          <a:xfrm>
            <a:off x="4468368" y="4160520"/>
            <a:ext cx="3252216" cy="329184"/>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close rate, conversion rate</a:t>
            </a:r>
            <a:endParaRPr lang="en-US" sz="1000" dirty="0"/>
          </a:p>
        </p:txBody>
      </p:sp>
      <p:sp>
        <p:nvSpPr>
          <p:cNvPr id="33" name="Text 31"/>
          <p:cNvSpPr txBox="1"/>
          <p:nvPr/>
        </p:nvSpPr>
        <p:spPr>
          <a:xfrm>
            <a:off x="4468368" y="453542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INSTRUCTIONS</a:t>
            </a:r>
            <a:endParaRPr lang="en-US" sz="750" dirty="0"/>
          </a:p>
        </p:txBody>
      </p:sp>
      <p:sp>
        <p:nvSpPr>
          <p:cNvPr id="34" name="Text 32"/>
          <p:cNvSpPr txBox="1"/>
          <p:nvPr/>
        </p:nvSpPr>
        <p:spPr>
          <a:xfrm>
            <a:off x="4468368" y="4709160"/>
            <a:ext cx="3252216" cy="56692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Instruction notes the result is a decimal between 0 and 1 — not a percentage.</a:t>
            </a:r>
            <a:endParaRPr lang="en-US" sz="1000" dirty="0"/>
          </a:p>
        </p:txBody>
      </p:sp>
      <p:sp>
        <p:nvSpPr>
          <p:cNvPr id="35" name="Shape 33"/>
          <p:cNvSpPr/>
          <p:nvPr/>
        </p:nvSpPr>
        <p:spPr>
          <a:xfrm>
            <a:off x="8104632" y="1664208"/>
            <a:ext cx="3581400" cy="3657600"/>
          </a:xfrm>
          <a:prstGeom prst="roundRect">
            <a:avLst>
              <a:gd name="adj" fmla="val 1532"/>
            </a:avLst>
          </a:prstGeom>
          <a:solidFill>
            <a:srgbClr val="F2F5F9"/>
          </a:solidFill>
          <a:ln w="9525">
            <a:solidFill>
              <a:srgbClr val="D2DDE9"/>
            </a:solidFill>
            <a:prstDash val="solid"/>
          </a:ln>
        </p:spPr>
      </p:sp>
      <p:sp>
        <p:nvSpPr>
          <p:cNvPr id="36" name="Shape 34"/>
          <p:cNvSpPr/>
          <p:nvPr/>
        </p:nvSpPr>
        <p:spPr>
          <a:xfrm>
            <a:off x="8269224" y="1810512"/>
            <a:ext cx="274320" cy="274320"/>
          </a:xfrm>
          <a:prstGeom prst="roundRect">
            <a:avLst>
              <a:gd name="adj" fmla="val 16667"/>
            </a:avLst>
          </a:prstGeom>
          <a:solidFill>
            <a:srgbClr val="E8552D"/>
          </a:solidFill>
          <a:ln/>
        </p:spPr>
      </p:sp>
      <p:sp>
        <p:nvSpPr>
          <p:cNvPr id="37" name="Text 35"/>
          <p:cNvSpPr txBox="1"/>
          <p:nvPr/>
        </p:nvSpPr>
        <p:spPr>
          <a:xfrm>
            <a:off x="8269224" y="181051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8" name="Text 36"/>
          <p:cNvSpPr txBox="1"/>
          <p:nvPr/>
        </p:nvSpPr>
        <p:spPr>
          <a:xfrm>
            <a:off x="8616696" y="1810512"/>
            <a:ext cx="2904744" cy="274320"/>
          </a:xfrm>
          <a:prstGeom prst="rect">
            <a:avLst/>
          </a:prstGeom>
          <a:noFill/>
          <a:ln/>
        </p:spPr>
        <p:txBody>
          <a:bodyPr wrap="square" lIns="0" tIns="0" rIns="0" bIns="0" rtlCol="0" anchor="ctr"/>
          <a:lstStyle/>
          <a:p>
            <a:pPr indent="0" marL="0">
              <a:buNone/>
            </a:pPr>
            <a:r>
              <a:rPr lang="en-US" sz="1400" b="1" dirty="0">
                <a:solidFill>
                  <a:srgbClr val="0E1B2A"/>
                </a:solidFill>
                <a:latin typeface="Calibri" pitchFamily="34" charset="0"/>
                <a:ea typeface="Calibri" pitchFamily="34" charset="-122"/>
                <a:cs typeface="Calibri" pitchFamily="34" charset="-120"/>
              </a:rPr>
              <a:t>Field</a:t>
            </a:r>
            <a:endParaRPr lang="en-US" sz="1400" dirty="0"/>
          </a:p>
        </p:txBody>
      </p:sp>
      <p:sp>
        <p:nvSpPr>
          <p:cNvPr id="39" name="Text 37"/>
          <p:cNvSpPr txBox="1"/>
          <p:nvPr/>
        </p:nvSpPr>
        <p:spPr>
          <a:xfrm>
            <a:off x="8269224" y="2157984"/>
            <a:ext cx="3252216" cy="219456"/>
          </a:xfrm>
          <a:prstGeom prst="rect">
            <a:avLst/>
          </a:prstGeom>
          <a:noFill/>
          <a:ln/>
        </p:spPr>
        <p:txBody>
          <a:bodyPr wrap="square" lIns="0" tIns="0" rIns="0" bIns="0" rtlCol="0" anchor="t"/>
          <a:lstStyle/>
          <a:p>
            <a:pPr indent="0" marL="0">
              <a:buNone/>
            </a:pPr>
            <a:r>
              <a:rPr lang="en-US" sz="950" i="1" dirty="0">
                <a:solidFill>
                  <a:srgbClr val="E8552D"/>
                </a:solidFill>
                <a:latin typeface="Calibri" pitchFamily="34" charset="0"/>
                <a:ea typeface="Calibri" pitchFamily="34" charset="-122"/>
                <a:cs typeface="Calibri" pitchFamily="34" charset="-120"/>
              </a:rPr>
              <a:t>Alters the value of each row</a:t>
            </a:r>
            <a:endParaRPr lang="en-US" sz="950" dirty="0"/>
          </a:p>
        </p:txBody>
      </p:sp>
      <p:sp>
        <p:nvSpPr>
          <p:cNvPr id="40" name="Text 38"/>
          <p:cNvSpPr txBox="1"/>
          <p:nvPr/>
        </p:nvSpPr>
        <p:spPr>
          <a:xfrm>
            <a:off x="8269224" y="243230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NAME</a:t>
            </a:r>
            <a:endParaRPr lang="en-US" sz="750" dirty="0"/>
          </a:p>
        </p:txBody>
      </p:sp>
      <p:sp>
        <p:nvSpPr>
          <p:cNvPr id="41" name="Text 39"/>
          <p:cNvSpPr txBox="1"/>
          <p:nvPr/>
        </p:nvSpPr>
        <p:spPr>
          <a:xfrm>
            <a:off x="8269224" y="2606040"/>
            <a:ext cx="3252216" cy="237744"/>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Deal size</a:t>
            </a:r>
            <a:endParaRPr lang="en-US" sz="1200" dirty="0"/>
          </a:p>
        </p:txBody>
      </p:sp>
      <p:sp>
        <p:nvSpPr>
          <p:cNvPr id="42" name="Text 40"/>
          <p:cNvSpPr txBox="1"/>
          <p:nvPr/>
        </p:nvSpPr>
        <p:spPr>
          <a:xfrm>
            <a:off x="8269224" y="288950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CODE</a:t>
            </a:r>
            <a:endParaRPr lang="en-US" sz="750" dirty="0"/>
          </a:p>
        </p:txBody>
      </p:sp>
      <p:sp>
        <p:nvSpPr>
          <p:cNvPr id="43" name="Shape 41"/>
          <p:cNvSpPr/>
          <p:nvPr/>
        </p:nvSpPr>
        <p:spPr>
          <a:xfrm>
            <a:off x="8269224" y="3072384"/>
            <a:ext cx="3252216" cy="841248"/>
          </a:xfrm>
          <a:prstGeom prst="roundRect">
            <a:avLst>
              <a:gd name="adj" fmla="val 5435"/>
            </a:avLst>
          </a:prstGeom>
          <a:solidFill>
            <a:srgbClr val="0E1B2A"/>
          </a:solidFill>
          <a:ln/>
        </p:spPr>
      </p:sp>
      <p:sp>
        <p:nvSpPr>
          <p:cNvPr id="44" name="Text 42"/>
          <p:cNvSpPr txBox="1"/>
          <p:nvPr/>
        </p:nvSpPr>
        <p:spPr>
          <a:xfrm>
            <a:off x="8452104" y="3218688"/>
            <a:ext cx="2886456" cy="548640"/>
          </a:xfrm>
          <a:prstGeom prst="rect">
            <a:avLst/>
          </a:prstGeom>
          <a:noFill/>
          <a:ln/>
        </p:spPr>
        <p:txBody>
          <a:bodyPr wrap="square" lIns="0" tIns="0" rIns="0" bIns="0" rtlCol="0" anchor="t"/>
          <a:lstStyle/>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CASE WHEN amount &lt; 10000 THEN 'Small'</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     WHEN amount &lt; 50000 THEN 'Medium'</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     ELSE 'Large' END</a:t>
            </a:r>
            <a:endParaRPr lang="en-US" sz="850" dirty="0"/>
          </a:p>
        </p:txBody>
      </p:sp>
      <p:sp>
        <p:nvSpPr>
          <p:cNvPr id="45" name="Text 43"/>
          <p:cNvSpPr txBox="1"/>
          <p:nvPr/>
        </p:nvSpPr>
        <p:spPr>
          <a:xfrm>
            <a:off x="8269224" y="398678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SYNONYMS</a:t>
            </a:r>
            <a:endParaRPr lang="en-US" sz="750" dirty="0"/>
          </a:p>
        </p:txBody>
      </p:sp>
      <p:sp>
        <p:nvSpPr>
          <p:cNvPr id="46" name="Text 44"/>
          <p:cNvSpPr txBox="1"/>
          <p:nvPr/>
        </p:nvSpPr>
        <p:spPr>
          <a:xfrm>
            <a:off x="8269224" y="4160520"/>
            <a:ext cx="3252216" cy="329184"/>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deal tier, contract size, opportunity size</a:t>
            </a:r>
            <a:endParaRPr lang="en-US" sz="1000" dirty="0"/>
          </a:p>
        </p:txBody>
      </p:sp>
      <p:sp>
        <p:nvSpPr>
          <p:cNvPr id="47" name="Text 45"/>
          <p:cNvSpPr txBox="1"/>
          <p:nvPr/>
        </p:nvSpPr>
        <p:spPr>
          <a:xfrm>
            <a:off x="8269224" y="4535424"/>
            <a:ext cx="3252216" cy="164592"/>
          </a:xfrm>
          <a:prstGeom prst="rect">
            <a:avLst/>
          </a:prstGeom>
          <a:noFill/>
          <a:ln/>
        </p:spPr>
        <p:txBody>
          <a:bodyPr wrap="square" lIns="0" tIns="0" rIns="0" bIns="0" rtlCol="0" anchor="t"/>
          <a:lstStyle/>
          <a:p>
            <a:pPr indent="0" marL="0">
              <a:buNone/>
            </a:pPr>
            <a:r>
              <a:rPr lang="en-US" sz="750" b="1" spc="120" kern="0" dirty="0">
                <a:solidFill>
                  <a:srgbClr val="56677C"/>
                </a:solidFill>
                <a:latin typeface="Calibri" pitchFamily="34" charset="0"/>
                <a:ea typeface="Calibri" pitchFamily="34" charset="-122"/>
                <a:cs typeface="Calibri" pitchFamily="34" charset="-120"/>
              </a:rPr>
              <a:t>INSTRUCTIONS</a:t>
            </a:r>
            <a:endParaRPr lang="en-US" sz="750" dirty="0"/>
          </a:p>
        </p:txBody>
      </p:sp>
      <p:sp>
        <p:nvSpPr>
          <p:cNvPr id="48" name="Text 46"/>
          <p:cNvSpPr txBox="1"/>
          <p:nvPr/>
        </p:nvSpPr>
        <p:spPr>
          <a:xfrm>
            <a:off x="8269224" y="4709160"/>
            <a:ext cx="3252216" cy="56692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A field turns a continuous measure into a dimension users can group by.</a:t>
            </a:r>
            <a:endParaRPr lang="en-US" sz="1000" dirty="0"/>
          </a:p>
        </p:txBody>
      </p:sp>
      <p:sp>
        <p:nvSpPr>
          <p:cNvPr id="49" name="Shape 47"/>
          <p:cNvSpPr/>
          <p:nvPr/>
        </p:nvSpPr>
        <p:spPr>
          <a:xfrm>
            <a:off x="502920" y="5486400"/>
            <a:ext cx="11183112" cy="804672"/>
          </a:xfrm>
          <a:prstGeom prst="roundRect">
            <a:avLst>
              <a:gd name="adj" fmla="val 6818"/>
            </a:avLst>
          </a:prstGeom>
          <a:solidFill>
            <a:srgbClr val="0E1B2A"/>
          </a:solidFill>
          <a:ln w="9525">
            <a:solidFill>
              <a:srgbClr val="0E1B2A"/>
            </a:solidFill>
            <a:prstDash val="solid"/>
          </a:ln>
        </p:spPr>
      </p:sp>
      <p:sp>
        <p:nvSpPr>
          <p:cNvPr id="50" name="Shape 48"/>
          <p:cNvSpPr/>
          <p:nvPr/>
        </p:nvSpPr>
        <p:spPr>
          <a:xfrm>
            <a:off x="685800" y="5751576"/>
            <a:ext cx="274320" cy="274320"/>
          </a:xfrm>
          <a:prstGeom prst="roundRect">
            <a:avLst>
              <a:gd name="adj" fmla="val 16667"/>
            </a:avLst>
          </a:prstGeom>
          <a:solidFill>
            <a:srgbClr val="1B7A5A"/>
          </a:solidFill>
          <a:ln/>
        </p:spPr>
      </p:sp>
      <p:sp>
        <p:nvSpPr>
          <p:cNvPr id="51" name="Text 49"/>
          <p:cNvSpPr txBox="1"/>
          <p:nvPr/>
        </p:nvSpPr>
        <p:spPr>
          <a:xfrm>
            <a:off x="685800" y="575157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52" name="Text 50"/>
          <p:cNvSpPr txBox="1"/>
          <p:nvPr/>
        </p:nvSpPr>
        <p:spPr>
          <a:xfrm>
            <a:off x="1106424" y="5577840"/>
            <a:ext cx="10396728" cy="621792"/>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Defining business logic as SQL expressions produces more consistent results than text instructions, because Genie applies the logic exactly as written rather than interpreting it from natural language.  [OFF-2]</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8.2 EXAMPLE SQL AND TRUSTED ASSETS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The surface that does most of the work in a mature agent [OFF-2]</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27</a:t>
            </a:r>
            <a:endParaRPr lang="en-US" sz="800" dirty="0"/>
          </a:p>
        </p:txBody>
      </p:sp>
      <p:sp>
        <p:nvSpPr>
          <p:cNvPr id="6" name="Shape 4"/>
          <p:cNvSpPr/>
          <p:nvPr/>
        </p:nvSpPr>
        <p:spPr>
          <a:xfrm>
            <a:off x="502920" y="1207008"/>
            <a:ext cx="3605784" cy="1335024"/>
          </a:xfrm>
          <a:prstGeom prst="roundRect">
            <a:avLst>
              <a:gd name="adj" fmla="val 4110"/>
            </a:avLst>
          </a:prstGeom>
          <a:solidFill>
            <a:srgbClr val="F2F5F9"/>
          </a:solidFill>
          <a:ln w="9525">
            <a:solidFill>
              <a:srgbClr val="D2DDE9"/>
            </a:solidFill>
            <a:prstDash val="solid"/>
          </a:ln>
        </p:spPr>
      </p:sp>
      <p:sp>
        <p:nvSpPr>
          <p:cNvPr id="7" name="Text 5"/>
          <p:cNvSpPr txBox="1"/>
          <p:nvPr/>
        </p:nvSpPr>
        <p:spPr>
          <a:xfrm>
            <a:off x="649224" y="1325880"/>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Title it the way a user asks it</a:t>
            </a:r>
            <a:endParaRPr lang="en-US" sz="1200" dirty="0"/>
          </a:p>
        </p:txBody>
      </p:sp>
      <p:sp>
        <p:nvSpPr>
          <p:cNvPr id="8" name="Text 6"/>
          <p:cNvSpPr txBox="1"/>
          <p:nvPr/>
        </p:nvSpPr>
        <p:spPr>
          <a:xfrm>
            <a:off x="649224" y="1664208"/>
            <a:ext cx="3313176" cy="758952"/>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Use the most typical phrasing of the user's question as the title, written the way a user would naturally ask. This is what improves matching — not the SQL.</a:t>
            </a:r>
            <a:endParaRPr lang="en-US" sz="1050" dirty="0"/>
          </a:p>
        </p:txBody>
      </p:sp>
      <p:sp>
        <p:nvSpPr>
          <p:cNvPr id="9" name="Shape 7"/>
          <p:cNvSpPr/>
          <p:nvPr/>
        </p:nvSpPr>
        <p:spPr>
          <a:xfrm>
            <a:off x="4291584" y="1207008"/>
            <a:ext cx="3605784" cy="1335024"/>
          </a:xfrm>
          <a:prstGeom prst="roundRect">
            <a:avLst>
              <a:gd name="adj" fmla="val 4110"/>
            </a:avLst>
          </a:prstGeom>
          <a:solidFill>
            <a:srgbClr val="F2F5F9"/>
          </a:solidFill>
          <a:ln w="9525">
            <a:solidFill>
              <a:srgbClr val="D2DDE9"/>
            </a:solidFill>
            <a:prstDash val="solid"/>
          </a:ln>
        </p:spPr>
      </p:sp>
      <p:sp>
        <p:nvSpPr>
          <p:cNvPr id="10" name="Text 8"/>
          <p:cNvSpPr txBox="1"/>
          <p:nvPr/>
        </p:nvSpPr>
        <p:spPr>
          <a:xfrm>
            <a:off x="4437888" y="1325880"/>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Genie reuses and generalises</a:t>
            </a:r>
            <a:endParaRPr lang="en-US" sz="1200" dirty="0"/>
          </a:p>
        </p:txBody>
      </p:sp>
      <p:sp>
        <p:nvSpPr>
          <p:cNvPr id="11" name="Text 9"/>
          <p:cNvSpPr txBox="1"/>
          <p:nvPr/>
        </p:nvSpPr>
        <p:spPr>
          <a:xfrm>
            <a:off x="4437888" y="1664208"/>
            <a:ext cx="3313176" cy="758952"/>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Genie can use the example directly for a matching question, or take clues from it for a similar one. Focus on samples that highlight logic unique to your organisation and data.</a:t>
            </a:r>
            <a:endParaRPr lang="en-US" sz="1050" dirty="0"/>
          </a:p>
        </p:txBody>
      </p:sp>
      <p:sp>
        <p:nvSpPr>
          <p:cNvPr id="12" name="Shape 10"/>
          <p:cNvSpPr/>
          <p:nvPr/>
        </p:nvSpPr>
        <p:spPr>
          <a:xfrm>
            <a:off x="8080248" y="1207008"/>
            <a:ext cx="3605784" cy="1335024"/>
          </a:xfrm>
          <a:prstGeom prst="roundRect">
            <a:avLst>
              <a:gd name="adj" fmla="val 4110"/>
            </a:avLst>
          </a:prstGeom>
          <a:solidFill>
            <a:srgbClr val="F2F5F9"/>
          </a:solidFill>
          <a:ln w="9525">
            <a:solidFill>
              <a:srgbClr val="D2DDE9"/>
            </a:solidFill>
            <a:prstDash val="solid"/>
          </a:ln>
        </p:spPr>
      </p:sp>
      <p:sp>
        <p:nvSpPr>
          <p:cNvPr id="13" name="Text 11"/>
          <p:cNvSpPr txBox="1"/>
          <p:nvPr/>
        </p:nvSpPr>
        <p:spPr>
          <a:xfrm>
            <a:off x="8226552" y="1325880"/>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Add usage guidance</a:t>
            </a:r>
            <a:endParaRPr lang="en-US" sz="1200" dirty="0"/>
          </a:p>
        </p:txBody>
      </p:sp>
      <p:sp>
        <p:nvSpPr>
          <p:cNvPr id="14" name="Text 12"/>
          <p:cNvSpPr txBox="1"/>
          <p:nvPr/>
        </p:nvSpPr>
        <p:spPr>
          <a:xfrm>
            <a:off x="8226552" y="1664208"/>
            <a:ext cx="3313176" cy="758952"/>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Explain when an example is particularly relevant, so Genie can distinguish between two examples that look superficially similar.</a:t>
            </a:r>
            <a:endParaRPr lang="en-US" sz="1050" dirty="0"/>
          </a:p>
        </p:txBody>
      </p:sp>
      <p:sp>
        <p:nvSpPr>
          <p:cNvPr id="15" name="Shape 13"/>
          <p:cNvSpPr/>
          <p:nvPr/>
        </p:nvSpPr>
        <p:spPr>
          <a:xfrm>
            <a:off x="502920" y="2724912"/>
            <a:ext cx="3605784" cy="1335024"/>
          </a:xfrm>
          <a:prstGeom prst="roundRect">
            <a:avLst>
              <a:gd name="adj" fmla="val 4110"/>
            </a:avLst>
          </a:prstGeom>
          <a:solidFill>
            <a:srgbClr val="F2F5F9"/>
          </a:solidFill>
          <a:ln w="9525">
            <a:solidFill>
              <a:srgbClr val="D2DDE9"/>
            </a:solidFill>
            <a:prstDash val="solid"/>
          </a:ln>
        </p:spPr>
      </p:sp>
      <p:sp>
        <p:nvSpPr>
          <p:cNvPr id="16" name="Text 14"/>
          <p:cNvSpPr txBox="1"/>
          <p:nvPr/>
        </p:nvSpPr>
        <p:spPr>
          <a:xfrm>
            <a:off x="649224" y="2843784"/>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Type your parameters</a:t>
            </a:r>
            <a:endParaRPr lang="en-US" sz="1200" dirty="0"/>
          </a:p>
        </p:txBody>
      </p:sp>
      <p:sp>
        <p:nvSpPr>
          <p:cNvPr id="17" name="Text 15"/>
          <p:cNvSpPr txBox="1"/>
          <p:nvPr/>
        </p:nvSpPr>
        <p:spPr>
          <a:xfrm>
            <a:off x="649224" y="3182112"/>
            <a:ext cx="3313176" cy="758952"/>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String, Date, Date and Time, Decimal, Integer — default is String. Comment each one with its possible values or limits. A value not matching its declared type is treated as the wrong type.</a:t>
            </a:r>
            <a:endParaRPr lang="en-US" sz="1050" dirty="0"/>
          </a:p>
        </p:txBody>
      </p:sp>
      <p:sp>
        <p:nvSpPr>
          <p:cNvPr id="18" name="Shape 16"/>
          <p:cNvSpPr/>
          <p:nvPr/>
        </p:nvSpPr>
        <p:spPr>
          <a:xfrm>
            <a:off x="4291584" y="2724912"/>
            <a:ext cx="3605784" cy="1335024"/>
          </a:xfrm>
          <a:prstGeom prst="roundRect">
            <a:avLst>
              <a:gd name="adj" fmla="val 4110"/>
            </a:avLst>
          </a:prstGeom>
          <a:solidFill>
            <a:srgbClr val="F2F5F9"/>
          </a:solidFill>
          <a:ln w="9525">
            <a:solidFill>
              <a:srgbClr val="D2DDE9"/>
            </a:solidFill>
            <a:prstDash val="solid"/>
          </a:ln>
        </p:spPr>
      </p:sp>
      <p:sp>
        <p:nvSpPr>
          <p:cNvPr id="19" name="Text 17"/>
          <p:cNvSpPr txBox="1"/>
          <p:nvPr/>
        </p:nvSpPr>
        <p:spPr>
          <a:xfrm>
            <a:off x="4437888" y="2843784"/>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At least five, tested</a:t>
            </a:r>
            <a:endParaRPr lang="en-US" sz="1200" dirty="0"/>
          </a:p>
        </p:txBody>
      </p:sp>
      <p:sp>
        <p:nvSpPr>
          <p:cNvPr id="20" name="Text 18"/>
          <p:cNvSpPr txBox="1"/>
          <p:nvPr/>
        </p:nvSpPr>
        <p:spPr>
          <a:xfrm>
            <a:off x="4437888" y="3182112"/>
            <a:ext cx="3313176" cy="758952"/>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Aim for at least five tested example SQL queries before you consider the agent ready for users.  [OFF-6]</a:t>
            </a:r>
            <a:endParaRPr lang="en-US" sz="1050" dirty="0"/>
          </a:p>
        </p:txBody>
      </p:sp>
      <p:sp>
        <p:nvSpPr>
          <p:cNvPr id="21" name="Shape 19"/>
          <p:cNvSpPr/>
          <p:nvPr/>
        </p:nvSpPr>
        <p:spPr>
          <a:xfrm>
            <a:off x="8080248" y="2724912"/>
            <a:ext cx="3605784" cy="1335024"/>
          </a:xfrm>
          <a:prstGeom prst="roundRect">
            <a:avLst>
              <a:gd name="adj" fmla="val 4110"/>
            </a:avLst>
          </a:prstGeom>
          <a:solidFill>
            <a:srgbClr val="F2F5F9"/>
          </a:solidFill>
          <a:ln w="9525">
            <a:solidFill>
              <a:srgbClr val="D2DDE9"/>
            </a:solidFill>
            <a:prstDash val="solid"/>
          </a:ln>
        </p:spPr>
      </p:sp>
      <p:sp>
        <p:nvSpPr>
          <p:cNvPr id="22" name="Text 20"/>
          <p:cNvSpPr txBox="1"/>
          <p:nvPr/>
        </p:nvSpPr>
        <p:spPr>
          <a:xfrm>
            <a:off x="8226552" y="2843784"/>
            <a:ext cx="3313176"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Promote good answers</a:t>
            </a:r>
            <a:endParaRPr lang="en-US" sz="1200" dirty="0"/>
          </a:p>
        </p:txBody>
      </p:sp>
      <p:sp>
        <p:nvSpPr>
          <p:cNvPr id="23" name="Text 21"/>
          <p:cNvSpPr txBox="1"/>
          <p:nvPr/>
        </p:nvSpPr>
        <p:spPr>
          <a:xfrm>
            <a:off x="8226552" y="3182112"/>
            <a:ext cx="3313176" cy="758952"/>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Any good response can be promoted straight to an example via Add as instruction, which opens the save dialog pre-populated with the question and generated SQL.  [OFF-4]</a:t>
            </a:r>
            <a:endParaRPr lang="en-US" sz="1050" dirty="0"/>
          </a:p>
        </p:txBody>
      </p:sp>
      <p:sp>
        <p:nvSpPr>
          <p:cNvPr id="24" name="Shape 22"/>
          <p:cNvSpPr/>
          <p:nvPr/>
        </p:nvSpPr>
        <p:spPr>
          <a:xfrm>
            <a:off x="502920" y="4224528"/>
            <a:ext cx="5504688" cy="2066544"/>
          </a:xfrm>
          <a:prstGeom prst="roundRect">
            <a:avLst>
              <a:gd name="adj" fmla="val 2655"/>
            </a:avLst>
          </a:prstGeom>
          <a:solidFill>
            <a:srgbClr val="0E1B2A"/>
          </a:solidFill>
          <a:ln w="9525">
            <a:solidFill>
              <a:srgbClr val="0E1B2A"/>
            </a:solidFill>
            <a:prstDash val="solid"/>
          </a:ln>
        </p:spPr>
      </p:sp>
      <p:sp>
        <p:nvSpPr>
          <p:cNvPr id="25" name="Text 23"/>
          <p:cNvSpPr txBox="1"/>
          <p:nvPr/>
        </p:nvSpPr>
        <p:spPr>
          <a:xfrm>
            <a:off x="704088" y="4370832"/>
            <a:ext cx="5120640" cy="2743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Trusted assets  [OFF-2] [OFF-5]</a:t>
            </a:r>
            <a:endParaRPr lang="en-US" sz="1600" dirty="0"/>
          </a:p>
        </p:txBody>
      </p:sp>
      <p:sp>
        <p:nvSpPr>
          <p:cNvPr id="26" name="Text 24"/>
          <p:cNvSpPr txBox="1"/>
          <p:nvPr/>
        </p:nvSpPr>
        <p:spPr>
          <a:xfrm>
            <a:off x="704088" y="4700016"/>
            <a:ext cx="5102352" cy="1463040"/>
          </a:xfrm>
          <a:prstGeom prst="rect">
            <a:avLst/>
          </a:prstGeom>
          <a:noFill/>
          <a:ln/>
        </p:spPr>
        <p:txBody>
          <a:bodyPr wrap="square" lIns="0" tIns="0" rIns="0" bIns="0" rtlCol="0" anchor="t"/>
          <a:lstStyle/>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Example SQL queries and SQL functions that provide verified answers.</a:t>
            </a:r>
            <a:endParaRPr lang="en-US" sz="1000" dirty="0"/>
          </a:p>
          <a:p>
            <a:pPr indent="0" marL="0">
              <a:lnSpc>
                <a:spcPts val="1350"/>
              </a:lnSpc>
              <a:buNone/>
            </a:pPr>
            <a:endParaRPr lang="en-US" sz="1000" dirty="0"/>
          </a:p>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In chat mode, when the exact text of a parameterized query is used, Genie returns a verified answer and users can edit the parameter and rerun. Users need EXECUTE on any SQL function used as a trusted asset.</a:t>
            </a:r>
            <a:endParaRPr lang="en-US" sz="1000" dirty="0"/>
          </a:p>
          <a:p>
            <a:pPr indent="0" marL="0">
              <a:lnSpc>
                <a:spcPts val="1350"/>
              </a:lnSpc>
              <a:buNone/>
            </a:pPr>
            <a:endParaRPr lang="en-US" sz="1000" dirty="0"/>
          </a:p>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Use trusted assets for mission-critical questions where responses must be reliable — this is the documented remedy for “unreliable answers to mission-critical questions”.</a:t>
            </a:r>
            <a:endParaRPr lang="en-US" sz="1000" dirty="0"/>
          </a:p>
        </p:txBody>
      </p:sp>
      <p:sp>
        <p:nvSpPr>
          <p:cNvPr id="27" name="Shape 25"/>
          <p:cNvSpPr/>
          <p:nvPr/>
        </p:nvSpPr>
        <p:spPr>
          <a:xfrm>
            <a:off x="6181344" y="4224528"/>
            <a:ext cx="5504688" cy="2066544"/>
          </a:xfrm>
          <a:prstGeom prst="roundRect">
            <a:avLst>
              <a:gd name="adj" fmla="val 2655"/>
            </a:avLst>
          </a:prstGeom>
          <a:solidFill>
            <a:srgbClr val="E4ECF4"/>
          </a:solidFill>
          <a:ln w="9525">
            <a:solidFill>
              <a:srgbClr val="D2DDE9"/>
            </a:solidFill>
            <a:prstDash val="solid"/>
          </a:ln>
        </p:spPr>
      </p:sp>
      <p:sp>
        <p:nvSpPr>
          <p:cNvPr id="28" name="Text 26"/>
          <p:cNvSpPr txBox="1"/>
          <p:nvPr/>
        </p:nvSpPr>
        <p:spPr>
          <a:xfrm>
            <a:off x="6382512" y="4370832"/>
            <a:ext cx="5120640" cy="274320"/>
          </a:xfrm>
          <a:prstGeom prst="rect">
            <a:avLst/>
          </a:prstGeom>
          <a:noFill/>
          <a:ln/>
        </p:spPr>
        <p:txBody>
          <a:bodyPr wrap="square" lIns="0" tIns="0" rIns="0" bIns="0" rtlCol="0" anchor="t"/>
          <a:lstStyle/>
          <a:p>
            <a:pPr indent="0" marL="0">
              <a:buNone/>
            </a:pPr>
            <a:r>
              <a:rPr lang="en-US" sz="1600" b="1" dirty="0">
                <a:solidFill>
                  <a:srgbClr val="0E1B2A"/>
                </a:solidFill>
                <a:latin typeface="Cambria" pitchFamily="34" charset="0"/>
                <a:ea typeface="Cambria" pitchFamily="34" charset="-122"/>
                <a:cs typeface="Cambria" pitchFamily="34" charset="-120"/>
              </a:rPr>
              <a:t>SQL functions  [OFF-2]</a:t>
            </a:r>
            <a:endParaRPr lang="en-US" sz="1600" dirty="0"/>
          </a:p>
        </p:txBody>
      </p:sp>
      <p:sp>
        <p:nvSpPr>
          <p:cNvPr id="29" name="Text 27"/>
          <p:cNvSpPr txBox="1"/>
          <p:nvPr/>
        </p:nvSpPr>
        <p:spPr>
          <a:xfrm>
            <a:off x="6382512" y="4700016"/>
            <a:ext cx="5102352" cy="146304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For logic that cannot be captured with a static or parameterized query.</a:t>
            </a:r>
            <a:endParaRPr lang="en-US" sz="1000" dirty="0"/>
          </a:p>
          <a:p>
            <a:pPr indent="0" marL="0">
              <a:lnSpc>
                <a:spcPts val="1350"/>
              </a:lnSpc>
              <a:buNone/>
            </a:pPr>
            <a:endParaRPr lang="en-US" sz="1000" dirty="0"/>
          </a:p>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Stored in Unity Catalog; scalar or table-valued. Genie cannot view or modify the SQL inside the function — which makes this the right home for logic that should not be surfaced or changed, such as proprietary scoring or eligibility rules.</a:t>
            </a:r>
            <a:endParaRPr lang="en-US" sz="1000" dirty="0"/>
          </a:p>
          <a:p>
            <a:pPr indent="0" marL="0">
              <a:lnSpc>
                <a:spcPts val="1350"/>
              </a:lnSpc>
              <a:buNone/>
            </a:pPr>
            <a:endParaRPr lang="en-US" sz="1000" dirty="0"/>
          </a:p>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Unity Catalog SQL functions can also serve as gold-standard answers in benchmarks.  [OFF-4]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8.3 JOINS AND COLUMN QUALIFICATION</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Two failure modes with precise, documented fixes</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28</a:t>
            </a:r>
            <a:endParaRPr lang="en-US" sz="800" dirty="0"/>
          </a:p>
        </p:txBody>
      </p:sp>
      <p:sp>
        <p:nvSpPr>
          <p:cNvPr id="6" name="Text 4"/>
          <p:cNvSpPr txBox="1"/>
          <p:nvPr/>
        </p:nvSpPr>
        <p:spPr>
          <a:xfrm>
            <a:off x="502920" y="1170432"/>
            <a:ext cx="5504688"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JOIN RELATIONSHIPS  [OFF-2]</a:t>
            </a:r>
            <a:endParaRPr lang="en-US" sz="850" dirty="0"/>
          </a:p>
        </p:txBody>
      </p:sp>
      <p:sp>
        <p:nvSpPr>
          <p:cNvPr id="7" name="Shape 5"/>
          <p:cNvSpPr/>
          <p:nvPr/>
        </p:nvSpPr>
        <p:spPr>
          <a:xfrm>
            <a:off x="502920" y="1408176"/>
            <a:ext cx="5504688" cy="2103120"/>
          </a:xfrm>
          <a:prstGeom prst="roundRect">
            <a:avLst>
              <a:gd name="adj" fmla="val 2609"/>
            </a:avLst>
          </a:prstGeom>
          <a:solidFill>
            <a:srgbClr val="F2F5F9"/>
          </a:solidFill>
          <a:ln w="9525">
            <a:solidFill>
              <a:srgbClr val="D2DDE9"/>
            </a:solidFill>
            <a:prstDash val="solid"/>
          </a:ln>
        </p:spPr>
      </p:sp>
      <p:sp>
        <p:nvSpPr>
          <p:cNvPr id="8" name="Text 6"/>
          <p:cNvSpPr txBox="1"/>
          <p:nvPr/>
        </p:nvSpPr>
        <p:spPr>
          <a:xfrm>
            <a:off x="685800" y="1554480"/>
            <a:ext cx="5138928" cy="237744"/>
          </a:xfrm>
          <a:prstGeom prst="rect">
            <a:avLst/>
          </a:prstGeom>
          <a:noFill/>
          <a:ln/>
        </p:spPr>
        <p:txBody>
          <a:bodyPr wrap="square" lIns="0" tIns="0" rIns="0" bIns="0" rtlCol="0" anchor="t"/>
          <a:lstStyle/>
          <a:p>
            <a:pPr indent="0" marL="0">
              <a:buNone/>
            </a:pPr>
            <a:r>
              <a:rPr lang="en-US" sz="1050" b="1" dirty="0">
                <a:solidFill>
                  <a:srgbClr val="0E1B2A"/>
                </a:solidFill>
                <a:latin typeface="Calibri" pitchFamily="34" charset="0"/>
                <a:ea typeface="Calibri" pitchFamily="34" charset="-122"/>
                <a:cs typeface="Calibri" pitchFamily="34" charset="-120"/>
              </a:rPr>
              <a:t>Define the left and right tables, a join condition, and a relationship type.</a:t>
            </a:r>
            <a:endParaRPr lang="en-US" sz="1050" dirty="0"/>
          </a:p>
        </p:txBody>
      </p:sp>
      <p:sp>
        <p:nvSpPr>
          <p:cNvPr id="9" name="Shape 7"/>
          <p:cNvSpPr/>
          <p:nvPr/>
        </p:nvSpPr>
        <p:spPr>
          <a:xfrm>
            <a:off x="685800" y="1828800"/>
            <a:ext cx="5138928" cy="621792"/>
          </a:xfrm>
          <a:prstGeom prst="roundRect">
            <a:avLst>
              <a:gd name="adj" fmla="val 7353"/>
            </a:avLst>
          </a:prstGeom>
          <a:solidFill>
            <a:srgbClr val="0E1B2A"/>
          </a:solidFill>
          <a:ln/>
        </p:spPr>
      </p:sp>
      <p:sp>
        <p:nvSpPr>
          <p:cNvPr id="10" name="Text 8"/>
          <p:cNvSpPr txBox="1"/>
          <p:nvPr/>
        </p:nvSpPr>
        <p:spPr>
          <a:xfrm>
            <a:off x="868680" y="1975104"/>
            <a:ext cx="4773168" cy="329184"/>
          </a:xfrm>
          <a:prstGeom prst="rect">
            <a:avLst/>
          </a:prstGeom>
          <a:noFill/>
          <a:ln/>
        </p:spPr>
        <p:txBody>
          <a:bodyPr wrap="square" lIns="0" tIns="0" rIns="0" bIns="0" rtlCol="0" anchor="t"/>
          <a:lstStyle/>
          <a:p>
            <a:pPr indent="0" marL="0">
              <a:lnSpc>
                <a:spcPts val="1300"/>
              </a:lnSpc>
              <a:buNone/>
            </a:pPr>
            <a:r>
              <a:rPr lang="en-US" sz="1000" dirty="0">
                <a:solidFill>
                  <a:srgbClr val="DCE6F2"/>
                </a:solidFill>
                <a:latin typeface="Courier New" pitchFamily="34" charset="0"/>
                <a:ea typeface="Courier New" pitchFamily="34" charset="-122"/>
                <a:cs typeface="Courier New" pitchFamily="34" charset="-120"/>
              </a:rPr>
              <a:t>accounts.id = opportunity.accountid</a:t>
            </a:r>
            <a:endParaRPr lang="en-US" sz="1000" dirty="0"/>
          </a:p>
        </p:txBody>
      </p:sp>
      <p:sp>
        <p:nvSpPr>
          <p:cNvPr id="11" name="Text 9"/>
          <p:cNvSpPr txBox="1"/>
          <p:nvPr/>
        </p:nvSpPr>
        <p:spPr>
          <a:xfrm>
            <a:off x="685800" y="2542032"/>
            <a:ext cx="5138928" cy="859536"/>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Complex conditions can use a SQL expression instead. Relationship types: many to one, one to many, one to one. When multiple joins exist between the same tables, or self-joins are used, Genie automatically generates aliases for the right-hand table to avoid ambiguity.</a:t>
            </a:r>
            <a:endParaRPr lang="en-US" sz="1000" dirty="0"/>
          </a:p>
        </p:txBody>
      </p:sp>
      <p:sp>
        <p:nvSpPr>
          <p:cNvPr id="12" name="Text 10"/>
          <p:cNvSpPr txBox="1"/>
          <p:nvPr/>
        </p:nvSpPr>
        <p:spPr>
          <a:xfrm>
            <a:off x="502920" y="3621024"/>
            <a:ext cx="5504688"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ESCALATION ORDER WHEN JOINS GO WRONG  [OFF-5]</a:t>
            </a:r>
            <a:endParaRPr lang="en-US" sz="850" dirty="0"/>
          </a:p>
        </p:txBody>
      </p:sp>
      <p:sp>
        <p:nvSpPr>
          <p:cNvPr id="13" name="Shape 11"/>
          <p:cNvSpPr/>
          <p:nvPr/>
        </p:nvSpPr>
        <p:spPr>
          <a:xfrm>
            <a:off x="502920" y="3858768"/>
            <a:ext cx="5504688" cy="512064"/>
          </a:xfrm>
          <a:prstGeom prst="roundRect">
            <a:avLst>
              <a:gd name="adj" fmla="val 10714"/>
            </a:avLst>
          </a:prstGeom>
          <a:solidFill>
            <a:srgbClr val="E4ECF4"/>
          </a:solidFill>
          <a:ln w="9525">
            <a:solidFill>
              <a:srgbClr val="D2DDE9"/>
            </a:solidFill>
            <a:prstDash val="solid"/>
          </a:ln>
        </p:spPr>
      </p:sp>
      <p:sp>
        <p:nvSpPr>
          <p:cNvPr id="14" name="Shape 12"/>
          <p:cNvSpPr/>
          <p:nvPr/>
        </p:nvSpPr>
        <p:spPr>
          <a:xfrm>
            <a:off x="621792" y="3977640"/>
            <a:ext cx="274320" cy="274320"/>
          </a:xfrm>
          <a:prstGeom prst="roundRect">
            <a:avLst>
              <a:gd name="adj" fmla="val 16667"/>
            </a:avLst>
          </a:prstGeom>
          <a:solidFill>
            <a:srgbClr val="13456E"/>
          </a:solidFill>
          <a:ln/>
        </p:spPr>
      </p:sp>
      <p:sp>
        <p:nvSpPr>
          <p:cNvPr id="15" name="Text 13"/>
          <p:cNvSpPr txBox="1"/>
          <p:nvPr/>
        </p:nvSpPr>
        <p:spPr>
          <a:xfrm>
            <a:off x="621792" y="397764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6" name="Text 14"/>
          <p:cNvSpPr txBox="1"/>
          <p:nvPr/>
        </p:nvSpPr>
        <p:spPr>
          <a:xfrm>
            <a:off x="987552" y="3858768"/>
            <a:ext cx="4901184" cy="512064"/>
          </a:xfrm>
          <a:prstGeom prst="rect">
            <a:avLst/>
          </a:prstGeom>
          <a:noFill/>
          <a:ln/>
        </p:spPr>
        <p:txBody>
          <a:bodyPr wrap="square" lIns="0" tIns="0" rIns="0" bIns="0" rtlCol="0" anchor="ctr"/>
          <a:lstStyle/>
          <a:p>
            <a:pPr indent="0" marL="0">
              <a:lnSpc>
                <a:spcPts val="1200"/>
              </a:lnSpc>
              <a:buNone/>
            </a:pPr>
            <a:r>
              <a:rPr lang="en-US" sz="950" dirty="0">
                <a:solidFill>
                  <a:srgbClr val="2B3A4C"/>
                </a:solidFill>
                <a:latin typeface="Calibri" pitchFamily="34" charset="0"/>
                <a:ea typeface="Calibri" pitchFamily="34" charset="-122"/>
                <a:cs typeface="Calibri" pitchFamily="34" charset="-120"/>
              </a:rPr>
              <a:t>Define foreign key constraints in Unity Catalog — the preferred source of truth.</a:t>
            </a:r>
            <a:endParaRPr lang="en-US" sz="950" dirty="0"/>
          </a:p>
        </p:txBody>
      </p:sp>
      <p:sp>
        <p:nvSpPr>
          <p:cNvPr id="17" name="Shape 15"/>
          <p:cNvSpPr/>
          <p:nvPr/>
        </p:nvSpPr>
        <p:spPr>
          <a:xfrm>
            <a:off x="502920" y="4443984"/>
            <a:ext cx="5504688" cy="512064"/>
          </a:xfrm>
          <a:prstGeom prst="roundRect">
            <a:avLst>
              <a:gd name="adj" fmla="val 10714"/>
            </a:avLst>
          </a:prstGeom>
          <a:solidFill>
            <a:srgbClr val="E4ECF4"/>
          </a:solidFill>
          <a:ln w="9525">
            <a:solidFill>
              <a:srgbClr val="D2DDE9"/>
            </a:solidFill>
            <a:prstDash val="solid"/>
          </a:ln>
        </p:spPr>
      </p:sp>
      <p:sp>
        <p:nvSpPr>
          <p:cNvPr id="18" name="Shape 16"/>
          <p:cNvSpPr/>
          <p:nvPr/>
        </p:nvSpPr>
        <p:spPr>
          <a:xfrm>
            <a:off x="621792" y="4562856"/>
            <a:ext cx="274320" cy="274320"/>
          </a:xfrm>
          <a:prstGeom prst="roundRect">
            <a:avLst>
              <a:gd name="adj" fmla="val 16667"/>
            </a:avLst>
          </a:prstGeom>
          <a:solidFill>
            <a:srgbClr val="13456E"/>
          </a:solidFill>
          <a:ln/>
        </p:spPr>
      </p:sp>
      <p:sp>
        <p:nvSpPr>
          <p:cNvPr id="19" name="Text 17"/>
          <p:cNvSpPr txBox="1"/>
          <p:nvPr/>
        </p:nvSpPr>
        <p:spPr>
          <a:xfrm>
            <a:off x="621792" y="456285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0" name="Text 18"/>
          <p:cNvSpPr txBox="1"/>
          <p:nvPr/>
        </p:nvSpPr>
        <p:spPr>
          <a:xfrm>
            <a:off x="987552" y="4443984"/>
            <a:ext cx="4901184" cy="512064"/>
          </a:xfrm>
          <a:prstGeom prst="rect">
            <a:avLst/>
          </a:prstGeom>
          <a:noFill/>
          <a:ln/>
        </p:spPr>
        <p:txBody>
          <a:bodyPr wrap="square" lIns="0" tIns="0" rIns="0" bIns="0" rtlCol="0" anchor="ctr"/>
          <a:lstStyle/>
          <a:p>
            <a:pPr indent="0" marL="0">
              <a:lnSpc>
                <a:spcPts val="1200"/>
              </a:lnSpc>
              <a:buNone/>
            </a:pPr>
            <a:r>
              <a:rPr lang="en-US" sz="950" dirty="0">
                <a:solidFill>
                  <a:srgbClr val="2B3A4C"/>
                </a:solidFill>
                <a:latin typeface="Calibri" pitchFamily="34" charset="0"/>
                <a:ea typeface="Calibri" pitchFamily="34" charset="-122"/>
                <a:cs typeface="Calibri" pitchFamily="34" charset="-120"/>
              </a:rPr>
              <a:t>Use knowledge-store join relationships when FKs are not specified, for self-joins, or when you cannot modify the tables.</a:t>
            </a:r>
            <a:endParaRPr lang="en-US" sz="950" dirty="0"/>
          </a:p>
        </p:txBody>
      </p:sp>
      <p:sp>
        <p:nvSpPr>
          <p:cNvPr id="21" name="Shape 19"/>
          <p:cNvSpPr/>
          <p:nvPr/>
        </p:nvSpPr>
        <p:spPr>
          <a:xfrm>
            <a:off x="502920" y="5029200"/>
            <a:ext cx="5504688" cy="512064"/>
          </a:xfrm>
          <a:prstGeom prst="roundRect">
            <a:avLst>
              <a:gd name="adj" fmla="val 10714"/>
            </a:avLst>
          </a:prstGeom>
          <a:solidFill>
            <a:srgbClr val="E4ECF4"/>
          </a:solidFill>
          <a:ln w="9525">
            <a:solidFill>
              <a:srgbClr val="D2DDE9"/>
            </a:solidFill>
            <a:prstDash val="solid"/>
          </a:ln>
        </p:spPr>
      </p:sp>
      <p:sp>
        <p:nvSpPr>
          <p:cNvPr id="22" name="Shape 20"/>
          <p:cNvSpPr/>
          <p:nvPr/>
        </p:nvSpPr>
        <p:spPr>
          <a:xfrm>
            <a:off x="621792" y="5148072"/>
            <a:ext cx="274320" cy="274320"/>
          </a:xfrm>
          <a:prstGeom prst="roundRect">
            <a:avLst>
              <a:gd name="adj" fmla="val 16667"/>
            </a:avLst>
          </a:prstGeom>
          <a:solidFill>
            <a:srgbClr val="13456E"/>
          </a:solidFill>
          <a:ln/>
        </p:spPr>
      </p:sp>
      <p:sp>
        <p:nvSpPr>
          <p:cNvPr id="23" name="Text 21"/>
          <p:cNvSpPr txBox="1"/>
          <p:nvPr/>
        </p:nvSpPr>
        <p:spPr>
          <a:xfrm>
            <a:off x="621792" y="51480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4" name="Text 22"/>
          <p:cNvSpPr txBox="1"/>
          <p:nvPr/>
        </p:nvSpPr>
        <p:spPr>
          <a:xfrm>
            <a:off x="987552" y="5029200"/>
            <a:ext cx="4901184" cy="512064"/>
          </a:xfrm>
          <a:prstGeom prst="rect">
            <a:avLst/>
          </a:prstGeom>
          <a:noFill/>
          <a:ln/>
        </p:spPr>
        <p:txBody>
          <a:bodyPr wrap="square" lIns="0" tIns="0" rIns="0" bIns="0" rtlCol="0" anchor="ctr"/>
          <a:lstStyle/>
          <a:p>
            <a:pPr indent="0" marL="0">
              <a:lnSpc>
                <a:spcPts val="1200"/>
              </a:lnSpc>
              <a:buNone/>
            </a:pPr>
            <a:r>
              <a:rPr lang="en-US" sz="950" dirty="0">
                <a:solidFill>
                  <a:srgbClr val="2B3A4C"/>
                </a:solidFill>
                <a:latin typeface="Calibri" pitchFamily="34" charset="0"/>
                <a:ea typeface="Calibri" pitchFamily="34" charset="-122"/>
                <a:cs typeface="Calibri" pitchFamily="34" charset="-120"/>
              </a:rPr>
              <a:t>Provide example queries showing the standard joins in use.</a:t>
            </a:r>
            <a:endParaRPr lang="en-US" sz="950" dirty="0"/>
          </a:p>
        </p:txBody>
      </p:sp>
      <p:sp>
        <p:nvSpPr>
          <p:cNvPr id="25" name="Shape 23"/>
          <p:cNvSpPr/>
          <p:nvPr/>
        </p:nvSpPr>
        <p:spPr>
          <a:xfrm>
            <a:off x="502920" y="5614416"/>
            <a:ext cx="5504688" cy="512064"/>
          </a:xfrm>
          <a:prstGeom prst="roundRect">
            <a:avLst>
              <a:gd name="adj" fmla="val 10714"/>
            </a:avLst>
          </a:prstGeom>
          <a:solidFill>
            <a:srgbClr val="E4ECF4"/>
          </a:solidFill>
          <a:ln w="9525">
            <a:solidFill>
              <a:srgbClr val="D2DDE9"/>
            </a:solidFill>
            <a:prstDash val="solid"/>
          </a:ln>
        </p:spPr>
      </p:sp>
      <p:sp>
        <p:nvSpPr>
          <p:cNvPr id="26" name="Shape 24"/>
          <p:cNvSpPr/>
          <p:nvPr/>
        </p:nvSpPr>
        <p:spPr>
          <a:xfrm>
            <a:off x="621792" y="5733288"/>
            <a:ext cx="274320" cy="274320"/>
          </a:xfrm>
          <a:prstGeom prst="roundRect">
            <a:avLst>
              <a:gd name="adj" fmla="val 16667"/>
            </a:avLst>
          </a:prstGeom>
          <a:solidFill>
            <a:srgbClr val="13456E"/>
          </a:solidFill>
          <a:ln/>
        </p:spPr>
      </p:sp>
      <p:sp>
        <p:nvSpPr>
          <p:cNvPr id="27" name="Text 25"/>
          <p:cNvSpPr txBox="1"/>
          <p:nvPr/>
        </p:nvSpPr>
        <p:spPr>
          <a:xfrm>
            <a:off x="621792" y="573328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8" name="Text 26"/>
          <p:cNvSpPr txBox="1"/>
          <p:nvPr/>
        </p:nvSpPr>
        <p:spPr>
          <a:xfrm>
            <a:off x="987552" y="5614416"/>
            <a:ext cx="4901184" cy="512064"/>
          </a:xfrm>
          <a:prstGeom prst="rect">
            <a:avLst/>
          </a:prstGeom>
          <a:noFill/>
          <a:ln/>
        </p:spPr>
        <p:txBody>
          <a:bodyPr wrap="square" lIns="0" tIns="0" rIns="0" bIns="0" rtlCol="0" anchor="ctr"/>
          <a:lstStyle/>
          <a:p>
            <a:pPr indent="0" marL="0">
              <a:lnSpc>
                <a:spcPts val="1200"/>
              </a:lnSpc>
              <a:buNone/>
            </a:pPr>
            <a:r>
              <a:rPr lang="en-US" sz="950" dirty="0">
                <a:solidFill>
                  <a:srgbClr val="2B3A4C"/>
                </a:solidFill>
                <a:latin typeface="Calibri" pitchFamily="34" charset="0"/>
                <a:ea typeface="Calibri" pitchFamily="34" charset="-122"/>
                <a:cs typeface="Calibri" pitchFamily="34" charset="-120"/>
              </a:rPr>
              <a:t>As a last resort, pre-join into a view and use that as the agent's input.</a:t>
            </a:r>
            <a:endParaRPr lang="en-US" sz="950" dirty="0"/>
          </a:p>
        </p:txBody>
      </p:sp>
      <p:sp>
        <p:nvSpPr>
          <p:cNvPr id="29" name="Text 27"/>
          <p:cNvSpPr txBox="1"/>
          <p:nvPr/>
        </p:nvSpPr>
        <p:spPr>
          <a:xfrm>
            <a:off x="6181344" y="1170432"/>
            <a:ext cx="5504688"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QUALIFY EVERY COLUMN IN SQL  [GH-1]</a:t>
            </a:r>
            <a:endParaRPr lang="en-US" sz="850" dirty="0"/>
          </a:p>
        </p:txBody>
      </p:sp>
      <p:sp>
        <p:nvSpPr>
          <p:cNvPr id="30" name="Text 28"/>
          <p:cNvSpPr txBox="1"/>
          <p:nvPr/>
        </p:nvSpPr>
        <p:spPr>
          <a:xfrm>
            <a:off x="6181344" y="1408176"/>
            <a:ext cx="5504688" cy="38404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Always prefix every column reference with its source name in SQL snippets and join specs — never emit a bare backtick-quoted column.</a:t>
            </a:r>
            <a:endParaRPr lang="en-US" sz="1050" dirty="0"/>
          </a:p>
        </p:txBody>
      </p:sp>
      <p:sp>
        <p:nvSpPr>
          <p:cNvPr id="31" name="Shape 29"/>
          <p:cNvSpPr/>
          <p:nvPr/>
        </p:nvSpPr>
        <p:spPr>
          <a:xfrm>
            <a:off x="6181344" y="1847088"/>
            <a:ext cx="5504688" cy="1481328"/>
          </a:xfrm>
          <a:prstGeom prst="roundRect">
            <a:avLst>
              <a:gd name="adj" fmla="val 3086"/>
            </a:avLst>
          </a:prstGeom>
          <a:solidFill>
            <a:srgbClr val="0E1B2A"/>
          </a:solidFill>
          <a:ln/>
        </p:spPr>
      </p:sp>
      <p:sp>
        <p:nvSpPr>
          <p:cNvPr id="32" name="Text 30"/>
          <p:cNvSpPr txBox="1"/>
          <p:nvPr/>
        </p:nvSpPr>
        <p:spPr>
          <a:xfrm>
            <a:off x="6364224" y="1965960"/>
            <a:ext cx="5138928" cy="201168"/>
          </a:xfrm>
          <a:prstGeom prst="rect">
            <a:avLst/>
          </a:prstGeom>
          <a:noFill/>
          <a:ln/>
        </p:spPr>
        <p:txBody>
          <a:bodyPr wrap="square" lIns="0" tIns="0" rIns="0" bIns="0" rtlCol="0" anchor="t"/>
          <a:lstStyle/>
          <a:p>
            <a:pPr indent="0" marL="0">
              <a:buNone/>
            </a:pPr>
            <a:r>
              <a:rPr lang="en-US" sz="850" b="1" spc="160" kern="0" dirty="0">
                <a:solidFill>
                  <a:srgbClr val="9FE3C0"/>
                </a:solidFill>
                <a:latin typeface="Calibri" pitchFamily="34" charset="0"/>
                <a:ea typeface="Calibri" pitchFamily="34" charset="-122"/>
                <a:cs typeface="Calibri" pitchFamily="34" charset="-120"/>
              </a:rPr>
              <a:t>✓  QUALIFIED</a:t>
            </a:r>
            <a:endParaRPr lang="en-US" sz="850" dirty="0"/>
          </a:p>
        </p:txBody>
      </p:sp>
      <p:sp>
        <p:nvSpPr>
          <p:cNvPr id="33" name="Text 31"/>
          <p:cNvSpPr txBox="1"/>
          <p:nvPr/>
        </p:nvSpPr>
        <p:spPr>
          <a:xfrm>
            <a:off x="6364224" y="2231136"/>
            <a:ext cx="5138928" cy="950976"/>
          </a:xfrm>
          <a:prstGeom prst="rect">
            <a:avLst/>
          </a:prstGeom>
          <a:noFill/>
          <a:ln/>
        </p:spPr>
        <p:txBody>
          <a:bodyPr wrap="square" lIns="0" tIns="0" rIns="0" bIns="0" rtlCol="0" anchor="t"/>
          <a:lstStyle/>
          <a:p>
            <a:pPr indent="0" marL="0">
              <a:lnSpc>
                <a:spcPts val="1250"/>
              </a:lnSpc>
              <a:buNone/>
            </a:pPr>
            <a:r>
              <a:rPr lang="en-US" sz="850" dirty="0">
                <a:solidFill>
                  <a:srgbClr val="9FE3C0"/>
                </a:solidFill>
                <a:latin typeface="Courier New" pitchFamily="34" charset="0"/>
                <a:ea typeface="Courier New" pitchFamily="34" charset="-122"/>
                <a:cs typeface="Courier New" pitchFamily="34" charset="-120"/>
              </a:rPr>
              <a:t>global_sales_assets_metrics.`Trade Date` =</a:t>
            </a:r>
            <a:endParaRPr lang="en-US" sz="850" dirty="0"/>
          </a:p>
          <a:p>
            <a:pPr indent="0" marL="0">
              <a:lnSpc>
                <a:spcPts val="1250"/>
              </a:lnSpc>
              <a:buNone/>
            </a:pPr>
            <a:r>
              <a:rPr lang="en-US" sz="850" dirty="0">
                <a:solidFill>
                  <a:srgbClr val="9FE3C0"/>
                </a:solidFill>
                <a:latin typeface="Courier New" pitchFamily="34" charset="0"/>
                <a:ea typeface="Courier New" pitchFamily="34" charset="-122"/>
                <a:cs typeface="Courier New" pitchFamily="34" charset="-120"/>
              </a:rPr>
              <a:t>  LAST_DAY(global_sales_assets_metrics.`Trade Date`)</a:t>
            </a:r>
            <a:endParaRPr lang="en-US" sz="850" dirty="0"/>
          </a:p>
          <a:p>
            <a:pPr indent="0" marL="0">
              <a:lnSpc>
                <a:spcPts val="1250"/>
              </a:lnSpc>
              <a:buNone/>
            </a:pPr>
            <a:endParaRPr lang="en-US" sz="850" dirty="0"/>
          </a:p>
          <a:p>
            <a:pPr indent="0" marL="0">
              <a:lnSpc>
                <a:spcPts val="1250"/>
              </a:lnSpc>
              <a:buNone/>
            </a:pPr>
            <a:r>
              <a:rPr lang="en-US" sz="850" dirty="0">
                <a:solidFill>
                  <a:srgbClr val="9FE3C0"/>
                </a:solidFill>
                <a:latin typeface="Courier New" pitchFamily="34" charset="0"/>
                <a:ea typeface="Courier New" pitchFamily="34" charset="-122"/>
                <a:cs typeface="Courier New" pitchFamily="34" charset="-120"/>
              </a:rPr>
              <a:t>MEASURE(global_sales_assets_metrics.</a:t>
            </a:r>
            <a:endParaRPr lang="en-US" sz="850" dirty="0"/>
          </a:p>
          <a:p>
            <a:pPr indent="0" marL="0">
              <a:lnSpc>
                <a:spcPts val="1250"/>
              </a:lnSpc>
              <a:buNone/>
            </a:pPr>
            <a:r>
              <a:rPr lang="en-US" sz="850" dirty="0">
                <a:solidFill>
                  <a:srgbClr val="9FE3C0"/>
                </a:solidFill>
                <a:latin typeface="Courier New" pitchFamily="34" charset="0"/>
                <a:ea typeface="Courier New" pitchFamily="34" charset="-122"/>
                <a:cs typeface="Courier New" pitchFamily="34" charset="-120"/>
              </a:rPr>
              <a:t>  `Gross Sales (ex Cash Management)`) / &lt;Avg AUM&gt;</a:t>
            </a:r>
            <a:endParaRPr lang="en-US" sz="850" dirty="0"/>
          </a:p>
        </p:txBody>
      </p:sp>
      <p:sp>
        <p:nvSpPr>
          <p:cNvPr id="34" name="Shape 32"/>
          <p:cNvSpPr/>
          <p:nvPr/>
        </p:nvSpPr>
        <p:spPr>
          <a:xfrm>
            <a:off x="6181344" y="3438144"/>
            <a:ext cx="5504688" cy="1005840"/>
          </a:xfrm>
          <a:prstGeom prst="roundRect">
            <a:avLst>
              <a:gd name="adj" fmla="val 4545"/>
            </a:avLst>
          </a:prstGeom>
          <a:solidFill>
            <a:srgbClr val="0E1B2A"/>
          </a:solidFill>
          <a:ln/>
        </p:spPr>
      </p:sp>
      <p:sp>
        <p:nvSpPr>
          <p:cNvPr id="35" name="Text 33"/>
          <p:cNvSpPr txBox="1"/>
          <p:nvPr/>
        </p:nvSpPr>
        <p:spPr>
          <a:xfrm>
            <a:off x="6364224" y="3557016"/>
            <a:ext cx="5138928" cy="201168"/>
          </a:xfrm>
          <a:prstGeom prst="rect">
            <a:avLst/>
          </a:prstGeom>
          <a:noFill/>
          <a:ln/>
        </p:spPr>
        <p:txBody>
          <a:bodyPr wrap="square" lIns="0" tIns="0" rIns="0" bIns="0" rtlCol="0" anchor="t"/>
          <a:lstStyle/>
          <a:p>
            <a:pPr indent="0" marL="0">
              <a:buNone/>
            </a:pPr>
            <a:r>
              <a:rPr lang="en-US" sz="850" b="1" spc="160" kern="0" dirty="0">
                <a:solidFill>
                  <a:srgbClr val="F0A0A0"/>
                </a:solidFill>
                <a:latin typeface="Calibri" pitchFamily="34" charset="0"/>
                <a:ea typeface="Calibri" pitchFamily="34" charset="-122"/>
                <a:cs typeface="Calibri" pitchFamily="34" charset="-120"/>
              </a:rPr>
              <a:t>✕  BARE — RAISES THE ERROR</a:t>
            </a:r>
            <a:endParaRPr lang="en-US" sz="850" dirty="0"/>
          </a:p>
        </p:txBody>
      </p:sp>
      <p:sp>
        <p:nvSpPr>
          <p:cNvPr id="36" name="Text 34"/>
          <p:cNvSpPr txBox="1"/>
          <p:nvPr/>
        </p:nvSpPr>
        <p:spPr>
          <a:xfrm>
            <a:off x="6364224" y="3822192"/>
            <a:ext cx="5138928" cy="475488"/>
          </a:xfrm>
          <a:prstGeom prst="rect">
            <a:avLst/>
          </a:prstGeom>
          <a:noFill/>
          <a:ln/>
        </p:spPr>
        <p:txBody>
          <a:bodyPr wrap="square" lIns="0" tIns="0" rIns="0" bIns="0" rtlCol="0" anchor="t"/>
          <a:lstStyle/>
          <a:p>
            <a:pPr indent="0" marL="0">
              <a:lnSpc>
                <a:spcPts val="1250"/>
              </a:lnSpc>
              <a:buNone/>
            </a:pPr>
            <a:r>
              <a:rPr lang="en-US" sz="850" dirty="0">
                <a:solidFill>
                  <a:srgbClr val="FFB3A7"/>
                </a:solidFill>
                <a:latin typeface="Courier New" pitchFamily="34" charset="0"/>
                <a:ea typeface="Courier New" pitchFamily="34" charset="-122"/>
                <a:cs typeface="Courier New" pitchFamily="34" charset="-120"/>
              </a:rPr>
              <a:t>`Trade Date` = LAST_DAY(`Trade Date`)</a:t>
            </a:r>
            <a:endParaRPr lang="en-US" sz="850" dirty="0"/>
          </a:p>
          <a:p>
            <a:pPr indent="0" marL="0">
              <a:lnSpc>
                <a:spcPts val="1250"/>
              </a:lnSpc>
              <a:buNone/>
            </a:pPr>
            <a:r>
              <a:rPr lang="en-US" sz="850" dirty="0">
                <a:solidFill>
                  <a:srgbClr val="FFB3A7"/>
                </a:solidFill>
                <a:latin typeface="Courier New" pitchFamily="34" charset="0"/>
                <a:ea typeface="Courier New" pitchFamily="34" charset="-122"/>
                <a:cs typeface="Courier New" pitchFamily="34" charset="-120"/>
              </a:rPr>
              <a:t>MEASURE(`Gross Sales (ex Cash Management)`)</a:t>
            </a:r>
            <a:endParaRPr lang="en-US" sz="850" dirty="0"/>
          </a:p>
        </p:txBody>
      </p:sp>
      <p:sp>
        <p:nvSpPr>
          <p:cNvPr id="37" name="Shape 35"/>
          <p:cNvSpPr/>
          <p:nvPr/>
        </p:nvSpPr>
        <p:spPr>
          <a:xfrm>
            <a:off x="6181344" y="4553712"/>
            <a:ext cx="5504688" cy="1719072"/>
          </a:xfrm>
          <a:prstGeom prst="roundRect">
            <a:avLst>
              <a:gd name="adj" fmla="val 3191"/>
            </a:avLst>
          </a:prstGeom>
          <a:solidFill>
            <a:srgbClr val="E4ECF4"/>
          </a:solidFill>
          <a:ln w="9525">
            <a:solidFill>
              <a:srgbClr val="D2DDE9"/>
            </a:solidFill>
            <a:prstDash val="solid"/>
          </a:ln>
        </p:spPr>
      </p:sp>
      <p:sp>
        <p:nvSpPr>
          <p:cNvPr id="38" name="Text 36"/>
          <p:cNvSpPr txBox="1"/>
          <p:nvPr/>
        </p:nvSpPr>
        <p:spPr>
          <a:xfrm>
            <a:off x="6364224" y="4681728"/>
            <a:ext cx="5138928" cy="237744"/>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Why it matters</a:t>
            </a:r>
            <a:endParaRPr lang="en-US" sz="1150" dirty="0"/>
          </a:p>
        </p:txBody>
      </p:sp>
      <p:sp>
        <p:nvSpPr>
          <p:cNvPr id="39" name="Text 37"/>
          <p:cNvSpPr txBox="1"/>
          <p:nvPr/>
        </p:nvSpPr>
        <p:spPr>
          <a:xfrm>
            <a:off x="6364224" y="4937760"/>
            <a:ext cx="5138928" cy="1225296"/>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Unqualified columns raise “Table name or alias is required for column” when Genie composes a snippet into a larger statement. Qualifying is always safe and is required once multiple tables are joined. Prefix inside subqueries too.</a:t>
            </a:r>
            <a:endParaRPr lang="en-US" sz="950" dirty="0"/>
          </a:p>
          <a:p>
            <a:pPr indent="0" marL="0">
              <a:lnSpc>
                <a:spcPts val="1250"/>
              </a:lnSpc>
              <a:buNone/>
            </a:pPr>
            <a:endParaRPr lang="en-US" sz="950" dirty="0"/>
          </a:p>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Do not prefix non-column tokens — string literals, &lt;placeholder&gt; markers, :param_name parameters and conceptual CTE-result names stay as they are.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8.4 TEXT INSTRUCTIONS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One object per agent, five headers, under 2,000 characters [GH-1] [OFF-6]</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29</a:t>
            </a:r>
            <a:endParaRPr lang="en-US" sz="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5504688" cy="914400"/>
        </p:xfrm>
        <a:graphic>
          <a:graphicData uri="http://schemas.openxmlformats.org/drawingml/2006/table">
            <a:tbl>
              <a:tblPr/>
              <a:tblGrid>
                <a:gridCol w="2240280"/>
                <a:gridCol w="3264408"/>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Header</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goes here</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0">
                <a:tc>
                  <a:txBody>
                    <a:bodyPr/>
                    <a:lstStyle/>
                    <a:p>
                      <a:pPr indent="0" marL="0">
                        <a:buNone/>
                      </a:pPr>
                      <a:r>
                        <a:rPr lang="en-US" sz="850" b="1" dirty="0">
                          <a:solidFill>
                            <a:srgbClr val="2B3A4C"/>
                          </a:solidFill>
                          <a:latin typeface="Courier New" pitchFamily="34" charset="0"/>
                          <a:ea typeface="Courier New" pitchFamily="34" charset="-122"/>
                          <a:cs typeface="Courier New" pitchFamily="34" charset="-120"/>
                        </a:rPr>
                        <a:t>## PURPOSE</a:t>
                      </a:r>
                      <a:endParaRPr lang="en-US" sz="850" dirty="0">
                        <a:latin typeface="Courier New" charset="0"/>
                        <a:ea typeface="Courier New" charset="0"/>
                        <a:cs typeface="Courier New"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One or two bullets: scope and audience</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850" b="1" dirty="0">
                          <a:solidFill>
                            <a:srgbClr val="2B3A4C"/>
                          </a:solidFill>
                          <a:latin typeface="Courier New" pitchFamily="34" charset="0"/>
                          <a:ea typeface="Courier New" pitchFamily="34" charset="-122"/>
                          <a:cs typeface="Courier New" pitchFamily="34" charset="-120"/>
                        </a:rPr>
                        <a:t>## DISAMBIGUATION</a:t>
                      </a:r>
                      <a:endParaRPr lang="en-US" sz="850" dirty="0">
                        <a:latin typeface="Courier New" charset="0"/>
                        <a:ea typeface="Courier New" charset="0"/>
                        <a:cs typeface="Courier New"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Clarification triggers and term-resolution rules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B3A4C"/>
                          </a:solidFill>
                          <a:latin typeface="Courier New" pitchFamily="34" charset="0"/>
                          <a:ea typeface="Courier New" pitchFamily="34" charset="-122"/>
                          <a:cs typeface="Courier New" pitchFamily="34" charset="-120"/>
                        </a:rPr>
                        <a:t>## DATA QUALITY NOTES</a:t>
                      </a:r>
                      <a:endParaRPr lang="en-US" sz="850" dirty="0">
                        <a:latin typeface="Courier New" charset="0"/>
                        <a:ea typeface="Courier New" charset="0"/>
                        <a:cs typeface="Courier New"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NULL handling, known bad rows, semantics not captured in column descriptions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850" b="1" dirty="0">
                          <a:solidFill>
                            <a:srgbClr val="2B3A4C"/>
                          </a:solidFill>
                          <a:latin typeface="Courier New" pitchFamily="34" charset="0"/>
                          <a:ea typeface="Courier New" pitchFamily="34" charset="-122"/>
                          <a:cs typeface="Courier New" pitchFamily="34" charset="-120"/>
                        </a:rPr>
                        <a:t>## CONSTRAINTS</a:t>
                      </a:r>
                      <a:endParaRPr lang="en-US" sz="850" dirty="0">
                        <a:latin typeface="Courier New" charset="0"/>
                        <a:ea typeface="Courier New" charset="0"/>
                        <a:cs typeface="Courier New"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Hard guardrails: what never to show (PII columns), what not to do</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B3A4C"/>
                          </a:solidFill>
                          <a:latin typeface="Courier New" pitchFamily="34" charset="0"/>
                          <a:ea typeface="Courier New" pitchFamily="34" charset="-122"/>
                          <a:cs typeface="Courier New" pitchFamily="34" charset="-120"/>
                        </a:rPr>
                        <a:t>## Instructions you must follow when providing summaries</a:t>
                      </a:r>
                      <a:endParaRPr lang="en-US" sz="850" dirty="0">
                        <a:latin typeface="Courier New" charset="0"/>
                        <a:ea typeface="Courier New" charset="0"/>
                        <a:cs typeface="Courier New"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Rounding rules, mandatory caveats, date-range statements. Use this exact heading — do not paraphrase it.</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Text 4"/>
          <p:cNvSpPr txBox="1"/>
          <p:nvPr/>
        </p:nvSpPr>
        <p:spPr>
          <a:xfrm>
            <a:off x="502920" y="3200400"/>
            <a:ext cx="5504688" cy="64008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Rules: one ## header per section, in this order, omitting any that are empty; dash bullets, one idea each; a blank line between sections; no SQL inside bullets; every bullet references a concrete asset (table, column, user phrase) or is a specific behavioural rule.  [GH-1]</a:t>
            </a:r>
            <a:endParaRPr lang="en-US" sz="1000" dirty="0"/>
          </a:p>
        </p:txBody>
      </p:sp>
      <p:sp>
        <p:nvSpPr>
          <p:cNvPr id="8" name="Shape 5"/>
          <p:cNvSpPr/>
          <p:nvPr/>
        </p:nvSpPr>
        <p:spPr>
          <a:xfrm>
            <a:off x="6181344" y="1188720"/>
            <a:ext cx="5504688" cy="5102352"/>
          </a:xfrm>
          <a:prstGeom prst="roundRect">
            <a:avLst>
              <a:gd name="adj" fmla="val 896"/>
            </a:avLst>
          </a:prstGeom>
          <a:solidFill>
            <a:srgbClr val="0E1B2A"/>
          </a:solidFill>
          <a:ln/>
        </p:spPr>
      </p:sp>
      <p:sp>
        <p:nvSpPr>
          <p:cNvPr id="9" name="Text 6"/>
          <p:cNvSpPr txBox="1"/>
          <p:nvPr/>
        </p:nvSpPr>
        <p:spPr>
          <a:xfrm>
            <a:off x="6364224" y="1307592"/>
            <a:ext cx="5138928" cy="201168"/>
          </a:xfrm>
          <a:prstGeom prst="rect">
            <a:avLst/>
          </a:prstGeom>
          <a:noFill/>
          <a:ln/>
        </p:spPr>
        <p:txBody>
          <a:bodyPr wrap="square" lIns="0" tIns="0" rIns="0" bIns="0" rtlCol="0" anchor="t"/>
          <a:lstStyle/>
          <a:p>
            <a:pPr indent="0" marL="0">
              <a:buNone/>
            </a:pPr>
            <a:r>
              <a:rPr lang="en-US" sz="850" b="1" spc="160" kern="0" dirty="0">
                <a:solidFill>
                  <a:srgbClr val="F0A34A"/>
                </a:solidFill>
                <a:latin typeface="Calibri" pitchFamily="34" charset="0"/>
                <a:ea typeface="Calibri" pitchFamily="34" charset="-122"/>
                <a:cs typeface="Calibri" pitchFamily="34" charset="-120"/>
              </a:rPr>
              <a:t>WORKED EXAMPLE  [GH-1]</a:t>
            </a:r>
            <a:endParaRPr lang="en-US" sz="850" dirty="0"/>
          </a:p>
        </p:txBody>
      </p:sp>
      <p:sp>
        <p:nvSpPr>
          <p:cNvPr id="10" name="Text 7"/>
          <p:cNvSpPr txBox="1"/>
          <p:nvPr/>
        </p:nvSpPr>
        <p:spPr>
          <a:xfrm>
            <a:off x="6364224" y="1572768"/>
            <a:ext cx="5138928" cy="4572000"/>
          </a:xfrm>
          <a:prstGeom prst="rect">
            <a:avLst/>
          </a:prstGeom>
          <a:noFill/>
          <a:ln/>
        </p:spPr>
        <p:txBody>
          <a:bodyPr wrap="square" lIns="0" tIns="0" rIns="0" bIns="0" rtlCol="0" anchor="t"/>
          <a:lstStyle/>
          <a:p>
            <a:pPr indent="0" marL="0">
              <a:lnSpc>
                <a:spcPts val="1260"/>
              </a:lnSpc>
              <a:buNone/>
            </a:pPr>
            <a:r>
              <a:rPr lang="en-US" sz="900" b="1" dirty="0">
                <a:solidFill>
                  <a:srgbClr val="F0A34A"/>
                </a:solidFill>
                <a:latin typeface="Courier New" pitchFamily="34" charset="0"/>
                <a:ea typeface="Courier New" pitchFamily="34" charset="-122"/>
                <a:cs typeface="Courier New" pitchFamily="34" charset="-120"/>
              </a:rPr>
              <a:t>## PURPOSE</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Answer questions about order revenue for</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FY2024 US retail orders.</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Users are merchandising managers - assume</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retail/e-commerce fluency.</a:t>
            </a:r>
            <a:endParaRPr lang="en-US" sz="900" dirty="0"/>
          </a:p>
          <a:p>
            <a:pPr indent="0" marL="0">
              <a:lnSpc>
                <a:spcPts val="1260"/>
              </a:lnSpc>
              <a:buNone/>
            </a:pPr>
            <a:endParaRPr lang="en-US" sz="900" dirty="0"/>
          </a:p>
          <a:p>
            <a:pPr indent="0" marL="0">
              <a:lnSpc>
                <a:spcPts val="1260"/>
              </a:lnSpc>
              <a:buNone/>
            </a:pPr>
            <a:r>
              <a:rPr lang="en-US" sz="900" b="1" dirty="0">
                <a:solidFill>
                  <a:srgbClr val="F0A34A"/>
                </a:solidFill>
                <a:latin typeface="Courier New" pitchFamily="34" charset="0"/>
                <a:ea typeface="Courier New" pitchFamily="34" charset="-122"/>
                <a:cs typeface="Courier New" pitchFamily="34" charset="-120"/>
              </a:rPr>
              <a:t>## DISAMBIGUATION</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When the user asks about "customer</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performance" without a time range, ask them</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to clarify the period.</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"Q1" means calendar Q1 unless the user says</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"fiscal Q1".</a:t>
            </a:r>
            <a:endParaRPr lang="en-US" sz="900" dirty="0"/>
          </a:p>
          <a:p>
            <a:pPr indent="0" marL="0">
              <a:lnSpc>
                <a:spcPts val="1260"/>
              </a:lnSpc>
              <a:buNone/>
            </a:pPr>
            <a:endParaRPr lang="en-US" sz="900" dirty="0"/>
          </a:p>
          <a:p>
            <a:pPr indent="0" marL="0">
              <a:lnSpc>
                <a:spcPts val="1260"/>
              </a:lnSpc>
              <a:buNone/>
            </a:pPr>
            <a:r>
              <a:rPr lang="en-US" sz="900" b="1" dirty="0">
                <a:solidFill>
                  <a:srgbClr val="F0A34A"/>
                </a:solidFill>
                <a:latin typeface="Courier New" pitchFamily="34" charset="0"/>
                <a:ea typeface="Courier New" pitchFamily="34" charset="-122"/>
                <a:cs typeface="Courier New" pitchFamily="34" charset="-120"/>
              </a:rPr>
              <a:t>## DATA QUALITY NOTES</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orders.order_amount is NULL for cancelled</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rows - filter with is_cancelled = false.</a:t>
            </a:r>
            <a:endParaRPr lang="en-US" sz="900" dirty="0"/>
          </a:p>
          <a:p>
            <a:pPr indent="0" marL="0">
              <a:lnSpc>
                <a:spcPts val="1260"/>
              </a:lnSpc>
              <a:buNone/>
            </a:pPr>
            <a:endParaRPr lang="en-US" sz="900" dirty="0"/>
          </a:p>
          <a:p>
            <a:pPr indent="0" marL="0">
              <a:lnSpc>
                <a:spcPts val="1260"/>
              </a:lnSpc>
              <a:buNone/>
            </a:pPr>
            <a:r>
              <a:rPr lang="en-US" sz="900" b="1" dirty="0">
                <a:solidFill>
                  <a:srgbClr val="F0A34A"/>
                </a:solidFill>
                <a:latin typeface="Courier New" pitchFamily="34" charset="0"/>
                <a:ea typeface="Courier New" pitchFamily="34" charset="-122"/>
                <a:cs typeface="Courier New" pitchFamily="34" charset="-120"/>
              </a:rPr>
              <a:t>## CONSTRAINTS</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Never show PII columns (customer_email,</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customer_phone).</a:t>
            </a:r>
            <a:endParaRPr lang="en-US" sz="900" dirty="0"/>
          </a:p>
          <a:p>
            <a:pPr indent="0" marL="0">
              <a:lnSpc>
                <a:spcPts val="1260"/>
              </a:lnSpc>
              <a:buNone/>
            </a:pPr>
            <a:endParaRPr lang="en-US" sz="900" dirty="0"/>
          </a:p>
          <a:p>
            <a:pPr indent="0" marL="0">
              <a:lnSpc>
                <a:spcPts val="1260"/>
              </a:lnSpc>
              <a:buNone/>
            </a:pPr>
            <a:r>
              <a:rPr lang="en-US" sz="900" b="1" dirty="0">
                <a:solidFill>
                  <a:srgbClr val="F0A34A"/>
                </a:solidFill>
                <a:latin typeface="Courier New" pitchFamily="34" charset="0"/>
                <a:ea typeface="Courier New" pitchFamily="34" charset="-122"/>
                <a:cs typeface="Courier New" pitchFamily="34" charset="-120"/>
              </a:rPr>
              <a:t>## Instructions you must follow when</a:t>
            </a:r>
            <a:endParaRPr lang="en-US" sz="900" dirty="0"/>
          </a:p>
          <a:p>
            <a:pPr indent="0" marL="0">
              <a:lnSpc>
                <a:spcPts val="1260"/>
              </a:lnSpc>
              <a:buNone/>
            </a:pPr>
            <a:r>
              <a:rPr lang="en-US" sz="900" b="1" dirty="0">
                <a:solidFill>
                  <a:srgbClr val="F0A34A"/>
                </a:solidFill>
                <a:latin typeface="Courier New" pitchFamily="34" charset="0"/>
                <a:ea typeface="Courier New" pitchFamily="34" charset="-122"/>
                <a:cs typeface="Courier New" pitchFamily="34" charset="-120"/>
              </a:rPr>
              <a:t>   providing summaries</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Round percentages to two decimal places.</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Always state the date range used in the</a:t>
            </a:r>
            <a:endParaRPr lang="en-US" sz="900" dirty="0"/>
          </a:p>
          <a:p>
            <a:pPr indent="0" marL="0">
              <a:lnSpc>
                <a:spcPts val="1260"/>
              </a:lnSpc>
              <a:buNone/>
            </a:pPr>
            <a:r>
              <a:rPr lang="en-US" sz="900" dirty="0">
                <a:solidFill>
                  <a:srgbClr val="DCE6F2"/>
                </a:solidFill>
                <a:latin typeface="Courier New" pitchFamily="34" charset="0"/>
                <a:ea typeface="Courier New" pitchFamily="34" charset="-122"/>
                <a:cs typeface="Courier New" pitchFamily="34" charset="-120"/>
              </a:rPr>
              <a:t>  summary.</a:t>
            </a:r>
            <a:endParaRPr lang="en-US" sz="900" dirty="0"/>
          </a:p>
        </p:txBody>
      </p:sp>
      <p:sp>
        <p:nvSpPr>
          <p:cNvPr id="11" name="Text 8"/>
          <p:cNvSpPr txBox="1"/>
          <p:nvPr/>
        </p:nvSpPr>
        <p:spPr>
          <a:xfrm>
            <a:off x="502920" y="3931920"/>
            <a:ext cx="5504688"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WHAT THE OFFICIAL DOCS PUT HERE  [OFF-2]</a:t>
            </a:r>
            <a:endParaRPr lang="en-US" sz="850" dirty="0"/>
          </a:p>
        </p:txBody>
      </p:sp>
      <p:sp>
        <p:nvSpPr>
          <p:cNvPr id="12" name="Shape 9"/>
          <p:cNvSpPr/>
          <p:nvPr/>
        </p:nvSpPr>
        <p:spPr>
          <a:xfrm>
            <a:off x="502920" y="4169664"/>
            <a:ext cx="2679192" cy="1051560"/>
          </a:xfrm>
          <a:prstGeom prst="roundRect">
            <a:avLst>
              <a:gd name="adj" fmla="val 5217"/>
            </a:avLst>
          </a:prstGeom>
          <a:solidFill>
            <a:srgbClr val="F2F5F9"/>
          </a:solidFill>
          <a:ln w="9525">
            <a:solidFill>
              <a:srgbClr val="D2DDE9"/>
            </a:solidFill>
            <a:prstDash val="solid"/>
          </a:ln>
        </p:spPr>
      </p:sp>
      <p:sp>
        <p:nvSpPr>
          <p:cNvPr id="13" name="Text 10"/>
          <p:cNvSpPr txBox="1"/>
          <p:nvPr/>
        </p:nvSpPr>
        <p:spPr>
          <a:xfrm>
            <a:off x="649224" y="4288536"/>
            <a:ext cx="2386584" cy="292608"/>
          </a:xfrm>
          <a:prstGeom prst="rect">
            <a:avLst/>
          </a:prstGeom>
          <a:noFill/>
          <a:ln/>
        </p:spPr>
        <p:txBody>
          <a:bodyPr wrap="square" lIns="0" tIns="0" rIns="0" bIns="0" rtlCol="0" anchor="t"/>
          <a:lstStyle/>
          <a:p>
            <a:pPr indent="0" marL="0">
              <a:buNone/>
            </a:pPr>
            <a:r>
              <a:rPr lang="en-US" sz="1050" b="1" dirty="0">
                <a:solidFill>
                  <a:srgbClr val="0E1B2A"/>
                </a:solidFill>
                <a:latin typeface="Calibri" pitchFamily="34" charset="0"/>
                <a:ea typeface="Calibri" pitchFamily="34" charset="-122"/>
                <a:cs typeface="Calibri" pitchFamily="34" charset="-120"/>
              </a:rPr>
              <a:t>Company-specific business information</a:t>
            </a:r>
            <a:endParaRPr lang="en-US" sz="1050" dirty="0"/>
          </a:p>
        </p:txBody>
      </p:sp>
      <p:sp>
        <p:nvSpPr>
          <p:cNvPr id="14" name="Text 11"/>
          <p:cNvSpPr txBox="1"/>
          <p:nvPr/>
        </p:nvSpPr>
        <p:spPr>
          <a:xfrm>
            <a:off x="649224" y="4626864"/>
            <a:ext cx="2386584" cy="47548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“The fiscal year starts in February, so FY26 runs 1 Feb 2026 – 31 Jan 2027.”</a:t>
            </a:r>
            <a:endParaRPr lang="en-US" sz="900" dirty="0"/>
          </a:p>
        </p:txBody>
      </p:sp>
      <p:sp>
        <p:nvSpPr>
          <p:cNvPr id="15" name="Shape 12"/>
          <p:cNvSpPr/>
          <p:nvPr/>
        </p:nvSpPr>
        <p:spPr>
          <a:xfrm>
            <a:off x="3328416" y="4169664"/>
            <a:ext cx="2679192" cy="1051560"/>
          </a:xfrm>
          <a:prstGeom prst="roundRect">
            <a:avLst>
              <a:gd name="adj" fmla="val 5217"/>
            </a:avLst>
          </a:prstGeom>
          <a:solidFill>
            <a:srgbClr val="F2F5F9"/>
          </a:solidFill>
          <a:ln w="9525">
            <a:solidFill>
              <a:srgbClr val="D2DDE9"/>
            </a:solidFill>
            <a:prstDash val="solid"/>
          </a:ln>
        </p:spPr>
      </p:sp>
      <p:sp>
        <p:nvSpPr>
          <p:cNvPr id="16" name="Text 13"/>
          <p:cNvSpPr txBox="1"/>
          <p:nvPr/>
        </p:nvSpPr>
        <p:spPr>
          <a:xfrm>
            <a:off x="3474720" y="4288536"/>
            <a:ext cx="2386584" cy="292608"/>
          </a:xfrm>
          <a:prstGeom prst="rect">
            <a:avLst/>
          </a:prstGeom>
          <a:noFill/>
          <a:ln/>
        </p:spPr>
        <p:txBody>
          <a:bodyPr wrap="square" lIns="0" tIns="0" rIns="0" bIns="0" rtlCol="0" anchor="t"/>
          <a:lstStyle/>
          <a:p>
            <a:pPr indent="0" marL="0">
              <a:buNone/>
            </a:pPr>
            <a:r>
              <a:rPr lang="en-US" sz="1050" b="1" dirty="0">
                <a:solidFill>
                  <a:srgbClr val="0E1B2A"/>
                </a:solidFill>
                <a:latin typeface="Calibri" pitchFamily="34" charset="0"/>
                <a:ea typeface="Calibri" pitchFamily="34" charset="-122"/>
                <a:cs typeface="Calibri" pitchFamily="34" charset="-120"/>
              </a:rPr>
              <a:t>Formatting rules</a:t>
            </a:r>
            <a:endParaRPr lang="en-US" sz="1050" dirty="0"/>
          </a:p>
        </p:txBody>
      </p:sp>
      <p:sp>
        <p:nvSpPr>
          <p:cNvPr id="17" name="Text 14"/>
          <p:cNvSpPr txBox="1"/>
          <p:nvPr/>
        </p:nvSpPr>
        <p:spPr>
          <a:xfrm>
            <a:off x="3474720" y="4626864"/>
            <a:ext cx="2386584" cy="47548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Always respond in a given language; round decimals to two places by default; omit commas in any column including “Id”, “id” and “_id”.</a:t>
            </a:r>
            <a:endParaRPr lang="en-US" sz="900" dirty="0"/>
          </a:p>
        </p:txBody>
      </p:sp>
      <p:sp>
        <p:nvSpPr>
          <p:cNvPr id="18" name="Shape 15"/>
          <p:cNvSpPr/>
          <p:nvPr/>
        </p:nvSpPr>
        <p:spPr>
          <a:xfrm>
            <a:off x="502920" y="5340096"/>
            <a:ext cx="5504688" cy="950976"/>
          </a:xfrm>
          <a:prstGeom prst="roundRect">
            <a:avLst>
              <a:gd name="adj" fmla="val 5769"/>
            </a:avLst>
          </a:prstGeom>
          <a:solidFill>
            <a:srgbClr val="0E1B2A"/>
          </a:solidFill>
          <a:ln w="9525">
            <a:solidFill>
              <a:srgbClr val="0E1B2A"/>
            </a:solidFill>
            <a:prstDash val="solid"/>
          </a:ln>
        </p:spPr>
      </p:sp>
      <p:sp>
        <p:nvSpPr>
          <p:cNvPr id="19" name="Shape 16"/>
          <p:cNvSpPr/>
          <p:nvPr/>
        </p:nvSpPr>
        <p:spPr>
          <a:xfrm>
            <a:off x="685800" y="5678424"/>
            <a:ext cx="274320" cy="274320"/>
          </a:xfrm>
          <a:prstGeom prst="roundRect">
            <a:avLst>
              <a:gd name="adj" fmla="val 16667"/>
            </a:avLst>
          </a:prstGeom>
          <a:solidFill>
            <a:srgbClr val="E8552D"/>
          </a:solidFill>
          <a:ln/>
        </p:spPr>
      </p:sp>
      <p:sp>
        <p:nvSpPr>
          <p:cNvPr id="20" name="Text 17"/>
          <p:cNvSpPr txBox="1"/>
          <p:nvPr/>
        </p:nvSpPr>
        <p:spPr>
          <a:xfrm>
            <a:off x="685800" y="567842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1106424" y="5431536"/>
            <a:ext cx="4718304" cy="768096"/>
          </a:xfrm>
          <a:prstGeom prst="rect">
            <a:avLst/>
          </a:prstGeom>
          <a:noFill/>
          <a:ln/>
        </p:spPr>
        <p:txBody>
          <a:bodyPr wrap="square" lIns="0" tIns="0" rIns="0" bIns="0" rtlCol="0" anchor="ctr"/>
          <a:lstStyle/>
          <a:p>
            <a:pPr indent="0" marL="0">
              <a:lnSpc>
                <a:spcPts val="1250"/>
              </a:lnSpc>
              <a:buNone/>
            </a:pPr>
            <a:r>
              <a:rPr lang="en-US" sz="950" dirty="0">
                <a:solidFill>
                  <a:srgbClr val="DCE6F2"/>
                </a:solidFill>
                <a:latin typeface="Calibri" pitchFamily="34" charset="0"/>
                <a:ea typeface="Calibri" pitchFamily="34" charset="-122"/>
                <a:cs typeface="Calibri" pitchFamily="34" charset="-120"/>
              </a:rPr>
              <a:t>Do not use text instructions as the default home for guardrails, policies, metric logic, table-selection rules, join rules, filter rules, ranking or windowing rules, or long best-practice lists. Encode them structurally, or fix the upstream semantic model.  [GH-1]</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8.5 CLARIFICATION, SUMMARIES AND TIMEZONES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Three behaviours only text instructions can produce</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30</a:t>
            </a:r>
            <a:endParaRPr lang="en-US" sz="800" dirty="0"/>
          </a:p>
        </p:txBody>
      </p:sp>
      <p:sp>
        <p:nvSpPr>
          <p:cNvPr id="6" name="Text 4"/>
          <p:cNvSpPr txBox="1"/>
          <p:nvPr/>
        </p:nvSpPr>
        <p:spPr>
          <a:xfrm>
            <a:off x="502920" y="1170432"/>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CLARIFICATION QUESTIONS — FOUR COMPONENTS  [OFF-1]</a:t>
            </a:r>
            <a:endParaRPr lang="en-US" sz="850" dirty="0"/>
          </a:p>
        </p:txBody>
      </p:sp>
      <p:sp>
        <p:nvSpPr>
          <p:cNvPr id="7" name="Shape 5"/>
          <p:cNvSpPr/>
          <p:nvPr/>
        </p:nvSpPr>
        <p:spPr>
          <a:xfrm>
            <a:off x="502920" y="1408176"/>
            <a:ext cx="2548890" cy="914400"/>
          </a:xfrm>
          <a:prstGeom prst="roundRect">
            <a:avLst>
              <a:gd name="adj" fmla="val 6000"/>
            </a:avLst>
          </a:prstGeom>
          <a:solidFill>
            <a:srgbClr val="F2F5F9"/>
          </a:solidFill>
          <a:ln w="9525">
            <a:solidFill>
              <a:srgbClr val="D2DDE9"/>
            </a:solidFill>
            <a:prstDash val="solid"/>
          </a:ln>
        </p:spPr>
      </p:sp>
      <p:sp>
        <p:nvSpPr>
          <p:cNvPr id="8" name="Shape 6"/>
          <p:cNvSpPr/>
          <p:nvPr/>
        </p:nvSpPr>
        <p:spPr>
          <a:xfrm>
            <a:off x="630936" y="1536192"/>
            <a:ext cx="256032" cy="256032"/>
          </a:xfrm>
          <a:prstGeom prst="roundRect">
            <a:avLst>
              <a:gd name="adj" fmla="val 17857"/>
            </a:avLst>
          </a:prstGeom>
          <a:solidFill>
            <a:srgbClr val="13456E"/>
          </a:solidFill>
          <a:ln/>
        </p:spPr>
      </p:sp>
      <p:sp>
        <p:nvSpPr>
          <p:cNvPr id="9" name="Text 7"/>
          <p:cNvSpPr txBox="1"/>
          <p:nvPr/>
        </p:nvSpPr>
        <p:spPr>
          <a:xfrm>
            <a:off x="630936" y="153619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8"/>
          <p:cNvSpPr txBox="1"/>
          <p:nvPr/>
        </p:nvSpPr>
        <p:spPr>
          <a:xfrm>
            <a:off x="960120" y="1536192"/>
            <a:ext cx="1963674" cy="256032"/>
          </a:xfrm>
          <a:prstGeom prst="rect">
            <a:avLst/>
          </a:prstGeom>
          <a:noFill/>
          <a:ln/>
        </p:spPr>
        <p:txBody>
          <a:bodyPr wrap="square" lIns="0" tIns="0" rIns="0" bIns="0" rtlCol="0" anchor="ctr"/>
          <a:lstStyle/>
          <a:p>
            <a:pPr indent="0" marL="0">
              <a:buNone/>
            </a:pPr>
            <a:r>
              <a:rPr lang="en-US" sz="1150" b="1" dirty="0">
                <a:solidFill>
                  <a:srgbClr val="0E1B2A"/>
                </a:solidFill>
                <a:latin typeface="Calibri" pitchFamily="34" charset="0"/>
                <a:ea typeface="Calibri" pitchFamily="34" charset="-122"/>
                <a:cs typeface="Calibri" pitchFamily="34" charset="-120"/>
              </a:rPr>
              <a:t>Trigger condition</a:t>
            </a:r>
            <a:endParaRPr lang="en-US" sz="1150" dirty="0"/>
          </a:p>
        </p:txBody>
      </p:sp>
      <p:sp>
        <p:nvSpPr>
          <p:cNvPr id="11" name="Text 9"/>
          <p:cNvSpPr txBox="1"/>
          <p:nvPr/>
        </p:nvSpPr>
        <p:spPr>
          <a:xfrm>
            <a:off x="630936" y="1865376"/>
            <a:ext cx="2292858" cy="365760"/>
          </a:xfrm>
          <a:prstGeom prst="rect">
            <a:avLst/>
          </a:prstGeom>
          <a:noFill/>
          <a:ln/>
        </p:spPr>
        <p:txBody>
          <a:bodyPr wrap="square" lIns="0" tIns="0" rIns="0" bIns="0" rtlCol="0" anchor="t"/>
          <a:lstStyle/>
          <a:p>
            <a:pPr indent="0" marL="0">
              <a:lnSpc>
                <a:spcPts val="1250"/>
              </a:lnSpc>
              <a:buNone/>
            </a:pPr>
            <a:r>
              <a:rPr lang="en-US" sz="1000" i="1" dirty="0">
                <a:solidFill>
                  <a:srgbClr val="2B3A4C"/>
                </a:solidFill>
                <a:latin typeface="Calibri" pitchFamily="34" charset="0"/>
                <a:ea typeface="Calibri" pitchFamily="34" charset="-122"/>
                <a:cs typeface="Calibri" pitchFamily="34" charset="-120"/>
              </a:rPr>
              <a:t>“When users ask about X topic…”</a:t>
            </a:r>
            <a:endParaRPr lang="en-US" sz="1000" dirty="0"/>
          </a:p>
        </p:txBody>
      </p:sp>
      <p:sp>
        <p:nvSpPr>
          <p:cNvPr id="12" name="Shape 10"/>
          <p:cNvSpPr/>
          <p:nvPr/>
        </p:nvSpPr>
        <p:spPr>
          <a:xfrm>
            <a:off x="3134106" y="1764792"/>
            <a:ext cx="164592" cy="164592"/>
          </a:xfrm>
          <a:prstGeom prst="plus">
            <a:avLst/>
          </a:prstGeom>
          <a:solidFill>
            <a:srgbClr val="E8552D"/>
          </a:solidFill>
          <a:ln/>
        </p:spPr>
      </p:sp>
      <p:sp>
        <p:nvSpPr>
          <p:cNvPr id="13" name="Shape 11"/>
          <p:cNvSpPr/>
          <p:nvPr/>
        </p:nvSpPr>
        <p:spPr>
          <a:xfrm>
            <a:off x="3380994" y="1408176"/>
            <a:ext cx="2548890" cy="914400"/>
          </a:xfrm>
          <a:prstGeom prst="roundRect">
            <a:avLst>
              <a:gd name="adj" fmla="val 6000"/>
            </a:avLst>
          </a:prstGeom>
          <a:solidFill>
            <a:srgbClr val="F2F5F9"/>
          </a:solidFill>
          <a:ln w="9525">
            <a:solidFill>
              <a:srgbClr val="D2DDE9"/>
            </a:solidFill>
            <a:prstDash val="solid"/>
          </a:ln>
        </p:spPr>
      </p:sp>
      <p:sp>
        <p:nvSpPr>
          <p:cNvPr id="14" name="Shape 12"/>
          <p:cNvSpPr/>
          <p:nvPr/>
        </p:nvSpPr>
        <p:spPr>
          <a:xfrm>
            <a:off x="3509010" y="1536192"/>
            <a:ext cx="256032" cy="256032"/>
          </a:xfrm>
          <a:prstGeom prst="roundRect">
            <a:avLst>
              <a:gd name="adj" fmla="val 17857"/>
            </a:avLst>
          </a:prstGeom>
          <a:solidFill>
            <a:srgbClr val="13456E"/>
          </a:solidFill>
          <a:ln/>
        </p:spPr>
      </p:sp>
      <p:sp>
        <p:nvSpPr>
          <p:cNvPr id="15" name="Text 13"/>
          <p:cNvSpPr txBox="1"/>
          <p:nvPr/>
        </p:nvSpPr>
        <p:spPr>
          <a:xfrm>
            <a:off x="3509010" y="153619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4"/>
          <p:cNvSpPr txBox="1"/>
          <p:nvPr/>
        </p:nvSpPr>
        <p:spPr>
          <a:xfrm>
            <a:off x="3838194" y="1536192"/>
            <a:ext cx="1963674" cy="256032"/>
          </a:xfrm>
          <a:prstGeom prst="rect">
            <a:avLst/>
          </a:prstGeom>
          <a:noFill/>
          <a:ln/>
        </p:spPr>
        <p:txBody>
          <a:bodyPr wrap="square" lIns="0" tIns="0" rIns="0" bIns="0" rtlCol="0" anchor="ctr"/>
          <a:lstStyle/>
          <a:p>
            <a:pPr indent="0" marL="0">
              <a:buNone/>
            </a:pPr>
            <a:r>
              <a:rPr lang="en-US" sz="1150" b="1" dirty="0">
                <a:solidFill>
                  <a:srgbClr val="0E1B2A"/>
                </a:solidFill>
                <a:latin typeface="Calibri" pitchFamily="34" charset="0"/>
                <a:ea typeface="Calibri" pitchFamily="34" charset="-122"/>
                <a:cs typeface="Calibri" pitchFamily="34" charset="-120"/>
              </a:rPr>
              <a:t>Missing details</a:t>
            </a:r>
            <a:endParaRPr lang="en-US" sz="1150" dirty="0"/>
          </a:p>
        </p:txBody>
      </p:sp>
      <p:sp>
        <p:nvSpPr>
          <p:cNvPr id="17" name="Text 15"/>
          <p:cNvSpPr txBox="1"/>
          <p:nvPr/>
        </p:nvSpPr>
        <p:spPr>
          <a:xfrm>
            <a:off x="3509010" y="1865376"/>
            <a:ext cx="2292858" cy="365760"/>
          </a:xfrm>
          <a:prstGeom prst="rect">
            <a:avLst/>
          </a:prstGeom>
          <a:noFill/>
          <a:ln/>
        </p:spPr>
        <p:txBody>
          <a:bodyPr wrap="square" lIns="0" tIns="0" rIns="0" bIns="0" rtlCol="0" anchor="t"/>
          <a:lstStyle/>
          <a:p>
            <a:pPr indent="0" marL="0">
              <a:lnSpc>
                <a:spcPts val="1250"/>
              </a:lnSpc>
              <a:buNone/>
            </a:pPr>
            <a:r>
              <a:rPr lang="en-US" sz="1000" i="1" dirty="0">
                <a:solidFill>
                  <a:srgbClr val="2B3A4C"/>
                </a:solidFill>
                <a:latin typeface="Calibri" pitchFamily="34" charset="0"/>
                <a:ea typeface="Calibri" pitchFamily="34" charset="-122"/>
                <a:cs typeface="Calibri" pitchFamily="34" charset="-120"/>
              </a:rPr>
              <a:t>“…but don't include Y details…”</a:t>
            </a:r>
            <a:endParaRPr lang="en-US" sz="1000" dirty="0"/>
          </a:p>
        </p:txBody>
      </p:sp>
      <p:sp>
        <p:nvSpPr>
          <p:cNvPr id="18" name="Shape 16"/>
          <p:cNvSpPr/>
          <p:nvPr/>
        </p:nvSpPr>
        <p:spPr>
          <a:xfrm>
            <a:off x="6012180" y="1764792"/>
            <a:ext cx="164592" cy="164592"/>
          </a:xfrm>
          <a:prstGeom prst="plus">
            <a:avLst/>
          </a:prstGeom>
          <a:solidFill>
            <a:srgbClr val="E8552D"/>
          </a:solidFill>
          <a:ln/>
        </p:spPr>
      </p:sp>
      <p:sp>
        <p:nvSpPr>
          <p:cNvPr id="19" name="Shape 17"/>
          <p:cNvSpPr/>
          <p:nvPr/>
        </p:nvSpPr>
        <p:spPr>
          <a:xfrm>
            <a:off x="6259068" y="1408176"/>
            <a:ext cx="2548890" cy="914400"/>
          </a:xfrm>
          <a:prstGeom prst="roundRect">
            <a:avLst>
              <a:gd name="adj" fmla="val 6000"/>
            </a:avLst>
          </a:prstGeom>
          <a:solidFill>
            <a:srgbClr val="F2F5F9"/>
          </a:solidFill>
          <a:ln w="9525">
            <a:solidFill>
              <a:srgbClr val="D2DDE9"/>
            </a:solidFill>
            <a:prstDash val="solid"/>
          </a:ln>
        </p:spPr>
      </p:sp>
      <p:sp>
        <p:nvSpPr>
          <p:cNvPr id="20" name="Shape 18"/>
          <p:cNvSpPr/>
          <p:nvPr/>
        </p:nvSpPr>
        <p:spPr>
          <a:xfrm>
            <a:off x="6387084" y="1536192"/>
            <a:ext cx="256032" cy="256032"/>
          </a:xfrm>
          <a:prstGeom prst="roundRect">
            <a:avLst>
              <a:gd name="adj" fmla="val 17857"/>
            </a:avLst>
          </a:prstGeom>
          <a:solidFill>
            <a:srgbClr val="13456E"/>
          </a:solidFill>
          <a:ln/>
        </p:spPr>
      </p:sp>
      <p:sp>
        <p:nvSpPr>
          <p:cNvPr id="21" name="Text 19"/>
          <p:cNvSpPr txBox="1"/>
          <p:nvPr/>
        </p:nvSpPr>
        <p:spPr>
          <a:xfrm>
            <a:off x="6387084" y="153619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2" name="Text 20"/>
          <p:cNvSpPr txBox="1"/>
          <p:nvPr/>
        </p:nvSpPr>
        <p:spPr>
          <a:xfrm>
            <a:off x="6716268" y="1536192"/>
            <a:ext cx="1963674" cy="256032"/>
          </a:xfrm>
          <a:prstGeom prst="rect">
            <a:avLst/>
          </a:prstGeom>
          <a:noFill/>
          <a:ln/>
        </p:spPr>
        <p:txBody>
          <a:bodyPr wrap="square" lIns="0" tIns="0" rIns="0" bIns="0" rtlCol="0" anchor="ctr"/>
          <a:lstStyle/>
          <a:p>
            <a:pPr indent="0" marL="0">
              <a:buNone/>
            </a:pPr>
            <a:r>
              <a:rPr lang="en-US" sz="1150" b="1" dirty="0">
                <a:solidFill>
                  <a:srgbClr val="0E1B2A"/>
                </a:solidFill>
                <a:latin typeface="Calibri" pitchFamily="34" charset="0"/>
                <a:ea typeface="Calibri" pitchFamily="34" charset="-122"/>
                <a:cs typeface="Calibri" pitchFamily="34" charset="-120"/>
              </a:rPr>
              <a:t>Required action</a:t>
            </a:r>
            <a:endParaRPr lang="en-US" sz="1150" dirty="0"/>
          </a:p>
        </p:txBody>
      </p:sp>
      <p:sp>
        <p:nvSpPr>
          <p:cNvPr id="23" name="Text 21"/>
          <p:cNvSpPr txBox="1"/>
          <p:nvPr/>
        </p:nvSpPr>
        <p:spPr>
          <a:xfrm>
            <a:off x="6387084" y="1865376"/>
            <a:ext cx="2292858" cy="365760"/>
          </a:xfrm>
          <a:prstGeom prst="rect">
            <a:avLst/>
          </a:prstGeom>
          <a:noFill/>
          <a:ln/>
        </p:spPr>
        <p:txBody>
          <a:bodyPr wrap="square" lIns="0" tIns="0" rIns="0" bIns="0" rtlCol="0" anchor="t"/>
          <a:lstStyle/>
          <a:p>
            <a:pPr indent="0" marL="0">
              <a:lnSpc>
                <a:spcPts val="1250"/>
              </a:lnSpc>
              <a:buNone/>
            </a:pPr>
            <a:r>
              <a:rPr lang="en-US" sz="1000" i="1" dirty="0">
                <a:solidFill>
                  <a:srgbClr val="2B3A4C"/>
                </a:solidFill>
                <a:latin typeface="Calibri" pitchFamily="34" charset="0"/>
                <a:ea typeface="Calibri" pitchFamily="34" charset="-122"/>
                <a:cs typeface="Calibri" pitchFamily="34" charset="-120"/>
              </a:rPr>
              <a:t>“…you must ask a clarification question first…”</a:t>
            </a:r>
            <a:endParaRPr lang="en-US" sz="1000" dirty="0"/>
          </a:p>
        </p:txBody>
      </p:sp>
      <p:sp>
        <p:nvSpPr>
          <p:cNvPr id="24" name="Shape 22"/>
          <p:cNvSpPr/>
          <p:nvPr/>
        </p:nvSpPr>
        <p:spPr>
          <a:xfrm>
            <a:off x="8890254" y="1764792"/>
            <a:ext cx="164592" cy="164592"/>
          </a:xfrm>
          <a:prstGeom prst="plus">
            <a:avLst/>
          </a:prstGeom>
          <a:solidFill>
            <a:srgbClr val="E8552D"/>
          </a:solidFill>
          <a:ln/>
        </p:spPr>
      </p:sp>
      <p:sp>
        <p:nvSpPr>
          <p:cNvPr id="25" name="Shape 23"/>
          <p:cNvSpPr/>
          <p:nvPr/>
        </p:nvSpPr>
        <p:spPr>
          <a:xfrm>
            <a:off x="9137142" y="1408176"/>
            <a:ext cx="2548890" cy="914400"/>
          </a:xfrm>
          <a:prstGeom prst="roundRect">
            <a:avLst>
              <a:gd name="adj" fmla="val 6000"/>
            </a:avLst>
          </a:prstGeom>
          <a:solidFill>
            <a:srgbClr val="F2F5F9"/>
          </a:solidFill>
          <a:ln w="9525">
            <a:solidFill>
              <a:srgbClr val="D2DDE9"/>
            </a:solidFill>
            <a:prstDash val="solid"/>
          </a:ln>
        </p:spPr>
      </p:sp>
      <p:sp>
        <p:nvSpPr>
          <p:cNvPr id="26" name="Shape 24"/>
          <p:cNvSpPr/>
          <p:nvPr/>
        </p:nvSpPr>
        <p:spPr>
          <a:xfrm>
            <a:off x="9265158" y="1536192"/>
            <a:ext cx="256032" cy="256032"/>
          </a:xfrm>
          <a:prstGeom prst="roundRect">
            <a:avLst>
              <a:gd name="adj" fmla="val 17857"/>
            </a:avLst>
          </a:prstGeom>
          <a:solidFill>
            <a:srgbClr val="13456E"/>
          </a:solidFill>
          <a:ln/>
        </p:spPr>
      </p:sp>
      <p:sp>
        <p:nvSpPr>
          <p:cNvPr id="27" name="Text 25"/>
          <p:cNvSpPr txBox="1"/>
          <p:nvPr/>
        </p:nvSpPr>
        <p:spPr>
          <a:xfrm>
            <a:off x="9265158" y="153619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8" name="Text 26"/>
          <p:cNvSpPr txBox="1"/>
          <p:nvPr/>
        </p:nvSpPr>
        <p:spPr>
          <a:xfrm>
            <a:off x="9594342" y="1536192"/>
            <a:ext cx="1963674" cy="256032"/>
          </a:xfrm>
          <a:prstGeom prst="rect">
            <a:avLst/>
          </a:prstGeom>
          <a:noFill/>
          <a:ln/>
        </p:spPr>
        <p:txBody>
          <a:bodyPr wrap="square" lIns="0" tIns="0" rIns="0" bIns="0" rtlCol="0" anchor="ctr"/>
          <a:lstStyle/>
          <a:p>
            <a:pPr indent="0" marL="0">
              <a:buNone/>
            </a:pPr>
            <a:r>
              <a:rPr lang="en-US" sz="1150" b="1" dirty="0">
                <a:solidFill>
                  <a:srgbClr val="0E1B2A"/>
                </a:solidFill>
                <a:latin typeface="Calibri" pitchFamily="34" charset="0"/>
                <a:ea typeface="Calibri" pitchFamily="34" charset="-122"/>
                <a:cs typeface="Calibri" pitchFamily="34" charset="-120"/>
              </a:rPr>
              <a:t>Example clarification</a:t>
            </a:r>
            <a:endParaRPr lang="en-US" sz="1150" dirty="0"/>
          </a:p>
        </p:txBody>
      </p:sp>
      <p:sp>
        <p:nvSpPr>
          <p:cNvPr id="29" name="Text 27"/>
          <p:cNvSpPr txBox="1"/>
          <p:nvPr/>
        </p:nvSpPr>
        <p:spPr>
          <a:xfrm>
            <a:off x="9265158" y="1865376"/>
            <a:ext cx="2292858" cy="365760"/>
          </a:xfrm>
          <a:prstGeom prst="rect">
            <a:avLst/>
          </a:prstGeom>
          <a:noFill/>
          <a:ln/>
        </p:spPr>
        <p:txBody>
          <a:bodyPr wrap="square" lIns="0" tIns="0" rIns="0" bIns="0" rtlCol="0" anchor="t"/>
          <a:lstStyle/>
          <a:p>
            <a:pPr indent="0" marL="0">
              <a:lnSpc>
                <a:spcPts val="1250"/>
              </a:lnSpc>
              <a:buNone/>
            </a:pPr>
            <a:r>
              <a:rPr lang="en-US" sz="1000" i="1" dirty="0">
                <a:solidFill>
                  <a:srgbClr val="2B3A4C"/>
                </a:solidFill>
                <a:latin typeface="Calibri" pitchFamily="34" charset="0"/>
                <a:ea typeface="Calibri" pitchFamily="34" charset="-122"/>
                <a:cs typeface="Calibri" pitchFamily="34" charset="-120"/>
              </a:rPr>
              <a:t>“Please specify…”</a:t>
            </a:r>
            <a:endParaRPr lang="en-US" sz="1000" dirty="0"/>
          </a:p>
        </p:txBody>
      </p:sp>
      <p:sp>
        <p:nvSpPr>
          <p:cNvPr id="30" name="Text 28"/>
          <p:cNvSpPr txBox="1"/>
          <p:nvPr/>
        </p:nvSpPr>
        <p:spPr>
          <a:xfrm>
            <a:off x="502920" y="2395728"/>
            <a:ext cx="11183112" cy="201168"/>
          </a:xfrm>
          <a:prstGeom prst="rect">
            <a:avLst/>
          </a:prstGeom>
          <a:noFill/>
          <a:ln/>
        </p:spPr>
        <p:txBody>
          <a:bodyPr wrap="square" lIns="0" tIns="0" rIns="0" bIns="0" rtlCol="0" anchor="t"/>
          <a:lstStyle/>
          <a:p>
            <a:pPr indent="0" marL="0">
              <a:buNone/>
            </a:pPr>
            <a:r>
              <a:rPr lang="en-US" sz="1000" i="1" dirty="0">
                <a:solidFill>
                  <a:srgbClr val="56677C"/>
                </a:solidFill>
                <a:latin typeface="Calibri" pitchFamily="34" charset="0"/>
                <a:ea typeface="Calibri" pitchFamily="34" charset="-122"/>
                <a:cs typeface="Calibri" pitchFamily="34" charset="-120"/>
              </a:rPr>
              <a:t>Add these at the end of your general instructions so Genie prioritises the behaviour.  [OFF-1]</a:t>
            </a:r>
            <a:endParaRPr lang="en-US" sz="1000" dirty="0"/>
          </a:p>
        </p:txBody>
      </p:sp>
      <p:sp>
        <p:nvSpPr>
          <p:cNvPr id="31" name="Shape 29"/>
          <p:cNvSpPr/>
          <p:nvPr/>
        </p:nvSpPr>
        <p:spPr>
          <a:xfrm>
            <a:off x="502920" y="2743200"/>
            <a:ext cx="5504688" cy="2121408"/>
          </a:xfrm>
          <a:prstGeom prst="roundRect">
            <a:avLst>
              <a:gd name="adj" fmla="val 2586"/>
            </a:avLst>
          </a:prstGeom>
          <a:solidFill>
            <a:srgbClr val="E4ECF4"/>
          </a:solidFill>
          <a:ln w="9525">
            <a:solidFill>
              <a:srgbClr val="D2DDE9"/>
            </a:solidFill>
            <a:prstDash val="solid"/>
          </a:ln>
        </p:spPr>
      </p:sp>
      <p:sp>
        <p:nvSpPr>
          <p:cNvPr id="32" name="Text 30"/>
          <p:cNvSpPr txBox="1"/>
          <p:nvPr/>
        </p:nvSpPr>
        <p:spPr>
          <a:xfrm>
            <a:off x="685800" y="2871216"/>
            <a:ext cx="5138928" cy="256032"/>
          </a:xfrm>
          <a:prstGeom prst="rect">
            <a:avLst/>
          </a:prstGeom>
          <a:noFill/>
          <a:ln/>
        </p:spPr>
        <p:txBody>
          <a:bodyPr wrap="square" lIns="0" tIns="0" rIns="0" bIns="0" rtlCol="0" anchor="t"/>
          <a:lstStyle/>
          <a:p>
            <a:pPr indent="0" marL="0">
              <a:buNone/>
            </a:pPr>
            <a:r>
              <a:rPr lang="en-US" sz="1300" b="1" dirty="0">
                <a:solidFill>
                  <a:srgbClr val="0E1B2A"/>
                </a:solidFill>
                <a:latin typeface="Calibri" pitchFamily="34" charset="0"/>
                <a:ea typeface="Calibri" pitchFamily="34" charset="-122"/>
                <a:cs typeface="Calibri" pitchFamily="34" charset="-120"/>
              </a:rPr>
              <a:t>Summaries  [OFF-1]</a:t>
            </a:r>
            <a:endParaRPr lang="en-US" sz="1300" dirty="0"/>
          </a:p>
        </p:txBody>
      </p:sp>
      <p:sp>
        <p:nvSpPr>
          <p:cNvPr id="33" name="Text 31"/>
          <p:cNvSpPr txBox="1"/>
          <p:nvPr/>
        </p:nvSpPr>
        <p:spPr>
          <a:xfrm>
            <a:off x="685800" y="3163824"/>
            <a:ext cx="5138928" cy="969264"/>
          </a:xfrm>
          <a:prstGeom prst="rect">
            <a:avLst/>
          </a:prstGeom>
          <a:noFill/>
          <a:ln/>
        </p:spPr>
        <p:txBody>
          <a:bodyPr wrap="square" lIns="0" tIns="0" rIns="0" bIns="0" rtlCol="0" anchor="t"/>
          <a:lstStyle/>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Add a section at the end of the text instructions headed “Instructions you must follow when providing summaries”.</a:t>
            </a:r>
            <a:endParaRPr lang="en-US" sz="1000" dirty="0"/>
          </a:p>
          <a:p>
            <a:pPr marL="152400" indent="-152400">
              <a:lnSpc>
                <a:spcPts val="1350"/>
              </a:lnSpc>
              <a:spcAft>
                <a:spcPts val="400"/>
              </a:spcAft>
              <a:buSzPct val="100000"/>
              <a:buChar char="•"/>
            </a:pPr>
            <a:r>
              <a:rPr lang="en-US" sz="1000" dirty="0">
                <a:solidFill>
                  <a:srgbClr val="2B3A4C"/>
                </a:solidFill>
                <a:latin typeface="Calibri" pitchFamily="34" charset="0"/>
                <a:ea typeface="Calibri" pitchFamily="34" charset="-122"/>
                <a:cs typeface="Calibri" pitchFamily="34" charset="-120"/>
              </a:rPr>
              <a:t>Documented examples: respond in a specified language; cite the table and column names used; use bullet points for multi-part summaries; include the date range covered.</a:t>
            </a:r>
            <a:endParaRPr lang="en-US" sz="1000" dirty="0"/>
          </a:p>
        </p:txBody>
      </p:sp>
      <p:sp>
        <p:nvSpPr>
          <p:cNvPr id="34" name="Text 32"/>
          <p:cNvSpPr txBox="1"/>
          <p:nvPr/>
        </p:nvSpPr>
        <p:spPr>
          <a:xfrm>
            <a:off x="685800" y="4206240"/>
            <a:ext cx="5138928" cy="603504"/>
          </a:xfrm>
          <a:prstGeom prst="rect">
            <a:avLst/>
          </a:prstGeom>
          <a:noFill/>
          <a:ln/>
        </p:spPr>
        <p:txBody>
          <a:bodyPr wrap="square" lIns="0" tIns="0" rIns="0" bIns="0" rtlCol="0" anchor="t"/>
          <a:lstStyle/>
          <a:p>
            <a:pPr indent="0" marL="0">
              <a:lnSpc>
                <a:spcPts val="1250"/>
              </a:lnSpc>
              <a:buNone/>
            </a:pPr>
            <a:r>
              <a:rPr lang="en-US" sz="950" dirty="0">
                <a:solidFill>
                  <a:srgbClr val="B3321E"/>
                </a:solidFill>
                <a:latin typeface="Calibri" pitchFamily="34" charset="0"/>
                <a:ea typeface="Calibri" pitchFamily="34" charset="-122"/>
                <a:cs typeface="Calibri" pitchFamily="34" charset="-120"/>
              </a:rPr>
              <a:t>Constraint: only text instructions affect summary generation — SQL examples and SQL expressions do not. Some customisations are not available, such as controlling summary length and detail level. Place this block last so Genie prioritises it.</a:t>
            </a:r>
            <a:endParaRPr lang="en-US" sz="950" dirty="0"/>
          </a:p>
        </p:txBody>
      </p:sp>
      <p:sp>
        <p:nvSpPr>
          <p:cNvPr id="35" name="Text 33"/>
          <p:cNvSpPr txBox="1"/>
          <p:nvPr/>
        </p:nvSpPr>
        <p:spPr>
          <a:xfrm>
            <a:off x="6181344" y="2523744"/>
            <a:ext cx="5504688"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TIMEZONE HANDLING  [OFF-5]</a:t>
            </a:r>
            <a:endParaRPr lang="en-US" sz="850" dirty="0"/>
          </a:p>
        </p:txBody>
      </p:sp>
      <p:sp>
        <p:nvSpPr>
          <p:cNvPr id="36" name="Text 34"/>
          <p:cNvSpPr txBox="1"/>
          <p:nvPr/>
        </p:nvSpPr>
        <p:spPr>
          <a:xfrm>
            <a:off x="6181344" y="2743200"/>
            <a:ext cx="5504688" cy="38404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Genie cannot always infer the timezone in the data, or the one your analysis needs. Name the source timezone, the conversion function and the target timezone explicitly.</a:t>
            </a:r>
            <a:endParaRPr lang="en-US" sz="1000" dirty="0"/>
          </a:p>
        </p:txBody>
      </p:sp>
      <p:sp>
        <p:nvSpPr>
          <p:cNvPr id="37" name="Shape 35"/>
          <p:cNvSpPr/>
          <p:nvPr/>
        </p:nvSpPr>
        <p:spPr>
          <a:xfrm>
            <a:off x="6181344" y="3163824"/>
            <a:ext cx="5504688" cy="1700784"/>
          </a:xfrm>
          <a:prstGeom prst="roundRect">
            <a:avLst>
              <a:gd name="adj" fmla="val 2688"/>
            </a:avLst>
          </a:prstGeom>
          <a:solidFill>
            <a:srgbClr val="0E1B2A"/>
          </a:solidFill>
          <a:ln/>
        </p:spPr>
      </p:sp>
      <p:sp>
        <p:nvSpPr>
          <p:cNvPr id="38" name="Text 36"/>
          <p:cNvSpPr txBox="1"/>
          <p:nvPr/>
        </p:nvSpPr>
        <p:spPr>
          <a:xfrm>
            <a:off x="6364224" y="3282696"/>
            <a:ext cx="5138928" cy="201168"/>
          </a:xfrm>
          <a:prstGeom prst="rect">
            <a:avLst/>
          </a:prstGeom>
          <a:noFill/>
          <a:ln/>
        </p:spPr>
        <p:txBody>
          <a:bodyPr wrap="square" lIns="0" tIns="0" rIns="0" bIns="0" rtlCol="0" anchor="t"/>
          <a:lstStyle/>
          <a:p>
            <a:pPr indent="0" marL="0">
              <a:buNone/>
            </a:pPr>
            <a:r>
              <a:rPr lang="en-US" sz="850" b="1" spc="160" kern="0" dirty="0">
                <a:solidFill>
                  <a:srgbClr val="F0A34A"/>
                </a:solidFill>
                <a:latin typeface="Calibri" pitchFamily="34" charset="0"/>
                <a:ea typeface="Calibri" pitchFamily="34" charset="-122"/>
                <a:cs typeface="Calibri" pitchFamily="34" charset="-120"/>
              </a:rPr>
              <a:t>DOCUMENTED PATTERNS</a:t>
            </a:r>
            <a:endParaRPr lang="en-US" sz="850" dirty="0"/>
          </a:p>
        </p:txBody>
      </p:sp>
      <p:sp>
        <p:nvSpPr>
          <p:cNvPr id="39" name="Text 37"/>
          <p:cNvSpPr txBox="1"/>
          <p:nvPr/>
        </p:nvSpPr>
        <p:spPr>
          <a:xfrm>
            <a:off x="6364224" y="3547872"/>
            <a:ext cx="5138928" cy="1170432"/>
          </a:xfrm>
          <a:prstGeom prst="rect">
            <a:avLst/>
          </a:prstGeom>
          <a:noFill/>
          <a:ln/>
        </p:spPr>
        <p:txBody>
          <a:bodyPr wrap="square" lIns="0" tIns="0" rIns="0" bIns="0" rtlCol="0" anchor="t"/>
          <a:lstStyle/>
          <a:p>
            <a:pPr indent="0" marL="0">
              <a:lnSpc>
                <a:spcPts val="1200"/>
              </a:lnSpc>
              <a:buNone/>
            </a:pPr>
            <a:r>
              <a:rPr lang="en-US" sz="850" dirty="0">
                <a:solidFill>
                  <a:srgbClr val="8FA5BC"/>
                </a:solidFill>
                <a:latin typeface="Courier New" pitchFamily="34" charset="0"/>
                <a:ea typeface="Courier New" pitchFamily="34" charset="-122"/>
                <a:cs typeface="Courier New" pitchFamily="34" charset="-120"/>
              </a:rPr>
              <a:t>-- table times are UTC:</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convert_timezone('UTC', 'America/Los_Angeles',</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                 &lt;timezone-column&gt;)</a:t>
            </a:r>
            <a:endParaRPr lang="en-US" sz="850" dirty="0"/>
          </a:p>
          <a:p>
            <a:pPr indent="0" marL="0">
              <a:lnSpc>
                <a:spcPts val="1200"/>
              </a:lnSpc>
              <a:buNone/>
            </a:pPr>
            <a:endParaRPr lang="en-US" sz="850" dirty="0"/>
          </a:p>
          <a:p>
            <a:pPr indent="0" marL="0">
              <a:lnSpc>
                <a:spcPts val="1200"/>
              </a:lnSpc>
              <a:buNone/>
            </a:pPr>
            <a:r>
              <a:rPr lang="en-US" sz="850" dirty="0">
                <a:solidFill>
                  <a:srgbClr val="8FA5BC"/>
                </a:solidFill>
                <a:latin typeface="Courier New" pitchFamily="34" charset="0"/>
                <a:ea typeface="Courier New" pitchFamily="34" charset="-122"/>
                <a:cs typeface="Courier New" pitchFamily="34" charset="-120"/>
              </a:rPr>
              <a:t>-- define "today" for users in another zone:</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date(convert_timezone('UTC',</a:t>
            </a:r>
            <a:endParaRPr lang="en-US" sz="850" dirty="0"/>
          </a:p>
          <a:p>
            <a:pPr indent="0" marL="0">
              <a:lnSpc>
                <a:spcPts val="1200"/>
              </a:lnSpc>
              <a:buNone/>
            </a:pPr>
            <a:r>
              <a:rPr lang="en-US" sz="850" dirty="0">
                <a:solidFill>
                  <a:srgbClr val="DCE6F2"/>
                </a:solidFill>
                <a:latin typeface="Courier New" pitchFamily="34" charset="0"/>
                <a:ea typeface="Courier New" pitchFamily="34" charset="-122"/>
                <a:cs typeface="Courier New" pitchFamily="34" charset="-120"/>
              </a:rPr>
              <a:t>     'America/Los_Angeles', current_timestamp()))</a:t>
            </a:r>
            <a:endParaRPr lang="en-US" sz="850" dirty="0"/>
          </a:p>
        </p:txBody>
      </p:sp>
      <p:sp>
        <p:nvSpPr>
          <p:cNvPr id="40" name="Text 38"/>
          <p:cNvSpPr txBox="1"/>
          <p:nvPr/>
        </p:nvSpPr>
        <p:spPr>
          <a:xfrm>
            <a:off x="502920" y="5010912"/>
            <a:ext cx="11183112" cy="182880"/>
          </a:xfrm>
          <a:prstGeom prst="rect">
            <a:avLst/>
          </a:prstGeom>
          <a:noFill/>
          <a:ln/>
        </p:spPr>
        <p:txBody>
          <a:bodyPr wrap="square" lIns="0" tIns="0" rIns="0" bIns="0" rtlCol="0" anchor="t"/>
          <a:lstStyle/>
          <a:p>
            <a:pPr indent="0" marL="0">
              <a:buNone/>
            </a:pPr>
            <a:r>
              <a:rPr lang="en-US" sz="850" b="1" spc="130" kern="0" dirty="0">
                <a:solidFill>
                  <a:srgbClr val="56677C"/>
                </a:solidFill>
                <a:latin typeface="Calibri" pitchFamily="34" charset="0"/>
                <a:ea typeface="Calibri" pitchFamily="34" charset="-122"/>
                <a:cs typeface="Calibri" pitchFamily="34" charset="-120"/>
              </a:rPr>
              <a:t>JUSTIFICATION TEMPLATE — COMPLETE THIS BEFORE ADDING ANY TEXT INSTRUCTION  [GH-1]</a:t>
            </a:r>
            <a:endParaRPr lang="en-US" sz="850" dirty="0"/>
          </a:p>
        </p:txBody>
      </p:sp>
      <p:sp>
        <p:nvSpPr>
          <p:cNvPr id="41" name="Shape 39"/>
          <p:cNvSpPr/>
          <p:nvPr/>
        </p:nvSpPr>
        <p:spPr>
          <a:xfrm>
            <a:off x="502920" y="5193792"/>
            <a:ext cx="11183112" cy="1097280"/>
          </a:xfrm>
          <a:prstGeom prst="roundRect">
            <a:avLst>
              <a:gd name="adj" fmla="val 4167"/>
            </a:avLst>
          </a:prstGeom>
          <a:solidFill>
            <a:srgbClr val="0E1B2A"/>
          </a:solidFill>
          <a:ln/>
        </p:spPr>
      </p:sp>
      <p:sp>
        <p:nvSpPr>
          <p:cNvPr id="42" name="Text 40"/>
          <p:cNvSpPr txBox="1"/>
          <p:nvPr/>
        </p:nvSpPr>
        <p:spPr>
          <a:xfrm>
            <a:off x="685800" y="5340096"/>
            <a:ext cx="10817352" cy="804672"/>
          </a:xfrm>
          <a:prstGeom prst="rect">
            <a:avLst/>
          </a:prstGeom>
          <a:noFill/>
          <a:ln/>
        </p:spPr>
        <p:txBody>
          <a:bodyPr wrap="square" lIns="0" tIns="0" rIns="0" bIns="0" rtlCol="0" anchor="t"/>
          <a:lstStyle/>
          <a:p>
            <a:pPr indent="0" marL="0">
              <a:lnSpc>
                <a:spcPts val="1300"/>
              </a:lnSpc>
              <a:buNone/>
            </a:pPr>
            <a:r>
              <a:rPr lang="en-US" sz="950" b="1" dirty="0">
                <a:solidFill>
                  <a:srgbClr val="F0A34A"/>
                </a:solidFill>
                <a:latin typeface="Courier New" pitchFamily="34" charset="0"/>
                <a:ea typeface="Courier New" pitchFamily="34" charset="-122"/>
                <a:cs typeface="Courier New" pitchFamily="34" charset="-120"/>
              </a:rPr>
              <a:t>## Text Instruction Justification</a:t>
            </a:r>
            <a:endParaRPr lang="en-US" sz="950" dirty="0"/>
          </a:p>
          <a:p>
            <a:pPr indent="0" marL="0">
              <a:lnSpc>
                <a:spcPts val="1300"/>
              </a:lnSpc>
              <a:buNone/>
            </a:pPr>
            <a:endParaRPr lang="en-US" sz="950" dirty="0"/>
          </a:p>
          <a:p>
            <a:pPr indent="0" marL="0">
              <a:lnSpc>
                <a:spcPts val="1300"/>
              </a:lnSpc>
              <a:buNone/>
            </a:pPr>
            <a:r>
              <a:rPr lang="en-US" sz="950" dirty="0">
                <a:solidFill>
                  <a:srgbClr val="DCE6F2"/>
                </a:solidFill>
                <a:latin typeface="Courier New" pitchFamily="34" charset="0"/>
                <a:ea typeface="Courier New" pitchFamily="34" charset="-122"/>
                <a:cs typeface="Courier New" pitchFamily="34" charset="-120"/>
              </a:rPr>
              <a:t>- Exact instruction text:                    - Possible overreach or regression risk:</a:t>
            </a:r>
            <a:endParaRPr lang="en-US" sz="950" dirty="0"/>
          </a:p>
          <a:p>
            <a:pPr indent="0" marL="0">
              <a:lnSpc>
                <a:spcPts val="1300"/>
              </a:lnSpc>
              <a:buNone/>
            </a:pPr>
            <a:r>
              <a:rPr lang="en-US" sz="950" dirty="0">
                <a:solidFill>
                  <a:srgbClr val="DCE6F2"/>
                </a:solidFill>
                <a:latin typeface="Courier New" pitchFamily="34" charset="0"/>
                <a:ea typeface="Courier New" pitchFamily="34" charset="-122"/>
                <a:cs typeface="Courier New" pitchFamily="34" charset="-120"/>
              </a:rPr>
              <a:t>- Why structured surfaces were insufficient: - How the instruction will be reviewed or validated:</a:t>
            </a:r>
            <a:endParaRPr lang="en-US" sz="950" dirty="0"/>
          </a:p>
          <a:p>
            <a:pPr indent="0" marL="0">
              <a:lnSpc>
                <a:spcPts val="1300"/>
              </a:lnSpc>
              <a:buNone/>
            </a:pPr>
            <a:r>
              <a:rPr lang="en-US" sz="950" dirty="0">
                <a:solidFill>
                  <a:srgbClr val="DCE6F2"/>
                </a:solidFill>
                <a:latin typeface="Courier New" pitchFamily="34" charset="0"/>
                <a:ea typeface="Courier New" pitchFamily="34" charset="-122"/>
                <a:cs typeface="Courier New" pitchFamily="34" charset="-120"/>
              </a:rPr>
              <a:t>- Intended global behavior:</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09</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Metric Views</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Governed semantics beat agent-level workarounds. Where a Metric View exists, it owns the definition.</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Rules for sourcing Metric Views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When a base view is justified</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Export an agent as a metric view</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Fixing metric calculation problems</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9.1 METRIC VIEWS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Treat them as governed semantic sources [GH-1] [OFF-1] [OFF-3] [OFF-5]</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32</a:t>
            </a:r>
            <a:endParaRPr lang="en-US" sz="800" dirty="0"/>
          </a:p>
        </p:txBody>
      </p:sp>
      <p:sp>
        <p:nvSpPr>
          <p:cNvPr id="6" name="Shape 4"/>
          <p:cNvSpPr/>
          <p:nvPr/>
        </p:nvSpPr>
        <p:spPr>
          <a:xfrm>
            <a:off x="502920" y="1207008"/>
            <a:ext cx="3605784" cy="1417320"/>
          </a:xfrm>
          <a:prstGeom prst="roundRect">
            <a:avLst>
              <a:gd name="adj" fmla="val 3871"/>
            </a:avLst>
          </a:prstGeom>
          <a:solidFill>
            <a:srgbClr val="F2F5F9"/>
          </a:solidFill>
          <a:ln w="9525">
            <a:solidFill>
              <a:srgbClr val="D2DDE9"/>
            </a:solidFill>
            <a:prstDash val="solid"/>
          </a:ln>
        </p:spPr>
      </p:sp>
      <p:sp>
        <p:nvSpPr>
          <p:cNvPr id="7" name="Shape 5"/>
          <p:cNvSpPr/>
          <p:nvPr/>
        </p:nvSpPr>
        <p:spPr>
          <a:xfrm>
            <a:off x="649224" y="1344168"/>
            <a:ext cx="256032" cy="256032"/>
          </a:xfrm>
          <a:prstGeom prst="roundRect">
            <a:avLst>
              <a:gd name="adj" fmla="val 17857"/>
            </a:avLst>
          </a:prstGeom>
          <a:solidFill>
            <a:srgbClr val="13456E"/>
          </a:solidFill>
          <a:ln/>
        </p:spPr>
      </p:sp>
      <p:sp>
        <p:nvSpPr>
          <p:cNvPr id="8" name="Text 6"/>
          <p:cNvSpPr txBox="1"/>
          <p:nvPr/>
        </p:nvSpPr>
        <p:spPr>
          <a:xfrm>
            <a:off x="649224"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96696" y="1335024"/>
            <a:ext cx="296570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Source a single fact table directly</a:t>
            </a:r>
            <a:endParaRPr lang="en-US" sz="1150" dirty="0"/>
          </a:p>
        </p:txBody>
      </p:sp>
      <p:sp>
        <p:nvSpPr>
          <p:cNvPr id="10" name="Text 8"/>
          <p:cNvSpPr txBox="1"/>
          <p:nvPr/>
        </p:nvSpPr>
        <p:spPr>
          <a:xfrm>
            <a:off x="649224" y="1773936"/>
            <a:ext cx="3313176" cy="7315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Do not build an intermediate base view for it. Add dimension joins in the Metric View's joins block instead. Base views are for KPIs combining multiple fact tables, or needing nested logic the Metric View cannot express.</a:t>
            </a:r>
            <a:endParaRPr lang="en-US" sz="1000" dirty="0"/>
          </a:p>
        </p:txBody>
      </p:sp>
      <p:sp>
        <p:nvSpPr>
          <p:cNvPr id="11" name="Shape 9"/>
          <p:cNvSpPr/>
          <p:nvPr/>
        </p:nvSpPr>
        <p:spPr>
          <a:xfrm>
            <a:off x="4291584" y="1207008"/>
            <a:ext cx="3605784" cy="1417320"/>
          </a:xfrm>
          <a:prstGeom prst="roundRect">
            <a:avLst>
              <a:gd name="adj" fmla="val 3871"/>
            </a:avLst>
          </a:prstGeom>
          <a:solidFill>
            <a:srgbClr val="F2F5F9"/>
          </a:solidFill>
          <a:ln w="9525">
            <a:solidFill>
              <a:srgbClr val="D2DDE9"/>
            </a:solidFill>
            <a:prstDash val="solid"/>
          </a:ln>
        </p:spPr>
      </p:sp>
      <p:sp>
        <p:nvSpPr>
          <p:cNvPr id="12" name="Shape 10"/>
          <p:cNvSpPr/>
          <p:nvPr/>
        </p:nvSpPr>
        <p:spPr>
          <a:xfrm>
            <a:off x="4437888" y="1344168"/>
            <a:ext cx="256032" cy="256032"/>
          </a:xfrm>
          <a:prstGeom prst="roundRect">
            <a:avLst>
              <a:gd name="adj" fmla="val 17857"/>
            </a:avLst>
          </a:prstGeom>
          <a:solidFill>
            <a:srgbClr val="13456E"/>
          </a:solidFill>
          <a:ln/>
        </p:spPr>
      </p:sp>
      <p:sp>
        <p:nvSpPr>
          <p:cNvPr id="13" name="Text 11"/>
          <p:cNvSpPr txBox="1"/>
          <p:nvPr/>
        </p:nvSpPr>
        <p:spPr>
          <a:xfrm>
            <a:off x="4437888"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4785360" y="1335024"/>
            <a:ext cx="296570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Do not attach the raw tables too</a:t>
            </a:r>
            <a:endParaRPr lang="en-US" sz="1150" dirty="0"/>
          </a:p>
        </p:txBody>
      </p:sp>
      <p:sp>
        <p:nvSpPr>
          <p:cNvPr id="15" name="Text 13"/>
          <p:cNvSpPr txBox="1"/>
          <p:nvPr/>
        </p:nvSpPr>
        <p:spPr>
          <a:xfrm>
            <a:off x="4437888" y="1773936"/>
            <a:ext cx="3313176" cy="7315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Unless users also need raw-detail questions. Attaching both is the top anti-pattern: Genie sees unaggregated rows and must re-derive aggregation logic it was given for free.</a:t>
            </a:r>
            <a:endParaRPr lang="en-US" sz="1000" dirty="0"/>
          </a:p>
        </p:txBody>
      </p:sp>
      <p:sp>
        <p:nvSpPr>
          <p:cNvPr id="16" name="Shape 14"/>
          <p:cNvSpPr/>
          <p:nvPr/>
        </p:nvSpPr>
        <p:spPr>
          <a:xfrm>
            <a:off x="8080248" y="1207008"/>
            <a:ext cx="3605784" cy="1417320"/>
          </a:xfrm>
          <a:prstGeom prst="roundRect">
            <a:avLst>
              <a:gd name="adj" fmla="val 3871"/>
            </a:avLst>
          </a:prstGeom>
          <a:solidFill>
            <a:srgbClr val="F2F5F9"/>
          </a:solidFill>
          <a:ln w="9525">
            <a:solidFill>
              <a:srgbClr val="D2DDE9"/>
            </a:solidFill>
            <a:prstDash val="solid"/>
          </a:ln>
        </p:spPr>
      </p:sp>
      <p:sp>
        <p:nvSpPr>
          <p:cNvPr id="17" name="Shape 15"/>
          <p:cNvSpPr/>
          <p:nvPr/>
        </p:nvSpPr>
        <p:spPr>
          <a:xfrm>
            <a:off x="8226552" y="1344168"/>
            <a:ext cx="256032" cy="256032"/>
          </a:xfrm>
          <a:prstGeom prst="roundRect">
            <a:avLst>
              <a:gd name="adj" fmla="val 17857"/>
            </a:avLst>
          </a:prstGeom>
          <a:solidFill>
            <a:srgbClr val="13456E"/>
          </a:solidFill>
          <a:ln/>
        </p:spPr>
      </p:sp>
      <p:sp>
        <p:nvSpPr>
          <p:cNvPr id="18" name="Text 16"/>
          <p:cNvSpPr txBox="1"/>
          <p:nvPr/>
        </p:nvSpPr>
        <p:spPr>
          <a:xfrm>
            <a:off x="8226552"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8574024" y="1335024"/>
            <a:ext cx="296570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The formula lives once</a:t>
            </a:r>
            <a:endParaRPr lang="en-US" sz="1150" dirty="0"/>
          </a:p>
        </p:txBody>
      </p:sp>
      <p:sp>
        <p:nvSpPr>
          <p:cNvPr id="20" name="Text 18"/>
          <p:cNvSpPr txBox="1"/>
          <p:nvPr/>
        </p:nvSpPr>
        <p:spPr>
          <a:xfrm>
            <a:off x="8226552" y="1773936"/>
            <a:ext cx="3313176" cy="7315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Do not duplicate Metric View formulas in snippets or examples unless the example teaches a query shape. Reference the formula via MEASURE().</a:t>
            </a:r>
            <a:endParaRPr lang="en-US" sz="1000" dirty="0"/>
          </a:p>
        </p:txBody>
      </p:sp>
      <p:sp>
        <p:nvSpPr>
          <p:cNvPr id="21" name="Shape 19"/>
          <p:cNvSpPr/>
          <p:nvPr/>
        </p:nvSpPr>
        <p:spPr>
          <a:xfrm>
            <a:off x="502920" y="2807208"/>
            <a:ext cx="3605784" cy="1417320"/>
          </a:xfrm>
          <a:prstGeom prst="roundRect">
            <a:avLst>
              <a:gd name="adj" fmla="val 3871"/>
            </a:avLst>
          </a:prstGeom>
          <a:solidFill>
            <a:srgbClr val="F2F5F9"/>
          </a:solidFill>
          <a:ln w="9525">
            <a:solidFill>
              <a:srgbClr val="D2DDE9"/>
            </a:solidFill>
            <a:prstDash val="solid"/>
          </a:ln>
        </p:spPr>
      </p:sp>
      <p:sp>
        <p:nvSpPr>
          <p:cNvPr id="22" name="Shape 20"/>
          <p:cNvSpPr/>
          <p:nvPr/>
        </p:nvSpPr>
        <p:spPr>
          <a:xfrm>
            <a:off x="649224" y="2944368"/>
            <a:ext cx="256032" cy="256032"/>
          </a:xfrm>
          <a:prstGeom prst="roundRect">
            <a:avLst>
              <a:gd name="adj" fmla="val 17857"/>
            </a:avLst>
          </a:prstGeom>
          <a:solidFill>
            <a:srgbClr val="13456E"/>
          </a:solidFill>
          <a:ln/>
        </p:spPr>
      </p:sp>
      <p:sp>
        <p:nvSpPr>
          <p:cNvPr id="23" name="Text 21"/>
          <p:cNvSpPr txBox="1"/>
          <p:nvPr/>
        </p:nvSpPr>
        <p:spPr>
          <a:xfrm>
            <a:off x="649224" y="29443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996696" y="2935224"/>
            <a:ext cx="296570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Report upstream gaps, do not patch them</a:t>
            </a:r>
            <a:endParaRPr lang="en-US" sz="1150" dirty="0"/>
          </a:p>
        </p:txBody>
      </p:sp>
      <p:sp>
        <p:nvSpPr>
          <p:cNvPr id="25" name="Text 23"/>
          <p:cNvSpPr txBox="1"/>
          <p:nvPr/>
        </p:nvSpPr>
        <p:spPr>
          <a:xfrm>
            <a:off x="649224" y="3374136"/>
            <a:ext cx="3313176" cy="7315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If the semantic model is wrong or missing a governed measure, dimension, join or filter, document it as an upstream modeling issue rather than working around it with broad Genie instructions.</a:t>
            </a:r>
            <a:endParaRPr lang="en-US" sz="1000" dirty="0"/>
          </a:p>
        </p:txBody>
      </p:sp>
      <p:sp>
        <p:nvSpPr>
          <p:cNvPr id="26" name="Shape 24"/>
          <p:cNvSpPr/>
          <p:nvPr/>
        </p:nvSpPr>
        <p:spPr>
          <a:xfrm>
            <a:off x="4291584" y="2807208"/>
            <a:ext cx="3605784" cy="1417320"/>
          </a:xfrm>
          <a:prstGeom prst="roundRect">
            <a:avLst>
              <a:gd name="adj" fmla="val 3871"/>
            </a:avLst>
          </a:prstGeom>
          <a:solidFill>
            <a:srgbClr val="F2F5F9"/>
          </a:solidFill>
          <a:ln w="9525">
            <a:solidFill>
              <a:srgbClr val="D2DDE9"/>
            </a:solidFill>
            <a:prstDash val="solid"/>
          </a:ln>
        </p:spPr>
      </p:sp>
      <p:sp>
        <p:nvSpPr>
          <p:cNvPr id="27" name="Shape 25"/>
          <p:cNvSpPr/>
          <p:nvPr/>
        </p:nvSpPr>
        <p:spPr>
          <a:xfrm>
            <a:off x="4437888" y="2944368"/>
            <a:ext cx="256032" cy="256032"/>
          </a:xfrm>
          <a:prstGeom prst="roundRect">
            <a:avLst>
              <a:gd name="adj" fmla="val 17857"/>
            </a:avLst>
          </a:prstGeom>
          <a:solidFill>
            <a:srgbClr val="13456E"/>
          </a:solidFill>
          <a:ln/>
        </p:spPr>
      </p:sp>
      <p:sp>
        <p:nvSpPr>
          <p:cNvPr id="28" name="Text 26"/>
          <p:cNvSpPr txBox="1"/>
          <p:nvPr/>
        </p:nvSpPr>
        <p:spPr>
          <a:xfrm>
            <a:off x="4437888" y="29443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4785360" y="2935224"/>
            <a:ext cx="296570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Query hygiene</a:t>
            </a:r>
            <a:endParaRPr lang="en-US" sz="1150" dirty="0"/>
          </a:p>
        </p:txBody>
      </p:sp>
      <p:sp>
        <p:nvSpPr>
          <p:cNvPr id="30" name="Text 28"/>
          <p:cNvSpPr txBox="1"/>
          <p:nvPr/>
        </p:nvSpPr>
        <p:spPr>
          <a:xfrm>
            <a:off x="4437888" y="3374136"/>
            <a:ext cx="3313176" cy="7315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No SELECT * against Metric Views in examples or benchmarks. Wrap a Metric View query in a CTE before joining it to another source.</a:t>
            </a:r>
            <a:endParaRPr lang="en-US" sz="1000" dirty="0"/>
          </a:p>
        </p:txBody>
      </p:sp>
      <p:sp>
        <p:nvSpPr>
          <p:cNvPr id="31" name="Shape 29"/>
          <p:cNvSpPr/>
          <p:nvPr/>
        </p:nvSpPr>
        <p:spPr>
          <a:xfrm>
            <a:off x="8080248" y="2807208"/>
            <a:ext cx="3605784" cy="1417320"/>
          </a:xfrm>
          <a:prstGeom prst="roundRect">
            <a:avLst>
              <a:gd name="adj" fmla="val 3871"/>
            </a:avLst>
          </a:prstGeom>
          <a:solidFill>
            <a:srgbClr val="F2F5F9"/>
          </a:solidFill>
          <a:ln w="9525">
            <a:solidFill>
              <a:srgbClr val="D2DDE9"/>
            </a:solidFill>
            <a:prstDash val="solid"/>
          </a:ln>
        </p:spPr>
      </p:sp>
      <p:sp>
        <p:nvSpPr>
          <p:cNvPr id="32" name="Shape 30"/>
          <p:cNvSpPr/>
          <p:nvPr/>
        </p:nvSpPr>
        <p:spPr>
          <a:xfrm>
            <a:off x="8226552" y="2944368"/>
            <a:ext cx="256032" cy="256032"/>
          </a:xfrm>
          <a:prstGeom prst="roundRect">
            <a:avLst>
              <a:gd name="adj" fmla="val 17857"/>
            </a:avLst>
          </a:prstGeom>
          <a:solidFill>
            <a:srgbClr val="13456E"/>
          </a:solidFill>
          <a:ln/>
        </p:spPr>
      </p:sp>
      <p:sp>
        <p:nvSpPr>
          <p:cNvPr id="33" name="Text 31"/>
          <p:cNvSpPr txBox="1"/>
          <p:nvPr/>
        </p:nvSpPr>
        <p:spPr>
          <a:xfrm>
            <a:off x="8226552" y="29443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4" name="Text 32"/>
          <p:cNvSpPr txBox="1"/>
          <p:nvPr/>
        </p:nvSpPr>
        <p:spPr>
          <a:xfrm>
            <a:off x="8574024" y="2935224"/>
            <a:ext cx="2965704" cy="384048"/>
          </a:xfrm>
          <a:prstGeom prst="rect">
            <a:avLst/>
          </a:prstGeom>
          <a:noFill/>
          <a:ln/>
        </p:spPr>
        <p:txBody>
          <a:bodyPr wrap="square" lIns="0" tIns="0" rIns="0" bIns="0" rtlCol="0" anchor="ctr"/>
          <a:lstStyle/>
          <a:p>
            <a:pPr indent="0" marL="0">
              <a:lnSpc>
                <a:spcPts val="1323"/>
              </a:lnSpc>
              <a:buNone/>
            </a:pPr>
            <a:r>
              <a:rPr lang="en-US" sz="1150" b="1" dirty="0">
                <a:solidFill>
                  <a:srgbClr val="0E1B2A"/>
                </a:solidFill>
                <a:latin typeface="Calibri" pitchFamily="34" charset="0"/>
                <a:ea typeface="Calibri" pitchFamily="34" charset="-122"/>
                <a:cs typeface="Calibri" pitchFamily="34" charset="-120"/>
              </a:rPr>
              <a:t>Why they earn their place</a:t>
            </a:r>
            <a:endParaRPr lang="en-US" sz="1150" dirty="0"/>
          </a:p>
        </p:txBody>
      </p:sp>
      <p:sp>
        <p:nvSpPr>
          <p:cNvPr id="35" name="Text 33"/>
          <p:cNvSpPr txBox="1"/>
          <p:nvPr/>
        </p:nvSpPr>
        <p:spPr>
          <a:xfrm>
            <a:off x="8226552" y="3374136"/>
            <a:ext cx="3313176" cy="731520"/>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Metric views pre-define metrics, dimensions and aggregations, which helps you stay within the object limit, simplifies the data model, and can improve accuracy.  [OFF-1]</a:t>
            </a:r>
            <a:endParaRPr lang="en-US" sz="1000" dirty="0"/>
          </a:p>
        </p:txBody>
      </p:sp>
      <p:sp>
        <p:nvSpPr>
          <p:cNvPr id="36" name="Shape 34"/>
          <p:cNvSpPr/>
          <p:nvPr/>
        </p:nvSpPr>
        <p:spPr>
          <a:xfrm>
            <a:off x="502920" y="4370832"/>
            <a:ext cx="5504688" cy="1920240"/>
          </a:xfrm>
          <a:prstGeom prst="roundRect">
            <a:avLst>
              <a:gd name="adj" fmla="val 2857"/>
            </a:avLst>
          </a:prstGeom>
          <a:solidFill>
            <a:srgbClr val="0E1B2A"/>
          </a:solidFill>
          <a:ln w="9525">
            <a:solidFill>
              <a:srgbClr val="0E1B2A"/>
            </a:solidFill>
            <a:prstDash val="solid"/>
          </a:ln>
        </p:spPr>
      </p:sp>
      <p:sp>
        <p:nvSpPr>
          <p:cNvPr id="37" name="Text 35"/>
          <p:cNvSpPr txBox="1"/>
          <p:nvPr/>
        </p:nvSpPr>
        <p:spPr>
          <a:xfrm>
            <a:off x="704088" y="4517136"/>
            <a:ext cx="5120640" cy="2743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Export an agent as a metric view  [OFF-3]</a:t>
            </a:r>
            <a:endParaRPr lang="en-US" sz="1500" dirty="0"/>
          </a:p>
        </p:txBody>
      </p:sp>
      <p:sp>
        <p:nvSpPr>
          <p:cNvPr id="38" name="Text 36"/>
          <p:cNvSpPr txBox="1"/>
          <p:nvPr/>
        </p:nvSpPr>
        <p:spPr>
          <a:xfrm>
            <a:off x="704088" y="4846320"/>
            <a:ext cx="5102352" cy="1335024"/>
          </a:xfrm>
          <a:prstGeom prst="rect">
            <a:avLst/>
          </a:prstGeom>
          <a:noFill/>
          <a:ln/>
        </p:spPr>
        <p:txBody>
          <a:bodyPr wrap="square" lIns="0" tIns="0" rIns="0" bIns="0" rtlCol="0" anchor="t"/>
          <a:lstStyle/>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From the agent's kebab menu, you can export a Genie Agent as a metric view. This creates a metric view based on the data and semantic context already configured in the agent, and you can refine the definition with Genie Code before creating it.</a:t>
            </a:r>
            <a:endParaRPr lang="en-US" sz="1000" dirty="0"/>
          </a:p>
          <a:p>
            <a:pPr indent="0" marL="0">
              <a:lnSpc>
                <a:spcPts val="1350"/>
              </a:lnSpc>
              <a:buNone/>
            </a:pPr>
            <a:endParaRPr lang="en-US" sz="1000" dirty="0"/>
          </a:p>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This closes the loop: curation effort invested in an agent can be promoted into governed, reusable semantics that other agents and BI tools inherit — rather than staying trapped in one agent's configuration.</a:t>
            </a:r>
            <a:endParaRPr lang="en-US" sz="1000" dirty="0"/>
          </a:p>
        </p:txBody>
      </p:sp>
      <p:sp>
        <p:nvSpPr>
          <p:cNvPr id="39" name="Shape 37"/>
          <p:cNvSpPr/>
          <p:nvPr/>
        </p:nvSpPr>
        <p:spPr>
          <a:xfrm>
            <a:off x="6181344" y="4370832"/>
            <a:ext cx="5504688" cy="1920240"/>
          </a:xfrm>
          <a:prstGeom prst="roundRect">
            <a:avLst>
              <a:gd name="adj" fmla="val 2857"/>
            </a:avLst>
          </a:prstGeom>
          <a:solidFill>
            <a:srgbClr val="E4ECF4"/>
          </a:solidFill>
          <a:ln w="9525">
            <a:solidFill>
              <a:srgbClr val="D2DDE9"/>
            </a:solidFill>
            <a:prstDash val="solid"/>
          </a:ln>
        </p:spPr>
      </p:sp>
      <p:sp>
        <p:nvSpPr>
          <p:cNvPr id="40" name="Text 38"/>
          <p:cNvSpPr txBox="1"/>
          <p:nvPr/>
        </p:nvSpPr>
        <p:spPr>
          <a:xfrm>
            <a:off x="6382512" y="4517136"/>
            <a:ext cx="5120640" cy="274320"/>
          </a:xfrm>
          <a:prstGeom prst="rect">
            <a:avLst/>
          </a:prstGeom>
          <a:noFill/>
          <a:ln/>
        </p:spPr>
        <p:txBody>
          <a:bodyPr wrap="square" lIns="0" tIns="0" rIns="0" bIns="0" rtlCol="0" anchor="t"/>
          <a:lstStyle/>
          <a:p>
            <a:pPr indent="0" marL="0">
              <a:buNone/>
            </a:pPr>
            <a:r>
              <a:rPr lang="en-US" sz="1500" b="1" dirty="0">
                <a:solidFill>
                  <a:srgbClr val="0E1B2A"/>
                </a:solidFill>
                <a:latin typeface="Cambria" pitchFamily="34" charset="0"/>
                <a:ea typeface="Cambria" pitchFamily="34" charset="-122"/>
                <a:cs typeface="Cambria" pitchFamily="34" charset="-120"/>
              </a:rPr>
              <a:t>Metric calculation problems: the fix order  [OFF-5]</a:t>
            </a:r>
            <a:endParaRPr lang="en-US" sz="1500" dirty="0"/>
          </a:p>
        </p:txBody>
      </p:sp>
      <p:sp>
        <p:nvSpPr>
          <p:cNvPr id="41" name="Text 39"/>
          <p:cNvSpPr txBox="1"/>
          <p:nvPr/>
        </p:nvSpPr>
        <p:spPr>
          <a:xfrm>
            <a:off x="6382512" y="4846320"/>
            <a:ext cx="5102352" cy="1335024"/>
          </a:xfrm>
          <a:prstGeom prst="rect">
            <a:avLst/>
          </a:prstGeom>
          <a:noFill/>
          <a:ln/>
        </p:spPr>
        <p:txBody>
          <a:bodyPr wrap="square" lIns="0" tIns="0" rIns="0" bIns="0" rtlCol="0" anchor="t"/>
          <a:lstStyle/>
          <a:p>
            <a:pPr marL="152400" indent="-152400">
              <a:lnSpc>
                <a:spcPts val="125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Define metrics as SQL expressions in the knowledge store.</a:t>
            </a:r>
            <a:endParaRPr lang="en-US" sz="950" dirty="0"/>
          </a:p>
          <a:p>
            <a:pPr marL="152400" indent="-152400">
              <a:lnSpc>
                <a:spcPts val="125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Provide example SQL computing each roll-up when metrics aggregate from base tables.</a:t>
            </a:r>
            <a:endParaRPr lang="en-US" sz="950" dirty="0"/>
          </a:p>
          <a:p>
            <a:pPr marL="152400" indent="-152400">
              <a:lnSpc>
                <a:spcPts val="125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Explain pre-computed aggregate tables in table comments, and specify which further aggregations are valid.</a:t>
            </a:r>
            <a:endParaRPr lang="en-US" sz="950" dirty="0"/>
          </a:p>
          <a:p>
            <a:pPr marL="152400" indent="-152400">
              <a:lnSpc>
                <a:spcPts val="1250"/>
              </a:lnSpc>
              <a:spcAft>
                <a:spcPts val="400"/>
              </a:spcAft>
              <a:buSzPct val="100000"/>
              <a:buChar char="•"/>
            </a:pPr>
            <a:r>
              <a:rPr lang="en-US" sz="950" dirty="0">
                <a:solidFill>
                  <a:srgbClr val="2B3A4C"/>
                </a:solidFill>
                <a:latin typeface="Calibri" pitchFamily="34" charset="0"/>
                <a:ea typeface="Calibri" pitchFamily="34" charset="-122"/>
                <a:cs typeface="Calibri" pitchFamily="34" charset="-120"/>
              </a:rPr>
              <a:t>Create pre-aggregated views when the required SQL is very complicated.</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10</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Readiness, testing and benchmarks</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How you find out whether the agent is right — before your business users do.</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Readiness scoring across four dimensions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Testing it yourself and the feedback loop</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Benchmark mechanics and execution modes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Chat-mode rating rules and the 5,000-row trap</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Monitoring and user testing</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10.1 READINESS ASSESSMENT</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Score every business question before proposing a live change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34</a:t>
            </a:r>
            <a:endParaRPr lang="en-US" sz="800" dirty="0"/>
          </a:p>
        </p:txBody>
      </p:sp>
      <p:sp>
        <p:nvSpPr>
          <p:cNvPr id="6" name="Shape 4"/>
          <p:cNvSpPr/>
          <p:nvPr/>
        </p:nvSpPr>
        <p:spPr>
          <a:xfrm>
            <a:off x="502920" y="1207008"/>
            <a:ext cx="2658618" cy="1234440"/>
          </a:xfrm>
          <a:prstGeom prst="roundRect">
            <a:avLst>
              <a:gd name="adj" fmla="val 4444"/>
            </a:avLst>
          </a:prstGeom>
          <a:solidFill>
            <a:srgbClr val="F2F5F9"/>
          </a:solidFill>
          <a:ln w="9525">
            <a:solidFill>
              <a:srgbClr val="D2DDE9"/>
            </a:solidFill>
            <a:prstDash val="solid"/>
          </a:ln>
        </p:spPr>
      </p:sp>
      <p:sp>
        <p:nvSpPr>
          <p:cNvPr id="7" name="Text 5"/>
          <p:cNvSpPr txBox="1"/>
          <p:nvPr/>
        </p:nvSpPr>
        <p:spPr>
          <a:xfrm>
            <a:off x="649224" y="1325880"/>
            <a:ext cx="2366010"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Semantic coverage</a:t>
            </a:r>
            <a:endParaRPr lang="en-US" sz="1200" dirty="0"/>
          </a:p>
        </p:txBody>
      </p:sp>
      <p:sp>
        <p:nvSpPr>
          <p:cNvPr id="8" name="Text 6"/>
          <p:cNvSpPr txBox="1"/>
          <p:nvPr/>
        </p:nvSpPr>
        <p:spPr>
          <a:xfrm>
            <a:off x="649224" y="1664208"/>
            <a:ext cx="2366010" cy="65836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The measures, dimensions, filters and time fields the question needs actually exist.</a:t>
            </a:r>
            <a:endParaRPr lang="en-US" sz="1050" dirty="0"/>
          </a:p>
        </p:txBody>
      </p:sp>
      <p:sp>
        <p:nvSpPr>
          <p:cNvPr id="9" name="Shape 7"/>
          <p:cNvSpPr/>
          <p:nvPr/>
        </p:nvSpPr>
        <p:spPr>
          <a:xfrm>
            <a:off x="3344418" y="1207008"/>
            <a:ext cx="2658618" cy="1234440"/>
          </a:xfrm>
          <a:prstGeom prst="roundRect">
            <a:avLst>
              <a:gd name="adj" fmla="val 4444"/>
            </a:avLst>
          </a:prstGeom>
          <a:solidFill>
            <a:srgbClr val="F2F5F9"/>
          </a:solidFill>
          <a:ln w="9525">
            <a:solidFill>
              <a:srgbClr val="D2DDE9"/>
            </a:solidFill>
            <a:prstDash val="solid"/>
          </a:ln>
        </p:spPr>
      </p:sp>
      <p:sp>
        <p:nvSpPr>
          <p:cNvPr id="10" name="Text 8"/>
          <p:cNvSpPr txBox="1"/>
          <p:nvPr/>
        </p:nvSpPr>
        <p:spPr>
          <a:xfrm>
            <a:off x="3490722" y="1325880"/>
            <a:ext cx="2366010"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Data quality and freshness</a:t>
            </a:r>
            <a:endParaRPr lang="en-US" sz="1200" dirty="0"/>
          </a:p>
        </p:txBody>
      </p:sp>
      <p:sp>
        <p:nvSpPr>
          <p:cNvPr id="11" name="Text 9"/>
          <p:cNvSpPr txBox="1"/>
          <p:nvPr/>
        </p:nvSpPr>
        <p:spPr>
          <a:xfrm>
            <a:off x="3490722" y="1664208"/>
            <a:ext cx="2366010" cy="65836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Important fields are populated, current, correctly typed and usable.</a:t>
            </a:r>
            <a:endParaRPr lang="en-US" sz="1050" dirty="0"/>
          </a:p>
        </p:txBody>
      </p:sp>
      <p:sp>
        <p:nvSpPr>
          <p:cNvPr id="12" name="Shape 10"/>
          <p:cNvSpPr/>
          <p:nvPr/>
        </p:nvSpPr>
        <p:spPr>
          <a:xfrm>
            <a:off x="6185916" y="1207008"/>
            <a:ext cx="2658618" cy="1234440"/>
          </a:xfrm>
          <a:prstGeom prst="roundRect">
            <a:avLst>
              <a:gd name="adj" fmla="val 4444"/>
            </a:avLst>
          </a:prstGeom>
          <a:solidFill>
            <a:srgbClr val="F2F5F9"/>
          </a:solidFill>
          <a:ln w="9525">
            <a:solidFill>
              <a:srgbClr val="D2DDE9"/>
            </a:solidFill>
            <a:prstDash val="solid"/>
          </a:ln>
        </p:spPr>
      </p:sp>
      <p:sp>
        <p:nvSpPr>
          <p:cNvPr id="13" name="Text 11"/>
          <p:cNvSpPr txBox="1"/>
          <p:nvPr/>
        </p:nvSpPr>
        <p:spPr>
          <a:xfrm>
            <a:off x="6332220" y="1325880"/>
            <a:ext cx="2366010"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Modelability</a:t>
            </a:r>
            <a:endParaRPr lang="en-US" sz="1200" dirty="0"/>
          </a:p>
        </p:txBody>
      </p:sp>
      <p:sp>
        <p:nvSpPr>
          <p:cNvPr id="14" name="Text 12"/>
          <p:cNvSpPr txBox="1"/>
          <p:nvPr/>
        </p:nvSpPr>
        <p:spPr>
          <a:xfrm>
            <a:off x="6332220" y="1664208"/>
            <a:ext cx="2366010" cy="65836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Grain and join paths are supported by evidence or by explicit user confirmation.</a:t>
            </a:r>
            <a:endParaRPr lang="en-US" sz="1050" dirty="0"/>
          </a:p>
        </p:txBody>
      </p:sp>
      <p:sp>
        <p:nvSpPr>
          <p:cNvPr id="15" name="Shape 13"/>
          <p:cNvSpPr/>
          <p:nvPr/>
        </p:nvSpPr>
        <p:spPr>
          <a:xfrm>
            <a:off x="9027414" y="1207008"/>
            <a:ext cx="2658618" cy="1234440"/>
          </a:xfrm>
          <a:prstGeom prst="roundRect">
            <a:avLst>
              <a:gd name="adj" fmla="val 4444"/>
            </a:avLst>
          </a:prstGeom>
          <a:solidFill>
            <a:srgbClr val="F2F5F9"/>
          </a:solidFill>
          <a:ln w="9525">
            <a:solidFill>
              <a:srgbClr val="D2DDE9"/>
            </a:solidFill>
            <a:prstDash val="solid"/>
          </a:ln>
        </p:spPr>
      </p:sp>
      <p:sp>
        <p:nvSpPr>
          <p:cNvPr id="16" name="Text 14"/>
          <p:cNvSpPr txBox="1"/>
          <p:nvPr/>
        </p:nvSpPr>
        <p:spPr>
          <a:xfrm>
            <a:off x="9173718" y="1325880"/>
            <a:ext cx="2366010"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GenAI context readiness</a:t>
            </a:r>
            <a:endParaRPr lang="en-US" sz="1200" dirty="0"/>
          </a:p>
        </p:txBody>
      </p:sp>
      <p:sp>
        <p:nvSpPr>
          <p:cNvPr id="17" name="Text 15"/>
          <p:cNvSpPr txBox="1"/>
          <p:nvPr/>
        </p:nvSpPr>
        <p:spPr>
          <a:xfrm>
            <a:off x="9173718" y="1664208"/>
            <a:ext cx="2366010" cy="658368"/>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Descriptions, synonyms, display names and prompt matching map business language onto the data.</a:t>
            </a:r>
            <a:endParaRPr lang="en-US" sz="10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2670048"/>
          <a:ext cx="11183112" cy="914400"/>
        </p:xfrm>
        <a:graphic>
          <a:graphicData uri="http://schemas.openxmlformats.org/drawingml/2006/table">
            <a:tbl>
              <a:tblPr/>
              <a:tblGrid>
                <a:gridCol w="1371600"/>
                <a:gridCol w="4937760"/>
                <a:gridCol w="487375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Level</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you do about it</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0">
                <a:tc>
                  <a:txBody>
                    <a:bodyPr/>
                    <a:lstStyle/>
                    <a:p>
                      <a:pPr indent="0" marL="0">
                        <a:buNone/>
                      </a:pPr>
                      <a:r>
                        <a:rPr lang="en-US" sz="1000" b="1" dirty="0">
                          <a:solidFill>
                            <a:srgbClr val="1B7A5A"/>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1000" dirty="0">
                          <a:solidFill>
                            <a:srgbClr val="2B3A4C"/>
                          </a:solidFill>
                          <a:latin typeface="Calibri" pitchFamily="34" charset="0"/>
                          <a:ea typeface="Calibri" pitchFamily="34" charset="-122"/>
                          <a:cs typeface="Calibri" pitchFamily="34" charset="-120"/>
                        </a:rPr>
                        <a:t>All required sources, fields, values and join / metric definitions are supported.</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1000" dirty="0">
                          <a:solidFill>
                            <a:srgbClr val="2B3A4C"/>
                          </a:solidFill>
                          <a:latin typeface="Calibri" pitchFamily="34" charset="0"/>
                          <a:ea typeface="Calibri" pitchFamily="34" charset="-122"/>
                          <a:cs typeface="Calibri" pitchFamily="34" charset="-120"/>
                        </a:rPr>
                        <a:t>Proceed. Include the question in sample questions and benchmarks.</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1000" b="1" dirty="0">
                          <a:solidFill>
                            <a:srgbClr val="9A6B1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1000" dirty="0">
                          <a:solidFill>
                            <a:srgbClr val="2B3A4C"/>
                          </a:solidFill>
                          <a:latin typeface="Calibri" pitchFamily="34" charset="0"/>
                          <a:ea typeface="Calibri" pitchFamily="34" charset="-122"/>
                          <a:cs typeface="Calibri" pitchFamily="34" charset="-120"/>
                        </a:rPr>
                        <a:t>Answerable with caveats, missing descriptions, uncertain filters, or user-confirmed assumptions.</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1000" dirty="0">
                          <a:solidFill>
                            <a:srgbClr val="2B3A4C"/>
                          </a:solidFill>
                          <a:latin typeface="Calibri" pitchFamily="34" charset="0"/>
                          <a:ea typeface="Calibri" pitchFamily="34" charset="-122"/>
                          <a:cs typeface="Calibri" pitchFamily="34" charset="-120"/>
                        </a:rPr>
                        <a:t>Proceed only with the caveat documented and the assumption confirmed in writing.</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B3321E"/>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1000" dirty="0">
                          <a:solidFill>
                            <a:srgbClr val="2B3A4C"/>
                          </a:solidFill>
                          <a:latin typeface="Calibri" pitchFamily="34" charset="0"/>
                          <a:ea typeface="Calibri" pitchFamily="34" charset="-122"/>
                          <a:cs typeface="Calibri" pitchFamily="34" charset="-120"/>
                        </a:rPr>
                        <a:t>Missing source, measure, dimension, time field, join path, or governed metric definition.</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1000" dirty="0">
                          <a:solidFill>
                            <a:srgbClr val="2B3A4C"/>
                          </a:solidFill>
                          <a:latin typeface="Calibri" pitchFamily="34" charset="0"/>
                          <a:ea typeface="Calibri" pitchFamily="34" charset="-122"/>
                          <a:cs typeface="Calibri" pitchFamily="34" charset="-120"/>
                        </a:rPr>
                        <a:t>Add data, revise the question, ask for confirmation, or mark the draft with limitations.</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19" name="Shape 16"/>
          <p:cNvSpPr/>
          <p:nvPr/>
        </p:nvSpPr>
        <p:spPr>
          <a:xfrm>
            <a:off x="502920" y="4133088"/>
            <a:ext cx="11183112" cy="530352"/>
          </a:xfrm>
          <a:prstGeom prst="roundRect">
            <a:avLst>
              <a:gd name="adj" fmla="val 10345"/>
            </a:avLst>
          </a:prstGeom>
          <a:solidFill>
            <a:srgbClr val="0E1B2A"/>
          </a:solidFill>
          <a:ln w="9525">
            <a:solidFill>
              <a:srgbClr val="0E1B2A"/>
            </a:solidFill>
            <a:prstDash val="solid"/>
          </a:ln>
        </p:spPr>
      </p:sp>
      <p:sp>
        <p:nvSpPr>
          <p:cNvPr id="20" name="Shape 17"/>
          <p:cNvSpPr/>
          <p:nvPr/>
        </p:nvSpPr>
        <p:spPr>
          <a:xfrm>
            <a:off x="685800" y="4261104"/>
            <a:ext cx="274320" cy="274320"/>
          </a:xfrm>
          <a:prstGeom prst="roundRect">
            <a:avLst>
              <a:gd name="adj" fmla="val 16667"/>
            </a:avLst>
          </a:prstGeom>
          <a:solidFill>
            <a:srgbClr val="E8552D"/>
          </a:solidFill>
          <a:ln/>
        </p:spPr>
      </p:sp>
      <p:sp>
        <p:nvSpPr>
          <p:cNvPr id="21" name="Text 18"/>
          <p:cNvSpPr txBox="1"/>
          <p:nvPr/>
        </p:nvSpPr>
        <p:spPr>
          <a:xfrm>
            <a:off x="685800" y="426110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2" name="Text 19"/>
          <p:cNvSpPr txBox="1"/>
          <p:nvPr/>
        </p:nvSpPr>
        <p:spPr>
          <a:xfrm>
            <a:off x="1106424" y="4224528"/>
            <a:ext cx="10396728" cy="347472"/>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Do not present Low-confidence questions as fully supported.  [GH-1]  A silently unsupported question is how an agent loses its audience in week one.</a:t>
            </a:r>
            <a:endParaRPr lang="en-US" sz="1050" dirty="0"/>
          </a:p>
        </p:txBody>
      </p:sp>
      <p:sp>
        <p:nvSpPr>
          <p:cNvPr id="23" name="Text 20"/>
          <p:cNvSpPr txBox="1"/>
          <p:nvPr/>
        </p:nvSpPr>
        <p:spPr>
          <a:xfrm>
            <a:off x="502920" y="486460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TEST IT YOURSELF — YOU ARE THE AGENT'S FIRST USER  [OFF-1] [OFF-4]</a:t>
            </a:r>
            <a:endParaRPr lang="en-US" sz="850" dirty="0"/>
          </a:p>
        </p:txBody>
      </p:sp>
      <p:sp>
        <p:nvSpPr>
          <p:cNvPr id="24" name="Shape 21"/>
          <p:cNvSpPr/>
          <p:nvPr/>
        </p:nvSpPr>
        <p:spPr>
          <a:xfrm>
            <a:off x="502920" y="5102352"/>
            <a:ext cx="3605784" cy="1188720"/>
          </a:xfrm>
          <a:prstGeom prst="roundRect">
            <a:avLst>
              <a:gd name="adj" fmla="val 4615"/>
            </a:avLst>
          </a:prstGeom>
          <a:solidFill>
            <a:srgbClr val="F2F5F9"/>
          </a:solidFill>
          <a:ln w="9525">
            <a:solidFill>
              <a:srgbClr val="D2DDE9"/>
            </a:solidFill>
            <a:prstDash val="solid"/>
          </a:ln>
        </p:spPr>
      </p:sp>
      <p:sp>
        <p:nvSpPr>
          <p:cNvPr id="25" name="Text 22"/>
          <p:cNvSpPr txBox="1"/>
          <p:nvPr/>
        </p:nvSpPr>
        <p:spPr>
          <a:xfrm>
            <a:off x="649224" y="5221224"/>
            <a:ext cx="3313176"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Inspect the SQL, not the answer</a:t>
            </a:r>
            <a:endParaRPr lang="en-US" sz="1100" dirty="0"/>
          </a:p>
        </p:txBody>
      </p:sp>
      <p:sp>
        <p:nvSpPr>
          <p:cNvPr id="26" name="Text 23"/>
          <p:cNvSpPr txBox="1"/>
          <p:nvPr/>
        </p:nvSpPr>
        <p:spPr>
          <a:xfrm>
            <a:off x="649224" y="5559552"/>
            <a:ext cx="3313176"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Test with realistic questions you expect business users to ask, and carefully examine the SQL generated. Click Show code to inspect any response's query.</a:t>
            </a:r>
            <a:endParaRPr lang="en-US" sz="950" dirty="0"/>
          </a:p>
        </p:txBody>
      </p:sp>
      <p:sp>
        <p:nvSpPr>
          <p:cNvPr id="27" name="Shape 24"/>
          <p:cNvSpPr/>
          <p:nvPr/>
        </p:nvSpPr>
        <p:spPr>
          <a:xfrm>
            <a:off x="4291584" y="5102352"/>
            <a:ext cx="3605784" cy="1188720"/>
          </a:xfrm>
          <a:prstGeom prst="roundRect">
            <a:avLst>
              <a:gd name="adj" fmla="val 4615"/>
            </a:avLst>
          </a:prstGeom>
          <a:solidFill>
            <a:srgbClr val="F2F5F9"/>
          </a:solidFill>
          <a:ln w="9525">
            <a:solidFill>
              <a:srgbClr val="D2DDE9"/>
            </a:solidFill>
            <a:prstDash val="solid"/>
          </a:ln>
        </p:spPr>
      </p:sp>
      <p:sp>
        <p:nvSpPr>
          <p:cNvPr id="28" name="Text 25"/>
          <p:cNvSpPr txBox="1"/>
          <p:nvPr/>
        </p:nvSpPr>
        <p:spPr>
          <a:xfrm>
            <a:off x="4437888" y="5221224"/>
            <a:ext cx="3313176"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Edit and promote in place</a:t>
            </a:r>
            <a:endParaRPr lang="en-US" sz="1100" dirty="0"/>
          </a:p>
        </p:txBody>
      </p:sp>
      <p:sp>
        <p:nvSpPr>
          <p:cNvPr id="29" name="Text 26"/>
          <p:cNvSpPr txBox="1"/>
          <p:nvPr/>
        </p:nvSpPr>
        <p:spPr>
          <a:xfrm>
            <a:off x="4437888" y="5559552"/>
            <a:ext cx="3313176"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With CAN EDIT or greater you can edit the generated SQL, run it, and save it as an instruction via Add as instruction. Keep testing and editing until responses are reliable.</a:t>
            </a:r>
            <a:endParaRPr lang="en-US" sz="950" dirty="0"/>
          </a:p>
        </p:txBody>
      </p:sp>
      <p:sp>
        <p:nvSpPr>
          <p:cNvPr id="30" name="Shape 27"/>
          <p:cNvSpPr/>
          <p:nvPr/>
        </p:nvSpPr>
        <p:spPr>
          <a:xfrm>
            <a:off x="8080248" y="5102352"/>
            <a:ext cx="3605784" cy="1188720"/>
          </a:xfrm>
          <a:prstGeom prst="roundRect">
            <a:avLst>
              <a:gd name="adj" fmla="val 4615"/>
            </a:avLst>
          </a:prstGeom>
          <a:solidFill>
            <a:srgbClr val="F2F5F9"/>
          </a:solidFill>
          <a:ln w="9525">
            <a:solidFill>
              <a:srgbClr val="D2DDE9"/>
            </a:solidFill>
            <a:prstDash val="solid"/>
          </a:ln>
        </p:spPr>
      </p:sp>
      <p:sp>
        <p:nvSpPr>
          <p:cNvPr id="31" name="Text 28"/>
          <p:cNvSpPr txBox="1"/>
          <p:nvPr/>
        </p:nvSpPr>
        <p:spPr>
          <a:xfrm>
            <a:off x="8226552" y="5221224"/>
            <a:ext cx="3313176"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Feedback does not tune the agent</a:t>
            </a:r>
            <a:endParaRPr lang="en-US" sz="1100" dirty="0"/>
          </a:p>
        </p:txBody>
      </p:sp>
      <p:sp>
        <p:nvSpPr>
          <p:cNvPr id="32" name="Text 29"/>
          <p:cNvSpPr txBox="1"/>
          <p:nvPr/>
        </p:nvSpPr>
        <p:spPr>
          <a:xfrm>
            <a:off x="8226552" y="5559552"/>
            <a:ext cx="3313176" cy="612648"/>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Each response asks “Is this correct?” — Yes, Fix it, or Request review. The agent's behavior does not change from user feedback alone: use feedback to identify improvement opportunities or answer users directly.  [OFF-4]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10.2 BENCHMARKS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A scored test set, run as fresh conversations [OFF-4] [OFF-6]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35</a:t>
            </a:r>
            <a:endParaRPr lang="en-US" sz="800" dirty="0"/>
          </a:p>
        </p:txBody>
      </p:sp>
      <p:sp>
        <p:nvSpPr>
          <p:cNvPr id="6" name="Shape 4"/>
          <p:cNvSpPr/>
          <p:nvPr/>
        </p:nvSpPr>
        <p:spPr>
          <a:xfrm>
            <a:off x="502920" y="1188720"/>
            <a:ext cx="2658618" cy="914400"/>
          </a:xfrm>
          <a:prstGeom prst="roundRect">
            <a:avLst>
              <a:gd name="adj" fmla="val 6000"/>
            </a:avLst>
          </a:prstGeom>
          <a:solidFill>
            <a:srgbClr val="E4ECF4"/>
          </a:solidFill>
          <a:ln w="9525">
            <a:solidFill>
              <a:srgbClr val="D2DDE9"/>
            </a:solidFill>
            <a:prstDash val="solid"/>
          </a:ln>
        </p:spPr>
      </p:sp>
      <p:sp>
        <p:nvSpPr>
          <p:cNvPr id="7" name="Text 5"/>
          <p:cNvSpPr txBox="1"/>
          <p:nvPr/>
        </p:nvSpPr>
        <p:spPr>
          <a:xfrm>
            <a:off x="630936" y="1280160"/>
            <a:ext cx="2402586" cy="457200"/>
          </a:xfrm>
          <a:prstGeom prst="rect">
            <a:avLst/>
          </a:prstGeom>
          <a:noFill/>
          <a:ln/>
        </p:spPr>
        <p:txBody>
          <a:bodyPr wrap="square" lIns="0" tIns="0" rIns="0" bIns="0" rtlCol="0" anchor="t"/>
          <a:lstStyle/>
          <a:p>
            <a:pPr indent="0" marL="0">
              <a:buNone/>
            </a:pPr>
            <a:r>
              <a:rPr lang="en-US" sz="2600" b="1" dirty="0">
                <a:solidFill>
                  <a:srgbClr val="13456E"/>
                </a:solidFill>
                <a:latin typeface="Cambria" pitchFamily="34" charset="0"/>
                <a:ea typeface="Cambria" pitchFamily="34" charset="-122"/>
                <a:cs typeface="Cambria" pitchFamily="34" charset="-120"/>
              </a:rPr>
              <a:t>500</a:t>
            </a:r>
            <a:endParaRPr lang="en-US" sz="2600" dirty="0"/>
          </a:p>
        </p:txBody>
      </p:sp>
      <p:sp>
        <p:nvSpPr>
          <p:cNvPr id="8" name="Text 6"/>
          <p:cNvSpPr txBox="1"/>
          <p:nvPr/>
        </p:nvSpPr>
        <p:spPr>
          <a:xfrm>
            <a:off x="630936" y="1737360"/>
            <a:ext cx="2402586" cy="274320"/>
          </a:xfrm>
          <a:prstGeom prst="rect">
            <a:avLst/>
          </a:prstGeom>
          <a:noFill/>
          <a:ln/>
        </p:spPr>
        <p:txBody>
          <a:bodyPr wrap="square" lIns="0" tIns="0" rIns="0" bIns="0" rtlCol="0" anchor="t"/>
          <a:lstStyle/>
          <a:p>
            <a:pPr indent="0" marL="0">
              <a:lnSpc>
                <a:spcPts val="1200"/>
              </a:lnSpc>
              <a:buNone/>
            </a:pPr>
            <a:r>
              <a:rPr lang="en-US" sz="950" dirty="0">
                <a:solidFill>
                  <a:srgbClr val="56677C"/>
                </a:solidFill>
                <a:latin typeface="Calibri" pitchFamily="34" charset="0"/>
                <a:ea typeface="Calibri" pitchFamily="34" charset="-122"/>
                <a:cs typeface="Calibri" pitchFamily="34" charset="-120"/>
              </a:rPr>
              <a:t>benchmark questions per agent — the hard ceiling</a:t>
            </a:r>
            <a:endParaRPr lang="en-US" sz="950" dirty="0"/>
          </a:p>
        </p:txBody>
      </p:sp>
      <p:sp>
        <p:nvSpPr>
          <p:cNvPr id="9" name="Shape 7"/>
          <p:cNvSpPr/>
          <p:nvPr/>
        </p:nvSpPr>
        <p:spPr>
          <a:xfrm>
            <a:off x="3344418" y="1188720"/>
            <a:ext cx="2658618" cy="914400"/>
          </a:xfrm>
          <a:prstGeom prst="roundRect">
            <a:avLst>
              <a:gd name="adj" fmla="val 6000"/>
            </a:avLst>
          </a:prstGeom>
          <a:solidFill>
            <a:srgbClr val="E4ECF4"/>
          </a:solidFill>
          <a:ln w="9525">
            <a:solidFill>
              <a:srgbClr val="D2DDE9"/>
            </a:solidFill>
            <a:prstDash val="solid"/>
          </a:ln>
        </p:spPr>
      </p:sp>
      <p:sp>
        <p:nvSpPr>
          <p:cNvPr id="10" name="Text 8"/>
          <p:cNvSpPr txBox="1"/>
          <p:nvPr/>
        </p:nvSpPr>
        <p:spPr>
          <a:xfrm>
            <a:off x="3472434" y="1280160"/>
            <a:ext cx="2402586" cy="457200"/>
          </a:xfrm>
          <a:prstGeom prst="rect">
            <a:avLst/>
          </a:prstGeom>
          <a:noFill/>
          <a:ln/>
        </p:spPr>
        <p:txBody>
          <a:bodyPr wrap="square" lIns="0" tIns="0" rIns="0" bIns="0" rtlCol="0" anchor="t"/>
          <a:lstStyle/>
          <a:p>
            <a:pPr indent="0" marL="0">
              <a:buNone/>
            </a:pPr>
            <a:r>
              <a:rPr lang="en-US" sz="2600" b="1" dirty="0">
                <a:solidFill>
                  <a:srgbClr val="13456E"/>
                </a:solidFill>
                <a:latin typeface="Cambria" pitchFamily="34" charset="0"/>
                <a:ea typeface="Cambria" pitchFamily="34" charset="-122"/>
                <a:cs typeface="Cambria" pitchFamily="34" charset="-120"/>
              </a:rPr>
              <a:t>≥ 5</a:t>
            </a:r>
            <a:endParaRPr lang="en-US" sz="2600" dirty="0"/>
          </a:p>
        </p:txBody>
      </p:sp>
      <p:sp>
        <p:nvSpPr>
          <p:cNvPr id="11" name="Text 9"/>
          <p:cNvSpPr txBox="1"/>
          <p:nvPr/>
        </p:nvSpPr>
        <p:spPr>
          <a:xfrm>
            <a:off x="3472434" y="1737360"/>
            <a:ext cx="2402586" cy="274320"/>
          </a:xfrm>
          <a:prstGeom prst="rect">
            <a:avLst/>
          </a:prstGeom>
          <a:noFill/>
          <a:ln/>
        </p:spPr>
        <p:txBody>
          <a:bodyPr wrap="square" lIns="0" tIns="0" rIns="0" bIns="0" rtlCol="0" anchor="t"/>
          <a:lstStyle/>
          <a:p>
            <a:pPr indent="0" marL="0">
              <a:lnSpc>
                <a:spcPts val="1200"/>
              </a:lnSpc>
              <a:buNone/>
            </a:pPr>
            <a:r>
              <a:rPr lang="en-US" sz="950" dirty="0">
                <a:solidFill>
                  <a:srgbClr val="56677C"/>
                </a:solidFill>
                <a:latin typeface="Calibri" pitchFamily="34" charset="0"/>
                <a:ea typeface="Calibri" pitchFamily="34" charset="-122"/>
                <a:cs typeface="Calibri" pitchFamily="34" charset="-120"/>
              </a:rPr>
              <a:t>questions based on anticipated user questions before launch  [OFF-6]</a:t>
            </a:r>
            <a:endParaRPr lang="en-US" sz="950" dirty="0"/>
          </a:p>
        </p:txBody>
      </p:sp>
      <p:sp>
        <p:nvSpPr>
          <p:cNvPr id="12" name="Shape 10"/>
          <p:cNvSpPr/>
          <p:nvPr/>
        </p:nvSpPr>
        <p:spPr>
          <a:xfrm>
            <a:off x="6185916" y="1188720"/>
            <a:ext cx="2658618" cy="914400"/>
          </a:xfrm>
          <a:prstGeom prst="roundRect">
            <a:avLst>
              <a:gd name="adj" fmla="val 6000"/>
            </a:avLst>
          </a:prstGeom>
          <a:solidFill>
            <a:srgbClr val="E4ECF4"/>
          </a:solidFill>
          <a:ln w="9525">
            <a:solidFill>
              <a:srgbClr val="D2DDE9"/>
            </a:solidFill>
            <a:prstDash val="solid"/>
          </a:ln>
        </p:spPr>
      </p:sp>
      <p:sp>
        <p:nvSpPr>
          <p:cNvPr id="13" name="Text 11"/>
          <p:cNvSpPr txBox="1"/>
          <p:nvPr/>
        </p:nvSpPr>
        <p:spPr>
          <a:xfrm>
            <a:off x="6313932" y="1280160"/>
            <a:ext cx="2402586" cy="457200"/>
          </a:xfrm>
          <a:prstGeom prst="rect">
            <a:avLst/>
          </a:prstGeom>
          <a:noFill/>
          <a:ln/>
        </p:spPr>
        <p:txBody>
          <a:bodyPr wrap="square" lIns="0" tIns="0" rIns="0" bIns="0" rtlCol="0" anchor="t"/>
          <a:lstStyle/>
          <a:p>
            <a:pPr indent="0" marL="0">
              <a:buNone/>
            </a:pPr>
            <a:r>
              <a:rPr lang="en-US" sz="2600" b="1" dirty="0">
                <a:solidFill>
                  <a:srgbClr val="13456E"/>
                </a:solidFill>
                <a:latin typeface="Cambria" pitchFamily="34" charset="0"/>
                <a:ea typeface="Cambria" pitchFamily="34" charset="-122"/>
                <a:cs typeface="Cambria" pitchFamily="34" charset="-120"/>
              </a:rPr>
              <a:t>2–4</a:t>
            </a:r>
            <a:endParaRPr lang="en-US" sz="2600" dirty="0"/>
          </a:p>
        </p:txBody>
      </p:sp>
      <p:sp>
        <p:nvSpPr>
          <p:cNvPr id="14" name="Text 12"/>
          <p:cNvSpPr txBox="1"/>
          <p:nvPr/>
        </p:nvSpPr>
        <p:spPr>
          <a:xfrm>
            <a:off x="6313932" y="1737360"/>
            <a:ext cx="2402586" cy="274320"/>
          </a:xfrm>
          <a:prstGeom prst="rect">
            <a:avLst/>
          </a:prstGeom>
          <a:noFill/>
          <a:ln/>
        </p:spPr>
        <p:txBody>
          <a:bodyPr wrap="square" lIns="0" tIns="0" rIns="0" bIns="0" rtlCol="0" anchor="t"/>
          <a:lstStyle/>
          <a:p>
            <a:pPr indent="0" marL="0">
              <a:lnSpc>
                <a:spcPts val="1200"/>
              </a:lnSpc>
              <a:buNone/>
            </a:pPr>
            <a:r>
              <a:rPr lang="en-US" sz="950" dirty="0">
                <a:solidFill>
                  <a:srgbClr val="56677C"/>
                </a:solidFill>
                <a:latin typeface="Calibri" pitchFamily="34" charset="0"/>
                <a:ea typeface="Calibri" pitchFamily="34" charset="-122"/>
                <a:cs typeface="Calibri" pitchFamily="34" charset="-120"/>
              </a:rPr>
              <a:t>phrasings of the same question, using the same example SQL  [OFF-4]</a:t>
            </a:r>
            <a:endParaRPr lang="en-US" sz="950" dirty="0"/>
          </a:p>
        </p:txBody>
      </p:sp>
      <p:sp>
        <p:nvSpPr>
          <p:cNvPr id="15" name="Shape 13"/>
          <p:cNvSpPr/>
          <p:nvPr/>
        </p:nvSpPr>
        <p:spPr>
          <a:xfrm>
            <a:off x="9027414" y="1188720"/>
            <a:ext cx="2658618" cy="914400"/>
          </a:xfrm>
          <a:prstGeom prst="roundRect">
            <a:avLst>
              <a:gd name="adj" fmla="val 6000"/>
            </a:avLst>
          </a:prstGeom>
          <a:solidFill>
            <a:srgbClr val="0E1B2A"/>
          </a:solidFill>
          <a:ln w="9525">
            <a:solidFill>
              <a:srgbClr val="0E1B2A"/>
            </a:solidFill>
            <a:prstDash val="solid"/>
          </a:ln>
        </p:spPr>
      </p:sp>
      <p:sp>
        <p:nvSpPr>
          <p:cNvPr id="16" name="Text 14"/>
          <p:cNvSpPr txBox="1"/>
          <p:nvPr/>
        </p:nvSpPr>
        <p:spPr>
          <a:xfrm>
            <a:off x="9155430" y="1280160"/>
            <a:ext cx="2402586" cy="457200"/>
          </a:xfrm>
          <a:prstGeom prst="rect">
            <a:avLst/>
          </a:prstGeom>
          <a:noFill/>
          <a:ln/>
        </p:spPr>
        <p:txBody>
          <a:bodyPr wrap="square" lIns="0" tIns="0" rIns="0" bIns="0" rtlCol="0" anchor="t"/>
          <a:lstStyle/>
          <a:p>
            <a:pPr indent="0" marL="0">
              <a:buNone/>
            </a:pPr>
            <a:r>
              <a:rPr lang="en-US" sz="2600" b="1" dirty="0">
                <a:solidFill>
                  <a:srgbClr val="F0A34A"/>
                </a:solidFill>
                <a:latin typeface="Cambria" pitchFamily="34" charset="0"/>
                <a:ea typeface="Cambria" pitchFamily="34" charset="-122"/>
                <a:cs typeface="Cambria" pitchFamily="34" charset="-120"/>
              </a:rPr>
              <a:t>≥ 30</a:t>
            </a:r>
            <a:endParaRPr lang="en-US" sz="2600" dirty="0"/>
          </a:p>
        </p:txBody>
      </p:sp>
      <p:sp>
        <p:nvSpPr>
          <p:cNvPr id="17" name="Text 15"/>
          <p:cNvSpPr txBox="1"/>
          <p:nvPr/>
        </p:nvSpPr>
        <p:spPr>
          <a:xfrm>
            <a:off x="9155430" y="1737360"/>
            <a:ext cx="2402586" cy="274320"/>
          </a:xfrm>
          <a:prstGeom prst="rect">
            <a:avLst/>
          </a:prstGeom>
          <a:noFill/>
          <a:ln/>
        </p:spPr>
        <p:txBody>
          <a:bodyPr wrap="square" lIns="0" tIns="0" rIns="0" bIns="0" rtlCol="0" anchor="t"/>
          <a:lstStyle/>
          <a:p>
            <a:pPr indent="0" marL="0">
              <a:lnSpc>
                <a:spcPts val="1200"/>
              </a:lnSpc>
              <a:buNone/>
            </a:pPr>
            <a:r>
              <a:rPr lang="en-US" sz="950" dirty="0">
                <a:solidFill>
                  <a:srgbClr val="B7C7D8"/>
                </a:solidFill>
                <a:latin typeface="Calibri" pitchFamily="34" charset="0"/>
                <a:ea typeface="Calibri" pitchFamily="34" charset="-122"/>
                <a:cs typeface="Calibri" pitchFamily="34" charset="-120"/>
              </a:rPr>
              <a:t>valid items if the agent is intended for eval-driven tuning  [GH-1]</a:t>
            </a:r>
            <a:endParaRPr lang="en-US" sz="950" dirty="0"/>
          </a:p>
        </p:txBody>
      </p:sp>
      <p:sp>
        <p:nvSpPr>
          <p:cNvPr id="18" name="Text 16"/>
          <p:cNvSpPr txBox="1"/>
          <p:nvPr/>
        </p:nvSpPr>
        <p:spPr>
          <a:xfrm>
            <a:off x="502920" y="2231136"/>
            <a:ext cx="11183112" cy="219456"/>
          </a:xfrm>
          <a:prstGeom prst="rect">
            <a:avLst/>
          </a:prstGeom>
          <a:noFill/>
          <a:ln/>
        </p:spPr>
        <p:txBody>
          <a:bodyPr wrap="square" lIns="0" tIns="0" rIns="0" bIns="0" rtlCol="0" anchor="t"/>
          <a:lstStyle/>
          <a:p>
            <a:pPr indent="0" marL="0">
              <a:buNone/>
            </a:pPr>
            <a:r>
              <a:rPr lang="en-US" sz="1050" i="1" dirty="0">
                <a:solidFill>
                  <a:srgbClr val="2B3A4C"/>
                </a:solidFill>
                <a:latin typeface="Calibri" pitchFamily="34" charset="0"/>
                <a:ea typeface="Calibri" pitchFamily="34" charset="-122"/>
                <a:cs typeface="Calibri" pitchFamily="34" charset="-120"/>
              </a:rPr>
              <a:t>Benchmark questions run as new conversations — no threaded context. Each is processed as a new query using the agent's instructions, example SQL and SQL functions.  [OFF-4]</a:t>
            </a:r>
            <a:endParaRPr lang="en-US" sz="1050" dirty="0"/>
          </a:p>
        </p:txBody>
      </p:sp>
      <p:sp>
        <p:nvSpPr>
          <p:cNvPr id="19" name="Shape 17"/>
          <p:cNvSpPr/>
          <p:nvPr/>
        </p:nvSpPr>
        <p:spPr>
          <a:xfrm>
            <a:off x="502920" y="2542032"/>
            <a:ext cx="5504688" cy="1737360"/>
          </a:xfrm>
          <a:prstGeom prst="roundRect">
            <a:avLst>
              <a:gd name="adj" fmla="val 3158"/>
            </a:avLst>
          </a:prstGeom>
          <a:solidFill>
            <a:srgbClr val="F2F5F9"/>
          </a:solidFill>
          <a:ln w="9525">
            <a:solidFill>
              <a:srgbClr val="D2DDE9"/>
            </a:solidFill>
            <a:prstDash val="solid"/>
          </a:ln>
        </p:spPr>
      </p:sp>
      <p:sp>
        <p:nvSpPr>
          <p:cNvPr id="20" name="Shape 18"/>
          <p:cNvSpPr/>
          <p:nvPr/>
        </p:nvSpPr>
        <p:spPr>
          <a:xfrm>
            <a:off x="667512" y="2688336"/>
            <a:ext cx="274320" cy="274320"/>
          </a:xfrm>
          <a:prstGeom prst="roundRect">
            <a:avLst>
              <a:gd name="adj" fmla="val 16667"/>
            </a:avLst>
          </a:prstGeom>
          <a:solidFill>
            <a:srgbClr val="13456E"/>
          </a:solidFill>
          <a:ln/>
        </p:spPr>
      </p:sp>
      <p:sp>
        <p:nvSpPr>
          <p:cNvPr id="21" name="Text 19"/>
          <p:cNvSpPr txBox="1"/>
          <p:nvPr/>
        </p:nvSpPr>
        <p:spPr>
          <a:xfrm>
            <a:off x="667512" y="268833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a:t>
            </a:r>
            <a:endParaRPr lang="en-US" sz="1050" dirty="0"/>
          </a:p>
        </p:txBody>
      </p:sp>
      <p:sp>
        <p:nvSpPr>
          <p:cNvPr id="22" name="Text 20"/>
          <p:cNvSpPr txBox="1"/>
          <p:nvPr/>
        </p:nvSpPr>
        <p:spPr>
          <a:xfrm>
            <a:off x="1014984" y="2688336"/>
            <a:ext cx="4846320" cy="274320"/>
          </a:xfrm>
          <a:prstGeom prst="rect">
            <a:avLst/>
          </a:prstGeom>
          <a:noFill/>
          <a:ln/>
        </p:spPr>
        <p:txBody>
          <a:bodyPr wrap="square" lIns="0" tIns="0" rIns="0" bIns="0" rtlCol="0" anchor="ctr"/>
          <a:lstStyle/>
          <a:p>
            <a:pPr indent="0" marL="0">
              <a:buNone/>
            </a:pPr>
            <a:r>
              <a:rPr lang="en-US" sz="1350" b="1" dirty="0">
                <a:solidFill>
                  <a:srgbClr val="0E1B2A"/>
                </a:solidFill>
                <a:latin typeface="Calibri" pitchFamily="34" charset="0"/>
                <a:ea typeface="Calibri" pitchFamily="34" charset="-122"/>
                <a:cs typeface="Calibri" pitchFamily="34" charset="-120"/>
              </a:rPr>
              <a:t>Chat mode  (default)</a:t>
            </a:r>
            <a:endParaRPr lang="en-US" sz="1350" dirty="0"/>
          </a:p>
        </p:txBody>
      </p:sp>
      <p:sp>
        <p:nvSpPr>
          <p:cNvPr id="23" name="Text 21"/>
          <p:cNvSpPr txBox="1"/>
          <p:nvPr/>
        </p:nvSpPr>
        <p:spPr>
          <a:xfrm>
            <a:off x="667512" y="3054096"/>
            <a:ext cx="5175504" cy="109728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Accuracy is assessed by comparing Genie's SQL-generated results against a provided SQL Answer. Only questions that include a SQL Answer can be scored automatically — the rest require manual review. Unity Catalog SQL functions can serve as gold-standard answers.</a:t>
            </a:r>
            <a:endParaRPr lang="en-US" sz="1050" dirty="0"/>
          </a:p>
        </p:txBody>
      </p:sp>
      <p:sp>
        <p:nvSpPr>
          <p:cNvPr id="24" name="Shape 22"/>
          <p:cNvSpPr/>
          <p:nvPr/>
        </p:nvSpPr>
        <p:spPr>
          <a:xfrm>
            <a:off x="6181344" y="2542032"/>
            <a:ext cx="5504688" cy="1737360"/>
          </a:xfrm>
          <a:prstGeom prst="roundRect">
            <a:avLst>
              <a:gd name="adj" fmla="val 3158"/>
            </a:avLst>
          </a:prstGeom>
          <a:solidFill>
            <a:srgbClr val="F2F5F9"/>
          </a:solidFill>
          <a:ln w="9525">
            <a:solidFill>
              <a:srgbClr val="D2DDE9"/>
            </a:solidFill>
            <a:prstDash val="solid"/>
          </a:ln>
        </p:spPr>
      </p:sp>
      <p:sp>
        <p:nvSpPr>
          <p:cNvPr id="25" name="Shape 23"/>
          <p:cNvSpPr/>
          <p:nvPr/>
        </p:nvSpPr>
        <p:spPr>
          <a:xfrm>
            <a:off x="6345936" y="2688336"/>
            <a:ext cx="274320" cy="274320"/>
          </a:xfrm>
          <a:prstGeom prst="roundRect">
            <a:avLst>
              <a:gd name="adj" fmla="val 16667"/>
            </a:avLst>
          </a:prstGeom>
          <a:solidFill>
            <a:srgbClr val="E8552D"/>
          </a:solidFill>
          <a:ln/>
        </p:spPr>
      </p:sp>
      <p:sp>
        <p:nvSpPr>
          <p:cNvPr id="26" name="Text 24"/>
          <p:cNvSpPr txBox="1"/>
          <p:nvPr/>
        </p:nvSpPr>
        <p:spPr>
          <a:xfrm>
            <a:off x="6345936" y="268833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27" name="Text 25"/>
          <p:cNvSpPr txBox="1"/>
          <p:nvPr/>
        </p:nvSpPr>
        <p:spPr>
          <a:xfrm>
            <a:off x="6693408" y="2688336"/>
            <a:ext cx="4846320" cy="274320"/>
          </a:xfrm>
          <a:prstGeom prst="rect">
            <a:avLst/>
          </a:prstGeom>
          <a:noFill/>
          <a:ln/>
        </p:spPr>
        <p:txBody>
          <a:bodyPr wrap="square" lIns="0" tIns="0" rIns="0" bIns="0" rtlCol="0" anchor="ctr"/>
          <a:lstStyle/>
          <a:p>
            <a:pPr indent="0" marL="0">
              <a:buNone/>
            </a:pPr>
            <a:r>
              <a:rPr lang="en-US" sz="1350" b="1" dirty="0">
                <a:solidFill>
                  <a:srgbClr val="0E1B2A"/>
                </a:solidFill>
                <a:latin typeface="Calibri" pitchFamily="34" charset="0"/>
                <a:ea typeface="Calibri" pitchFamily="34" charset="-122"/>
                <a:cs typeface="Calibri" pitchFamily="34" charset="-120"/>
              </a:rPr>
              <a:t>Agent mode</a:t>
            </a:r>
            <a:endParaRPr lang="en-US" sz="1350" dirty="0"/>
          </a:p>
        </p:txBody>
      </p:sp>
      <p:sp>
        <p:nvSpPr>
          <p:cNvPr id="28" name="Text 26"/>
          <p:cNvSpPr txBox="1"/>
          <p:nvPr/>
        </p:nvSpPr>
        <p:spPr>
          <a:xfrm>
            <a:off x="6345936" y="3054096"/>
            <a:ext cx="5175504" cy="109728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Runs with the same multi-step reasoning as Genie's Agent mode. An LLM judge grades responses, guided by an optional evaluation note which can reference expected content in the generated text report. Use it where the right answer is an analysis, not a result set.</a:t>
            </a:r>
            <a:endParaRPr lang="en-US" sz="1050" dirty="0"/>
          </a:p>
        </p:txBody>
      </p:sp>
      <p:sp>
        <p:nvSpPr>
          <p:cNvPr id="29" name="Shape 27"/>
          <p:cNvSpPr/>
          <p:nvPr/>
        </p:nvSpPr>
        <p:spPr>
          <a:xfrm>
            <a:off x="502920" y="4443984"/>
            <a:ext cx="11183112" cy="530352"/>
          </a:xfrm>
          <a:prstGeom prst="roundRect">
            <a:avLst>
              <a:gd name="adj" fmla="val 10345"/>
            </a:avLst>
          </a:prstGeom>
          <a:solidFill>
            <a:srgbClr val="0E1B2A"/>
          </a:solidFill>
          <a:ln w="9525">
            <a:solidFill>
              <a:srgbClr val="0E1B2A"/>
            </a:solidFill>
            <a:prstDash val="solid"/>
          </a:ln>
        </p:spPr>
      </p:sp>
      <p:sp>
        <p:nvSpPr>
          <p:cNvPr id="30" name="Shape 28"/>
          <p:cNvSpPr/>
          <p:nvPr/>
        </p:nvSpPr>
        <p:spPr>
          <a:xfrm>
            <a:off x="685800" y="4572000"/>
            <a:ext cx="274320" cy="274320"/>
          </a:xfrm>
          <a:prstGeom prst="roundRect">
            <a:avLst>
              <a:gd name="adj" fmla="val 16667"/>
            </a:avLst>
          </a:prstGeom>
          <a:solidFill>
            <a:srgbClr val="F0A34A"/>
          </a:solidFill>
          <a:ln/>
        </p:spPr>
      </p:sp>
      <p:sp>
        <p:nvSpPr>
          <p:cNvPr id="31" name="Text 29"/>
          <p:cNvSpPr txBox="1"/>
          <p:nvPr/>
        </p:nvSpPr>
        <p:spPr>
          <a:xfrm>
            <a:off x="685800" y="457200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2" name="Text 30"/>
          <p:cNvSpPr txBox="1"/>
          <p:nvPr/>
        </p:nvSpPr>
        <p:spPr>
          <a:xfrm>
            <a:off x="1106424" y="4535424"/>
            <a:ext cx="10396728" cy="347472"/>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The execution mode is selected at run time, not per question — it applies to every question in the run. Author ground truth to match the mode you intend to run.  [OFF-4]</a:t>
            </a:r>
            <a:endParaRPr lang="en-US" sz="1050" dirty="0"/>
          </a:p>
        </p:txBody>
      </p:sp>
      <p:sp>
        <p:nvSpPr>
          <p:cNvPr id="33" name="Text 31"/>
          <p:cNvSpPr txBox="1"/>
          <p:nvPr/>
        </p:nvSpPr>
        <p:spPr>
          <a:xfrm>
            <a:off x="502920" y="5029200"/>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AUTHORING RULES</a:t>
            </a:r>
            <a:endParaRPr lang="en-US" sz="850" dirty="0"/>
          </a:p>
        </p:txBody>
      </p:sp>
      <p:sp>
        <p:nvSpPr>
          <p:cNvPr id="34" name="Shape 32"/>
          <p:cNvSpPr/>
          <p:nvPr/>
        </p:nvSpPr>
        <p:spPr>
          <a:xfrm>
            <a:off x="502920" y="5266944"/>
            <a:ext cx="2672334" cy="1024128"/>
          </a:xfrm>
          <a:prstGeom prst="roundRect">
            <a:avLst>
              <a:gd name="adj" fmla="val 5357"/>
            </a:avLst>
          </a:prstGeom>
          <a:solidFill>
            <a:srgbClr val="F2F5F9"/>
          </a:solidFill>
          <a:ln w="9525">
            <a:solidFill>
              <a:srgbClr val="D2DDE9"/>
            </a:solidFill>
            <a:prstDash val="solid"/>
          </a:ln>
        </p:spPr>
      </p:sp>
      <p:sp>
        <p:nvSpPr>
          <p:cNvPr id="35" name="Text 33"/>
          <p:cNvSpPr txBox="1"/>
          <p:nvPr/>
        </p:nvSpPr>
        <p:spPr>
          <a:xfrm>
            <a:off x="649224" y="5385816"/>
            <a:ext cx="2379726" cy="292608"/>
          </a:xfrm>
          <a:prstGeom prst="rect">
            <a:avLst/>
          </a:prstGeom>
          <a:noFill/>
          <a:ln/>
        </p:spPr>
        <p:txBody>
          <a:bodyPr wrap="square" lIns="0" tIns="0" rIns="0" bIns="0" rtlCol="0" anchor="t"/>
          <a:lstStyle/>
          <a:p>
            <a:pPr indent="0" marL="0">
              <a:buNone/>
            </a:pPr>
            <a:r>
              <a:rPr lang="en-US" sz="1050" b="1" dirty="0">
                <a:solidFill>
                  <a:srgbClr val="0E1B2A"/>
                </a:solidFill>
                <a:latin typeface="Calibri" pitchFamily="34" charset="0"/>
                <a:ea typeface="Calibri" pitchFamily="34" charset="-122"/>
                <a:cs typeface="Calibri" pitchFamily="34" charset="-120"/>
              </a:rPr>
              <a:t>Vary the phrasing</a:t>
            </a:r>
            <a:endParaRPr lang="en-US" sz="1050" dirty="0"/>
          </a:p>
        </p:txBody>
      </p:sp>
      <p:sp>
        <p:nvSpPr>
          <p:cNvPr id="36" name="Text 34"/>
          <p:cNvSpPr txBox="1"/>
          <p:nvPr/>
        </p:nvSpPr>
        <p:spPr>
          <a:xfrm>
            <a:off x="649224" y="5724144"/>
            <a:ext cx="2379726" cy="44805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Reflect the different ways users phrase the common questions they ask.  [OFF-4]</a:t>
            </a:r>
            <a:endParaRPr lang="en-US" sz="900" dirty="0"/>
          </a:p>
        </p:txBody>
      </p:sp>
      <p:sp>
        <p:nvSpPr>
          <p:cNvPr id="37" name="Shape 35"/>
          <p:cNvSpPr/>
          <p:nvPr/>
        </p:nvSpPr>
        <p:spPr>
          <a:xfrm>
            <a:off x="3339846" y="5266944"/>
            <a:ext cx="2672334" cy="1024128"/>
          </a:xfrm>
          <a:prstGeom prst="roundRect">
            <a:avLst>
              <a:gd name="adj" fmla="val 5357"/>
            </a:avLst>
          </a:prstGeom>
          <a:solidFill>
            <a:srgbClr val="F2F5F9"/>
          </a:solidFill>
          <a:ln w="9525">
            <a:solidFill>
              <a:srgbClr val="D2DDE9"/>
            </a:solidFill>
            <a:prstDash val="solid"/>
          </a:ln>
        </p:spPr>
      </p:sp>
      <p:sp>
        <p:nvSpPr>
          <p:cNvPr id="38" name="Text 36"/>
          <p:cNvSpPr txBox="1"/>
          <p:nvPr/>
        </p:nvSpPr>
        <p:spPr>
          <a:xfrm>
            <a:off x="3486150" y="5385816"/>
            <a:ext cx="2379726" cy="292608"/>
          </a:xfrm>
          <a:prstGeom prst="rect">
            <a:avLst/>
          </a:prstGeom>
          <a:noFill/>
          <a:ln/>
        </p:spPr>
        <p:txBody>
          <a:bodyPr wrap="square" lIns="0" tIns="0" rIns="0" bIns="0" rtlCol="0" anchor="t"/>
          <a:lstStyle/>
          <a:p>
            <a:pPr indent="0" marL="0">
              <a:buNone/>
            </a:pPr>
            <a:r>
              <a:rPr lang="en-US" sz="1050" b="1" dirty="0">
                <a:solidFill>
                  <a:srgbClr val="0E1B2A"/>
                </a:solidFill>
                <a:latin typeface="Calibri" pitchFamily="34" charset="0"/>
                <a:ea typeface="Calibri" pitchFamily="34" charset="-122"/>
                <a:cs typeface="Calibri" pitchFamily="34" charset="-120"/>
              </a:rPr>
              <a:t>Concrete, not parameterized</a:t>
            </a:r>
            <a:endParaRPr lang="en-US" sz="1050" dirty="0"/>
          </a:p>
        </p:txBody>
      </p:sp>
      <p:sp>
        <p:nvSpPr>
          <p:cNvPr id="39" name="Text 37"/>
          <p:cNvSpPr txBox="1"/>
          <p:nvPr/>
        </p:nvSpPr>
        <p:spPr>
          <a:xfrm>
            <a:off x="3486150" y="5724144"/>
            <a:ext cx="2379726" cy="44805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Hardcode them. Avoid zero-row benchmark SQL unless the benchmark explicitly tests empty results.  [GH-1]</a:t>
            </a:r>
            <a:endParaRPr lang="en-US" sz="900" dirty="0"/>
          </a:p>
        </p:txBody>
      </p:sp>
      <p:sp>
        <p:nvSpPr>
          <p:cNvPr id="40" name="Shape 38"/>
          <p:cNvSpPr/>
          <p:nvPr/>
        </p:nvSpPr>
        <p:spPr>
          <a:xfrm>
            <a:off x="6176772" y="5266944"/>
            <a:ext cx="2672334" cy="1024128"/>
          </a:xfrm>
          <a:prstGeom prst="roundRect">
            <a:avLst>
              <a:gd name="adj" fmla="val 5357"/>
            </a:avLst>
          </a:prstGeom>
          <a:solidFill>
            <a:srgbClr val="F2F5F9"/>
          </a:solidFill>
          <a:ln w="9525">
            <a:solidFill>
              <a:srgbClr val="D2DDE9"/>
            </a:solidFill>
            <a:prstDash val="solid"/>
          </a:ln>
        </p:spPr>
      </p:sp>
      <p:sp>
        <p:nvSpPr>
          <p:cNvPr id="41" name="Text 39"/>
          <p:cNvSpPr txBox="1"/>
          <p:nvPr/>
        </p:nvSpPr>
        <p:spPr>
          <a:xfrm>
            <a:off x="6323076" y="5385816"/>
            <a:ext cx="2379726" cy="292608"/>
          </a:xfrm>
          <a:prstGeom prst="rect">
            <a:avLst/>
          </a:prstGeom>
          <a:noFill/>
          <a:ln/>
        </p:spPr>
        <p:txBody>
          <a:bodyPr wrap="square" lIns="0" tIns="0" rIns="0" bIns="0" rtlCol="0" anchor="t"/>
          <a:lstStyle/>
          <a:p>
            <a:pPr indent="0" marL="0">
              <a:buNone/>
            </a:pPr>
            <a:r>
              <a:rPr lang="en-US" sz="1050" b="1" dirty="0">
                <a:solidFill>
                  <a:srgbClr val="0E1B2A"/>
                </a:solidFill>
                <a:latin typeface="Calibri" pitchFamily="34" charset="0"/>
                <a:ea typeface="Calibri" pitchFamily="34" charset="-122"/>
                <a:cs typeface="Calibri" pitchFamily="34" charset="-120"/>
              </a:rPr>
              <a:t>Keep the three sets separate</a:t>
            </a:r>
            <a:endParaRPr lang="en-US" sz="1050" dirty="0"/>
          </a:p>
        </p:txBody>
      </p:sp>
      <p:sp>
        <p:nvSpPr>
          <p:cNvPr id="42" name="Text 40"/>
          <p:cNvSpPr txBox="1"/>
          <p:nvPr/>
        </p:nvSpPr>
        <p:spPr>
          <a:xfrm>
            <a:off x="6323076" y="5724144"/>
            <a:ext cx="2379726" cy="44805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Sample questions stay user-facing, example SQL stays instructive, benchmarks stay evaluative.  [GH-1]</a:t>
            </a:r>
            <a:endParaRPr lang="en-US" sz="900" dirty="0"/>
          </a:p>
        </p:txBody>
      </p:sp>
      <p:sp>
        <p:nvSpPr>
          <p:cNvPr id="43" name="Shape 41"/>
          <p:cNvSpPr/>
          <p:nvPr/>
        </p:nvSpPr>
        <p:spPr>
          <a:xfrm>
            <a:off x="9013698" y="5266944"/>
            <a:ext cx="2672334" cy="1024128"/>
          </a:xfrm>
          <a:prstGeom prst="roundRect">
            <a:avLst>
              <a:gd name="adj" fmla="val 5357"/>
            </a:avLst>
          </a:prstGeom>
          <a:solidFill>
            <a:srgbClr val="F2F5F9"/>
          </a:solidFill>
          <a:ln w="9525">
            <a:solidFill>
              <a:srgbClr val="D2DDE9"/>
            </a:solidFill>
            <a:prstDash val="solid"/>
          </a:ln>
        </p:spPr>
      </p:sp>
      <p:sp>
        <p:nvSpPr>
          <p:cNvPr id="44" name="Text 42"/>
          <p:cNvSpPr txBox="1"/>
          <p:nvPr/>
        </p:nvSpPr>
        <p:spPr>
          <a:xfrm>
            <a:off x="9160002" y="5385816"/>
            <a:ext cx="2379726" cy="292608"/>
          </a:xfrm>
          <a:prstGeom prst="rect">
            <a:avLst/>
          </a:prstGeom>
          <a:noFill/>
          <a:ln/>
        </p:spPr>
        <p:txBody>
          <a:bodyPr wrap="square" lIns="0" tIns="0" rIns="0" bIns="0" rtlCol="0" anchor="t"/>
          <a:lstStyle/>
          <a:p>
            <a:pPr indent="0" marL="0">
              <a:buNone/>
            </a:pPr>
            <a:r>
              <a:rPr lang="en-US" sz="1050" b="1" dirty="0">
                <a:solidFill>
                  <a:srgbClr val="0E1B2A"/>
                </a:solidFill>
                <a:latin typeface="Calibri" pitchFamily="34" charset="0"/>
                <a:ea typeface="Calibri" pitchFamily="34" charset="-122"/>
                <a:cs typeface="Calibri" pitchFamily="34" charset="-120"/>
              </a:rPr>
              <a:t>Never cross-contaminate</a:t>
            </a:r>
            <a:endParaRPr lang="en-US" sz="1050" dirty="0"/>
          </a:p>
        </p:txBody>
      </p:sp>
      <p:sp>
        <p:nvSpPr>
          <p:cNvPr id="45" name="Text 43"/>
          <p:cNvSpPr txBox="1"/>
          <p:nvPr/>
        </p:nvSpPr>
        <p:spPr>
          <a:xfrm>
            <a:off x="9160002" y="5724144"/>
            <a:ext cx="2379726" cy="44805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Never copy benchmark questions or answer SQL into examples.  [GH-1]</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10.3 RATING RULES AND RUN REVIEW</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How Chat mode decides Good or Bad [OFF-4]</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36</a:t>
            </a:r>
            <a:endParaRPr lang="en-US" sz="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6035040" cy="914400"/>
        </p:xfrm>
        <a:graphic>
          <a:graphicData uri="http://schemas.openxmlformats.org/drawingml/2006/table">
            <a:tbl>
              <a:tblPr/>
              <a:tblGrid>
                <a:gridCol w="4892040"/>
                <a:gridCol w="11430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Condition</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Rating</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0">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Generated SQL exactly matches the provided SQL Answer</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B7A5A"/>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Result set exactly matches the SQL Answer's result set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B7A5A"/>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Same data as the SQL Answer but sorted differently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1B7A5A"/>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Numeric values round to the same 4 significant digits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1B7A5A"/>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SQL produces an empty result set or returns an error</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B3321E"/>
                          </a:solidFill>
                          <a:latin typeface="Calibri" pitchFamily="34" charset="0"/>
                          <a:ea typeface="Calibri" pitchFamily="34" charset="-122"/>
                          <a:cs typeface="Calibri" pitchFamily="34" charset="-120"/>
                        </a:rPr>
                        <a:t>Bad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Result set includes extra columns versus the SQL Answer</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b="1" dirty="0">
                          <a:solidFill>
                            <a:srgbClr val="B3321E"/>
                          </a:solidFill>
                          <a:latin typeface="Calibri" pitchFamily="34" charset="0"/>
                          <a:ea typeface="Calibri" pitchFamily="34" charset="-122"/>
                          <a:cs typeface="Calibri" pitchFamily="34" charset="-120"/>
                        </a:rPr>
                        <a:t>Bad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A single-cell result differs from the SQL Answer's single-cell result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b="1" dirty="0">
                          <a:solidFill>
                            <a:srgbClr val="B3321E"/>
                          </a:solidFill>
                          <a:latin typeface="Calibri" pitchFamily="34" charset="0"/>
                          <a:ea typeface="Calibri" pitchFamily="34" charset="-122"/>
                          <a:cs typeface="Calibri" pitchFamily="34" charset="-120"/>
                        </a:rPr>
                        <a:t>Bad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Shape 4"/>
          <p:cNvSpPr/>
          <p:nvPr/>
        </p:nvSpPr>
        <p:spPr>
          <a:xfrm>
            <a:off x="502920" y="3200400"/>
            <a:ext cx="6035040" cy="1371600"/>
          </a:xfrm>
          <a:prstGeom prst="roundRect">
            <a:avLst>
              <a:gd name="adj" fmla="val 4000"/>
            </a:avLst>
          </a:prstGeom>
          <a:solidFill>
            <a:srgbClr val="FBEDEA"/>
          </a:solidFill>
          <a:ln w="9525">
            <a:solidFill>
              <a:srgbClr val="E8B5AA"/>
            </a:solidFill>
            <a:prstDash val="solid"/>
          </a:ln>
        </p:spPr>
      </p:sp>
      <p:sp>
        <p:nvSpPr>
          <p:cNvPr id="8" name="Text 5"/>
          <p:cNvSpPr txBox="1"/>
          <p:nvPr/>
        </p:nvSpPr>
        <p:spPr>
          <a:xfrm>
            <a:off x="685800" y="3328416"/>
            <a:ext cx="5669280" cy="256032"/>
          </a:xfrm>
          <a:prstGeom prst="rect">
            <a:avLst/>
          </a:prstGeom>
          <a:noFill/>
          <a:ln/>
        </p:spPr>
        <p:txBody>
          <a:bodyPr wrap="square" lIns="0" tIns="0" rIns="0" bIns="0" rtlCol="0" anchor="t"/>
          <a:lstStyle/>
          <a:p>
            <a:pPr indent="0" marL="0">
              <a:buNone/>
            </a:pPr>
            <a:r>
              <a:rPr lang="en-US" sz="1300" b="1" dirty="0">
                <a:solidFill>
                  <a:srgbClr val="B3321E"/>
                </a:solidFill>
                <a:latin typeface="Calibri" pitchFamily="34" charset="0"/>
                <a:ea typeface="Calibri" pitchFamily="34" charset="-122"/>
                <a:cs typeface="Calibri" pitchFamily="34" charset="-120"/>
              </a:rPr>
              <a:t>The 5,000-row trap</a:t>
            </a:r>
            <a:endParaRPr lang="en-US" sz="1300" dirty="0"/>
          </a:p>
        </p:txBody>
      </p:sp>
      <p:sp>
        <p:nvSpPr>
          <p:cNvPr id="9" name="Text 6"/>
          <p:cNvSpPr txBox="1"/>
          <p:nvPr/>
        </p:nvSpPr>
        <p:spPr>
          <a:xfrm>
            <a:off x="685800" y="3602736"/>
            <a:ext cx="5669280" cy="859536"/>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Chat mode compares up to 5,000 rows per result set. If a result exceeds 5,000 rows and row order differs, truncation can rate a genuinely matching result Bad. Write SQL Answers that return fewer than 5,000 rows, or add ORDER BY to both sides so row order stays consistent.</a:t>
            </a:r>
            <a:endParaRPr lang="en-US" sz="1050" dirty="0"/>
          </a:p>
        </p:txBody>
      </p:sp>
      <p:sp>
        <p:nvSpPr>
          <p:cNvPr id="10" name="Shape 7"/>
          <p:cNvSpPr/>
          <p:nvPr/>
        </p:nvSpPr>
        <p:spPr>
          <a:xfrm>
            <a:off x="6675120" y="1188720"/>
            <a:ext cx="5010912" cy="1165860"/>
          </a:xfrm>
          <a:prstGeom prst="roundRect">
            <a:avLst>
              <a:gd name="adj" fmla="val 4706"/>
            </a:avLst>
          </a:prstGeom>
          <a:solidFill>
            <a:srgbClr val="F2F5F9"/>
          </a:solidFill>
          <a:ln w="9525">
            <a:solidFill>
              <a:srgbClr val="D2DDE9"/>
            </a:solidFill>
            <a:prstDash val="solid"/>
          </a:ln>
        </p:spPr>
      </p:sp>
      <p:sp>
        <p:nvSpPr>
          <p:cNvPr id="11" name="Text 8"/>
          <p:cNvSpPr txBox="1"/>
          <p:nvPr/>
        </p:nvSpPr>
        <p:spPr>
          <a:xfrm>
            <a:off x="6821424" y="1307592"/>
            <a:ext cx="4718304"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Runs survive navigation</a:t>
            </a:r>
            <a:endParaRPr lang="en-US" sz="1150" dirty="0"/>
          </a:p>
        </p:txBody>
      </p:sp>
      <p:sp>
        <p:nvSpPr>
          <p:cNvPr id="12" name="Text 9"/>
          <p:cNvSpPr txBox="1"/>
          <p:nvPr/>
        </p:nvSpPr>
        <p:spPr>
          <a:xfrm>
            <a:off x="6821424" y="1645920"/>
            <a:ext cx="4718304" cy="58978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Runs continue when you navigate away. Results appear on the Evaluations tab with execution status, accuracy and creator.</a:t>
            </a:r>
            <a:endParaRPr lang="en-US" sz="1000" dirty="0"/>
          </a:p>
        </p:txBody>
      </p:sp>
      <p:sp>
        <p:nvSpPr>
          <p:cNvPr id="13" name="Shape 10"/>
          <p:cNvSpPr/>
          <p:nvPr/>
        </p:nvSpPr>
        <p:spPr>
          <a:xfrm>
            <a:off x="6675120" y="2500884"/>
            <a:ext cx="5010912" cy="1165860"/>
          </a:xfrm>
          <a:prstGeom prst="roundRect">
            <a:avLst>
              <a:gd name="adj" fmla="val 4706"/>
            </a:avLst>
          </a:prstGeom>
          <a:solidFill>
            <a:srgbClr val="F2F5F9"/>
          </a:solidFill>
          <a:ln w="9525">
            <a:solidFill>
              <a:srgbClr val="D2DDE9"/>
            </a:solidFill>
            <a:prstDash val="solid"/>
          </a:ln>
        </p:spPr>
      </p:sp>
      <p:sp>
        <p:nvSpPr>
          <p:cNvPr id="14" name="Text 11"/>
          <p:cNvSpPr txBox="1"/>
          <p:nvPr/>
        </p:nvSpPr>
        <p:spPr>
          <a:xfrm>
            <a:off x="6821424" y="2619756"/>
            <a:ext cx="4718304"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Compare and correct</a:t>
            </a:r>
            <a:endParaRPr lang="en-US" sz="1150" dirty="0"/>
          </a:p>
        </p:txBody>
      </p:sp>
      <p:sp>
        <p:nvSpPr>
          <p:cNvPr id="15" name="Text 12"/>
          <p:cNvSpPr txBox="1"/>
          <p:nvPr/>
        </p:nvSpPr>
        <p:spPr>
          <a:xfrm>
            <a:off x="6821424" y="2958084"/>
            <a:ext cx="4718304" cy="58978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Open a run to compare Model output against Ground truth, with an explanation for each Bad rating. Mark results Good or Bad manually, and click Update ground truth to save a better response as the new ground truth.</a:t>
            </a:r>
            <a:endParaRPr lang="en-US" sz="1000" dirty="0"/>
          </a:p>
        </p:txBody>
      </p:sp>
      <p:sp>
        <p:nvSpPr>
          <p:cNvPr id="16" name="Shape 13"/>
          <p:cNvSpPr/>
          <p:nvPr/>
        </p:nvSpPr>
        <p:spPr>
          <a:xfrm>
            <a:off x="6675120" y="3813048"/>
            <a:ext cx="5010912" cy="1165860"/>
          </a:xfrm>
          <a:prstGeom prst="roundRect">
            <a:avLst>
              <a:gd name="adj" fmla="val 4706"/>
            </a:avLst>
          </a:prstGeom>
          <a:solidFill>
            <a:srgbClr val="FBEDEA"/>
          </a:solidFill>
          <a:ln w="9525">
            <a:solidFill>
              <a:srgbClr val="E8B5AA"/>
            </a:solidFill>
            <a:prstDash val="solid"/>
          </a:ln>
        </p:spPr>
      </p:sp>
      <p:sp>
        <p:nvSpPr>
          <p:cNvPr id="17" name="Text 14"/>
          <p:cNvSpPr txBox="1"/>
          <p:nvPr/>
        </p:nvSpPr>
        <p:spPr>
          <a:xfrm>
            <a:off x="6821424" y="3931920"/>
            <a:ext cx="4718304"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Results expire in one week</a:t>
            </a:r>
            <a:endParaRPr lang="en-US" sz="1150" dirty="0"/>
          </a:p>
        </p:txBody>
      </p:sp>
      <p:sp>
        <p:nvSpPr>
          <p:cNvPr id="18" name="Text 15"/>
          <p:cNvSpPr txBox="1"/>
          <p:nvPr/>
        </p:nvSpPr>
        <p:spPr>
          <a:xfrm>
            <a:off x="6821424" y="4270248"/>
            <a:ext cx="4718304" cy="58978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Response results are visible in evaluation details for one week. After that the generated SQL and example SQL remain, but the results do not. Capture anything you need for an audit trail before then.</a:t>
            </a:r>
            <a:endParaRPr lang="en-US" sz="1000" dirty="0"/>
          </a:p>
        </p:txBody>
      </p:sp>
      <p:sp>
        <p:nvSpPr>
          <p:cNvPr id="19" name="Shape 16"/>
          <p:cNvSpPr/>
          <p:nvPr/>
        </p:nvSpPr>
        <p:spPr>
          <a:xfrm>
            <a:off x="6675120" y="5125212"/>
            <a:ext cx="5010912" cy="1165860"/>
          </a:xfrm>
          <a:prstGeom prst="roundRect">
            <a:avLst>
              <a:gd name="adj" fmla="val 4706"/>
            </a:avLst>
          </a:prstGeom>
          <a:solidFill>
            <a:srgbClr val="F2F5F9"/>
          </a:solidFill>
          <a:ln w="9525">
            <a:solidFill>
              <a:srgbClr val="D2DDE9"/>
            </a:solidFill>
            <a:prstDash val="solid"/>
          </a:ln>
        </p:spPr>
      </p:sp>
      <p:sp>
        <p:nvSpPr>
          <p:cNvPr id="20" name="Text 17"/>
          <p:cNvSpPr txBox="1"/>
          <p:nvPr/>
        </p:nvSpPr>
        <p:spPr>
          <a:xfrm>
            <a:off x="6821424" y="5244084"/>
            <a:ext cx="4718304"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Rerun a subset</a:t>
            </a:r>
            <a:endParaRPr lang="en-US" sz="1150" dirty="0"/>
          </a:p>
        </p:txBody>
      </p:sp>
      <p:sp>
        <p:nvSpPr>
          <p:cNvPr id="21" name="Text 18"/>
          <p:cNvSpPr txBox="1"/>
          <p:nvPr/>
        </p:nvSpPr>
        <p:spPr>
          <a:xfrm>
            <a:off x="6821424" y="5582412"/>
            <a:ext cx="4718304" cy="58978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You can rerun a subset of questions from a previous run to test improvements, rather than paying for a full re-run on every iteration.</a:t>
            </a:r>
            <a:endParaRPr lang="en-US" sz="1000" dirty="0"/>
          </a:p>
        </p:txBody>
      </p:sp>
      <p:sp>
        <p:nvSpPr>
          <p:cNvPr id="22" name="Text 19"/>
          <p:cNvSpPr txBox="1"/>
          <p:nvPr/>
        </p:nvSpPr>
        <p:spPr>
          <a:xfrm>
            <a:off x="502920" y="4718304"/>
            <a:ext cx="6035040"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MONITORING AND USER TESTING  [OFF-1] [OFF-4]</a:t>
            </a:r>
            <a:endParaRPr lang="en-US" sz="85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502920" y="4956048"/>
          <a:ext cx="6035040" cy="914400"/>
        </p:xfrm>
        <a:graphic>
          <a:graphicData uri="http://schemas.openxmlformats.org/drawingml/2006/table">
            <a:tbl>
              <a:tblPr/>
              <a:tblGrid>
                <a:gridCol w="1417320"/>
                <a:gridCol w="461772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Surface</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gives you</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256032">
                <a:tc>
                  <a:txBody>
                    <a:bodyPr/>
                    <a:lstStyle/>
                    <a:p>
                      <a:pPr indent="0" marL="0">
                        <a:buNone/>
                      </a:pPr>
                      <a:r>
                        <a:rPr lang="en-US" sz="850" b="1" dirty="0">
                          <a:solidFill>
                            <a:srgbClr val="2B3A4C"/>
                          </a:solidFill>
                          <a:latin typeface="Calibri" pitchFamily="34" charset="0"/>
                          <a:ea typeface="Calibri" pitchFamily="34" charset="-122"/>
                          <a:cs typeface="Calibri" pitchFamily="34" charset="-120"/>
                        </a:rPr>
                        <a:t>Monitor tab</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850" dirty="0">
                          <a:solidFill>
                            <a:srgbClr val="2B3A4C"/>
                          </a:solidFill>
                          <a:latin typeface="Calibri" pitchFamily="34" charset="0"/>
                          <a:ea typeface="Calibri" pitchFamily="34" charset="-122"/>
                          <a:cs typeface="Calibri" pitchFamily="34" charset="-120"/>
                        </a:rPr>
                        <a:t>Every question and answer asked, filterable by time, rating, user or status.</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56032">
                <a:tc>
                  <a:txBody>
                    <a:bodyPr/>
                    <a:lstStyle/>
                    <a:p>
                      <a:pPr indent="0" marL="0">
                        <a:buNone/>
                      </a:pPr>
                      <a:r>
                        <a:rPr lang="en-US" sz="850" b="1" dirty="0">
                          <a:solidFill>
                            <a:srgbClr val="2B3A4C"/>
                          </a:solidFill>
                          <a:latin typeface="Calibri" pitchFamily="34" charset="0"/>
                          <a:ea typeface="Calibri" pitchFamily="34" charset="-122"/>
                          <a:cs typeface="Calibri" pitchFamily="34" charset="-120"/>
                        </a:rPr>
                        <a:t>Weekly digest</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850" dirty="0">
                          <a:solidFill>
                            <a:srgbClr val="2B3A4C"/>
                          </a:solidFill>
                          <a:latin typeface="Calibri" pitchFamily="34" charset="0"/>
                          <a:ea typeface="Calibri" pitchFamily="34" charset="-122"/>
                          <a:cs typeface="Calibri" pitchFamily="34" charset="-120"/>
                        </a:rPr>
                        <a:t>Weekly message volume, active users, and thumbs up / down feedback.</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256032">
                <a:tc>
                  <a:txBody>
                    <a:bodyPr/>
                    <a:lstStyle/>
                    <a:p>
                      <a:pPr indent="0" marL="0">
                        <a:buNone/>
                      </a:pPr>
                      <a:r>
                        <a:rPr lang="en-US" sz="850" b="1" dirty="0">
                          <a:solidFill>
                            <a:srgbClr val="2B3A4C"/>
                          </a:solidFill>
                          <a:latin typeface="Calibri" pitchFamily="34" charset="0"/>
                          <a:ea typeface="Calibri" pitchFamily="34" charset="-122"/>
                          <a:cs typeface="Calibri" pitchFamily="34" charset="-120"/>
                        </a:rPr>
                        <a:t>Conversation visibility</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850" dirty="0">
                          <a:solidFill>
                            <a:srgbClr val="2B3A4C"/>
                          </a:solidFill>
                          <a:latin typeface="Calibri" pitchFamily="34" charset="0"/>
                          <a:ea typeface="Calibri" pitchFamily="34" charset="-122"/>
                          <a:cs typeface="Calibri" pitchFamily="34" charset="-120"/>
                        </a:rPr>
                        <a:t>Managers open the full exchange when Reviewable; only prompts when Private.</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256032">
                <a:tc>
                  <a:txBody>
                    <a:bodyPr/>
                    <a:lstStyle/>
                    <a:p>
                      <a:pPr indent="0" marL="0">
                        <a:buNone/>
                      </a:pPr>
                      <a:r>
                        <a:rPr lang="en-US" sz="850" b="1" dirty="0">
                          <a:solidFill>
                            <a:srgbClr val="2B3A4C"/>
                          </a:solidFill>
                          <a:latin typeface="Calibri" pitchFamily="34" charset="0"/>
                          <a:ea typeface="Calibri" pitchFamily="34" charset="-122"/>
                          <a:cs typeface="Calibri" pitchFamily="34" charset="-120"/>
                        </a:rPr>
                        <a:t>Brief your testers</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850" dirty="0">
                          <a:solidFill>
                            <a:srgbClr val="2B3A4C"/>
                          </a:solidFill>
                          <a:latin typeface="Calibri" pitchFamily="34" charset="0"/>
                          <a:ea typeface="Calibri" pitchFamily="34" charset="-122"/>
                          <a:cs typeface="Calibri" pitchFamily="34" charset="-120"/>
                        </a:rPr>
                        <a:t>Add clarifications on wrong answers; upvote the final query on right ones.</a:t>
                      </a:r>
                      <a:endParaRPr lang="en-US" sz="85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11</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Deploy and operate</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Version control, agent settings, and the exact JSON and CLI shapes that make programmatic creation succeed.</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Declarative Automation Bundles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Agent settings and lifecycle actions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serialized_space validation rules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CLI reference and troubleshooting</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API usage practices</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11.1 LIFECYCLE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Version control as code, then the settings that matter [OFF-1] [OFF-3]</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38</a:t>
            </a:r>
            <a:endParaRPr lang="en-US" sz="800" dirty="0"/>
          </a:p>
        </p:txBody>
      </p:sp>
      <p:sp>
        <p:nvSpPr>
          <p:cNvPr id="6" name="Shape 4"/>
          <p:cNvSpPr/>
          <p:nvPr/>
        </p:nvSpPr>
        <p:spPr>
          <a:xfrm>
            <a:off x="502920" y="1188720"/>
            <a:ext cx="5504688" cy="1280160"/>
          </a:xfrm>
          <a:prstGeom prst="roundRect">
            <a:avLst>
              <a:gd name="adj" fmla="val 4286"/>
            </a:avLst>
          </a:prstGeom>
          <a:solidFill>
            <a:srgbClr val="0E1B2A"/>
          </a:solidFill>
          <a:ln w="9525">
            <a:solidFill>
              <a:srgbClr val="0E1B2A"/>
            </a:solidFill>
            <a:prstDash val="solid"/>
          </a:ln>
        </p:spPr>
      </p:sp>
      <p:sp>
        <p:nvSpPr>
          <p:cNvPr id="7" name="Text 5"/>
          <p:cNvSpPr txBox="1"/>
          <p:nvPr/>
        </p:nvSpPr>
        <p:spPr>
          <a:xfrm>
            <a:off x="704088" y="1316736"/>
            <a:ext cx="5120640" cy="2743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Version control with Declarative Automation Bundles</a:t>
            </a:r>
            <a:endParaRPr lang="en-US" sz="1500" dirty="0"/>
          </a:p>
        </p:txBody>
      </p:sp>
      <p:sp>
        <p:nvSpPr>
          <p:cNvPr id="8" name="Text 6"/>
          <p:cNvSpPr txBox="1"/>
          <p:nvPr/>
        </p:nvSpPr>
        <p:spPr>
          <a:xfrm>
            <a:off x="704088" y="1609344"/>
            <a:ext cx="5102352" cy="804672"/>
          </a:xfrm>
          <a:prstGeom prst="rect">
            <a:avLst/>
          </a:prstGeom>
          <a:noFill/>
          <a:ln/>
        </p:spPr>
        <p:txBody>
          <a:bodyPr wrap="square" lIns="0" tIns="0" rIns="0" bIns="0" rtlCol="0" anchor="t"/>
          <a:lstStyle/>
          <a:p>
            <a:pPr indent="0" marL="0">
              <a:lnSpc>
                <a:spcPts val="1300"/>
              </a:lnSpc>
              <a:buNone/>
            </a:pPr>
            <a:r>
              <a:rPr lang="en-US" sz="1000" dirty="0">
                <a:solidFill>
                  <a:srgbClr val="B7C7D8"/>
                </a:solidFill>
                <a:latin typeface="Calibri" pitchFamily="34" charset="0"/>
                <a:ea typeface="Calibri" pitchFamily="34" charset="-122"/>
                <a:cs typeface="Calibri" pitchFamily="34" charset="-120"/>
              </a:rPr>
              <a:t>Use bundles to define, deploy and version-control Genie Agents as code. A bundle repository gives reproducible deployments, change history, and promotion across development, staging and production.  [OFF-1]</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181344" y="1426464"/>
          <a:ext cx="5504688" cy="914400"/>
        </p:xfrm>
        <a:graphic>
          <a:graphicData uri="http://schemas.openxmlformats.org/drawingml/2006/table">
            <a:tbl>
              <a:tblPr/>
              <a:tblGrid>
                <a:gridCol w="1572768"/>
                <a:gridCol w="39319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Setting</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controls</a:t>
                      </a:r>
                      <a:endParaRPr lang="en-US" sz="10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0">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Title</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Discoverable in the workspace browser.</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Default warehouse</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Pro or serverless. Embeds the configuring author's compute credentials.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Tags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Public Preview. Governed tags require ASSIGN.</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Thumbnail</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Visual identification in the workspace browser.</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Description</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Shown when users open the agent; supports Markdown.</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Common questions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Optional examples on the chat landing page. Author-defined ones appear first; Genie fills the remaining slots.</a:t>
                      </a:r>
                      <a:endParaRPr lang="en-US" sz="900" dirty="0">
                        <a:latin typeface="Calibri" charset="0"/>
                        <a:ea typeface="Calibri" charset="0"/>
                        <a:cs typeface="Calibri" charset="0"/>
                      </a:endParaRPr>
                    </a:p>
                  </a:txBody>
                  <a:tcPr marL="45720" marR="45720" marT="45720" marB="45720"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181344" y="1188720"/>
            <a:ext cx="5504688" cy="182880"/>
          </a:xfrm>
          <a:prstGeom prst="rect">
            <a:avLst/>
          </a:prstGeom>
          <a:noFill/>
          <a:ln/>
        </p:spPr>
        <p:txBody>
          <a:bodyPr wrap="square" lIns="0" tIns="0" rIns="0" bIns="0" rtlCol="0" anchor="t"/>
          <a:lstStyle/>
          <a:p>
            <a:pPr indent="0" marL="0">
              <a:buNone/>
            </a:pPr>
            <a:r>
              <a:rPr lang="en-US" sz="800" b="1" spc="130" kern="0" dirty="0">
                <a:solidFill>
                  <a:srgbClr val="56677C"/>
                </a:solidFill>
                <a:latin typeface="Calibri" pitchFamily="34" charset="0"/>
                <a:ea typeface="Calibri" pitchFamily="34" charset="-122"/>
                <a:cs typeface="Calibri" pitchFamily="34" charset="-120"/>
              </a:rPr>
              <a:t>AGENT SETTINGS WORTH CONFIGURING  [OFF-3]</a:t>
            </a:r>
            <a:endParaRPr lang="en-US" sz="800" dirty="0"/>
          </a:p>
        </p:txBody>
      </p:sp>
      <p:sp>
        <p:nvSpPr>
          <p:cNvPr id="11" name="Text 8"/>
          <p:cNvSpPr txBox="1"/>
          <p:nvPr/>
        </p:nvSpPr>
        <p:spPr>
          <a:xfrm>
            <a:off x="502920" y="2596896"/>
            <a:ext cx="5504688" cy="182880"/>
          </a:xfrm>
          <a:prstGeom prst="rect">
            <a:avLst/>
          </a:prstGeom>
          <a:noFill/>
          <a:ln/>
        </p:spPr>
        <p:txBody>
          <a:bodyPr wrap="square" lIns="0" tIns="0" rIns="0" bIns="0" rtlCol="0" anchor="t"/>
          <a:lstStyle/>
          <a:p>
            <a:pPr indent="0" marL="0">
              <a:buNone/>
            </a:pPr>
            <a:r>
              <a:rPr lang="en-US" sz="800" b="1" spc="130" kern="0" dirty="0">
                <a:solidFill>
                  <a:srgbClr val="56677C"/>
                </a:solidFill>
                <a:latin typeface="Calibri" pitchFamily="34" charset="0"/>
                <a:ea typeface="Calibri" pitchFamily="34" charset="-122"/>
                <a:cs typeface="Calibri" pitchFamily="34" charset="-120"/>
              </a:rPr>
              <a:t>OTHER LIFECYCLE ACTIONS  [OFF-3]</a:t>
            </a:r>
            <a:endParaRPr lang="en-US" sz="800" dirty="0"/>
          </a:p>
        </p:txBody>
      </p:sp>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502920" y="2798064"/>
          <a:ext cx="5504688" cy="914400"/>
        </p:xfrm>
        <a:graphic>
          <a:graphicData uri="http://schemas.openxmlformats.org/drawingml/2006/table">
            <a:tbl>
              <a:tblPr/>
              <a:tblGrid>
                <a:gridCol w="1417320"/>
                <a:gridCol w="4087368"/>
              </a:tblGrid>
              <a:tr h="58521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585216">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Clone</a:t>
                      </a:r>
                      <a:endParaRPr lang="en-US" sz="9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Copies tables and settings, general instructions, example SQL queries and SQL functions. Chat threads and Monitor data are not copied.</a:t>
                      </a:r>
                      <a:endParaRPr lang="en-US" sz="9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585216">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Export to metric view</a:t>
                      </a:r>
                      <a:endParaRPr lang="en-US" sz="9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Promotes the agent's semantic context into governed, reusable metric-view definitions.</a:t>
                      </a:r>
                      <a:endParaRPr lang="en-US" sz="9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585216">
                <a:tc>
                  <a:txBody>
                    <a:bodyPr/>
                    <a:lstStyle/>
                    <a:p>
                      <a:pPr indent="0" marL="0">
                        <a:buNone/>
                      </a:pPr>
                      <a:r>
                        <a:rPr lang="en-US" sz="900" b="1" dirty="0">
                          <a:solidFill>
                            <a:srgbClr val="2B3A4C"/>
                          </a:solidFill>
                          <a:latin typeface="Calibri" pitchFamily="34" charset="0"/>
                          <a:ea typeface="Calibri" pitchFamily="34" charset="-122"/>
                          <a:cs typeface="Calibri" pitchFamily="34" charset="-120"/>
                        </a:rPr>
                        <a:t>Assign certification</a:t>
                      </a:r>
                      <a:endParaRPr lang="en-US" sz="9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00" dirty="0">
                          <a:solidFill>
                            <a:srgbClr val="2B3A4C"/>
                          </a:solidFill>
                          <a:latin typeface="Calibri" pitchFamily="34" charset="0"/>
                          <a:ea typeface="Calibri" pitchFamily="34" charset="-122"/>
                          <a:cs typeface="Calibri" pitchFamily="34" charset="-120"/>
                        </a:rPr>
                        <a:t>Certified / Deprecated / None, via the system.certification_status governed tag — requires ASSIGN on that tag.</a:t>
                      </a:r>
                      <a:endParaRPr lang="en-US" sz="9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13" name="Text 9"/>
          <p:cNvSpPr txBox="1"/>
          <p:nvPr/>
        </p:nvSpPr>
        <p:spPr>
          <a:xfrm>
            <a:off x="6181344" y="3566160"/>
            <a:ext cx="5504688" cy="182880"/>
          </a:xfrm>
          <a:prstGeom prst="rect">
            <a:avLst/>
          </a:prstGeom>
          <a:noFill/>
          <a:ln/>
        </p:spPr>
        <p:txBody>
          <a:bodyPr wrap="square" lIns="0" tIns="0" rIns="0" bIns="0" rtlCol="0" anchor="t"/>
          <a:lstStyle/>
          <a:p>
            <a:pPr indent="0" marL="0">
              <a:buNone/>
            </a:pPr>
            <a:r>
              <a:rPr lang="en-US" sz="800" b="1" spc="130" kern="0" dirty="0">
                <a:solidFill>
                  <a:srgbClr val="56677C"/>
                </a:solidFill>
                <a:latin typeface="Calibri" pitchFamily="34" charset="0"/>
                <a:ea typeface="Calibri" pitchFamily="34" charset="-122"/>
                <a:cs typeface="Calibri" pitchFamily="34" charset="-120"/>
              </a:rPr>
              <a:t>API USAGE PRACTICES  [OFF-6]</a:t>
            </a:r>
            <a:endParaRPr lang="en-US" sz="800" dirty="0"/>
          </a:p>
        </p:txBody>
      </p:sp>
      <p:sp>
        <p:nvSpPr>
          <p:cNvPr id="14" name="Shape 10"/>
          <p:cNvSpPr/>
          <p:nvPr/>
        </p:nvSpPr>
        <p:spPr>
          <a:xfrm>
            <a:off x="6181344" y="3803904"/>
            <a:ext cx="2679192" cy="1170432"/>
          </a:xfrm>
          <a:prstGeom prst="roundRect">
            <a:avLst>
              <a:gd name="adj" fmla="val 4688"/>
            </a:avLst>
          </a:prstGeom>
          <a:solidFill>
            <a:srgbClr val="F2F5F9"/>
          </a:solidFill>
          <a:ln w="9525">
            <a:solidFill>
              <a:srgbClr val="D2DDE9"/>
            </a:solidFill>
            <a:prstDash val="solid"/>
          </a:ln>
        </p:spPr>
      </p:sp>
      <p:sp>
        <p:nvSpPr>
          <p:cNvPr id="15" name="Text 11"/>
          <p:cNvSpPr txBox="1"/>
          <p:nvPr/>
        </p:nvSpPr>
        <p:spPr>
          <a:xfrm>
            <a:off x="6327648" y="3922776"/>
            <a:ext cx="2386584"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Retry yourself</a:t>
            </a:r>
            <a:endParaRPr lang="en-US" sz="1100" dirty="0"/>
          </a:p>
        </p:txBody>
      </p:sp>
      <p:sp>
        <p:nvSpPr>
          <p:cNvPr id="16" name="Text 12"/>
          <p:cNvSpPr txBox="1"/>
          <p:nvPr/>
        </p:nvSpPr>
        <p:spPr>
          <a:xfrm>
            <a:off x="6327648" y="4261104"/>
            <a:ext cx="2386584" cy="59436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Implement retry logic with exponential backoff — the API does not retry for you. Log requests and responses.</a:t>
            </a:r>
            <a:endParaRPr lang="en-US" sz="950" dirty="0"/>
          </a:p>
        </p:txBody>
      </p:sp>
      <p:sp>
        <p:nvSpPr>
          <p:cNvPr id="17" name="Shape 13"/>
          <p:cNvSpPr/>
          <p:nvPr/>
        </p:nvSpPr>
        <p:spPr>
          <a:xfrm>
            <a:off x="9006840" y="3803904"/>
            <a:ext cx="2679192" cy="1170432"/>
          </a:xfrm>
          <a:prstGeom prst="roundRect">
            <a:avLst>
              <a:gd name="adj" fmla="val 4688"/>
            </a:avLst>
          </a:prstGeom>
          <a:solidFill>
            <a:srgbClr val="F2F5F9"/>
          </a:solidFill>
          <a:ln w="9525">
            <a:solidFill>
              <a:srgbClr val="D2DDE9"/>
            </a:solidFill>
            <a:prstDash val="solid"/>
          </a:ln>
        </p:spPr>
      </p:sp>
      <p:sp>
        <p:nvSpPr>
          <p:cNvPr id="18" name="Text 14"/>
          <p:cNvSpPr txBox="1"/>
          <p:nvPr/>
        </p:nvSpPr>
        <p:spPr>
          <a:xfrm>
            <a:off x="9153144" y="3922776"/>
            <a:ext cx="2386584"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Poll deliberately</a:t>
            </a:r>
            <a:endParaRPr lang="en-US" sz="1100" dirty="0"/>
          </a:p>
        </p:txBody>
      </p:sp>
      <p:sp>
        <p:nvSpPr>
          <p:cNvPr id="19" name="Text 15"/>
          <p:cNvSpPr txBox="1"/>
          <p:nvPr/>
        </p:nvSpPr>
        <p:spPr>
          <a:xfrm>
            <a:off x="9153144" y="4261104"/>
            <a:ext cx="2386584" cy="59436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Poll every 1–5 seconds until COMPLETED, FAILED or CANCELLED. Cap most queries at 10 minutes, with backoff up to one minute.</a:t>
            </a:r>
            <a:endParaRPr lang="en-US" sz="950" dirty="0"/>
          </a:p>
        </p:txBody>
      </p:sp>
      <p:sp>
        <p:nvSpPr>
          <p:cNvPr id="20" name="Shape 16"/>
          <p:cNvSpPr/>
          <p:nvPr/>
        </p:nvSpPr>
        <p:spPr>
          <a:xfrm>
            <a:off x="6181344" y="5120640"/>
            <a:ext cx="2679192" cy="1170432"/>
          </a:xfrm>
          <a:prstGeom prst="roundRect">
            <a:avLst>
              <a:gd name="adj" fmla="val 4688"/>
            </a:avLst>
          </a:prstGeom>
          <a:solidFill>
            <a:srgbClr val="F2F5F9"/>
          </a:solidFill>
          <a:ln w="9525">
            <a:solidFill>
              <a:srgbClr val="D2DDE9"/>
            </a:solidFill>
            <a:prstDash val="solid"/>
          </a:ln>
        </p:spPr>
      </p:sp>
      <p:sp>
        <p:nvSpPr>
          <p:cNvPr id="21" name="Text 17"/>
          <p:cNvSpPr txBox="1"/>
          <p:nvPr/>
        </p:nvSpPr>
        <p:spPr>
          <a:xfrm>
            <a:off x="6327648" y="5239512"/>
            <a:ext cx="2386584"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New conversation per session</a:t>
            </a:r>
            <a:endParaRPr lang="en-US" sz="1100" dirty="0"/>
          </a:p>
        </p:txBody>
      </p:sp>
      <p:sp>
        <p:nvSpPr>
          <p:cNvPr id="22" name="Text 18"/>
          <p:cNvSpPr txBox="1"/>
          <p:nvPr/>
        </p:nvSpPr>
        <p:spPr>
          <a:xfrm>
            <a:off x="6327648" y="5577840"/>
            <a:ext cx="2386584" cy="59436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Reusing threads across sessions can reduce accuracy through unintended context reuse.</a:t>
            </a:r>
            <a:endParaRPr lang="en-US" sz="950" dirty="0"/>
          </a:p>
        </p:txBody>
      </p:sp>
      <p:sp>
        <p:nvSpPr>
          <p:cNvPr id="23" name="Shape 19"/>
          <p:cNvSpPr/>
          <p:nvPr/>
        </p:nvSpPr>
        <p:spPr>
          <a:xfrm>
            <a:off x="9006840" y="5120640"/>
            <a:ext cx="2679192" cy="1170432"/>
          </a:xfrm>
          <a:prstGeom prst="roundRect">
            <a:avLst>
              <a:gd name="adj" fmla="val 4688"/>
            </a:avLst>
          </a:prstGeom>
          <a:solidFill>
            <a:srgbClr val="F2F5F9"/>
          </a:solidFill>
          <a:ln w="9525">
            <a:solidFill>
              <a:srgbClr val="D2DDE9"/>
            </a:solidFill>
            <a:prstDash val="solid"/>
          </a:ln>
        </p:spPr>
      </p:sp>
      <p:sp>
        <p:nvSpPr>
          <p:cNvPr id="24" name="Text 20"/>
          <p:cNvSpPr txBox="1"/>
          <p:nvPr/>
        </p:nvSpPr>
        <p:spPr>
          <a:xfrm>
            <a:off x="9153144" y="5239512"/>
            <a:ext cx="2386584"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Prune conversations</a:t>
            </a:r>
            <a:endParaRPr lang="en-US" sz="1100" dirty="0"/>
          </a:p>
        </p:txBody>
      </p:sp>
      <p:sp>
        <p:nvSpPr>
          <p:cNvPr id="25" name="Text 21"/>
          <p:cNvSpPr txBox="1"/>
          <p:nvPr/>
        </p:nvSpPr>
        <p:spPr>
          <a:xfrm>
            <a:off x="9153144" y="5577840"/>
            <a:ext cx="2386584" cy="594360"/>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Use the list and delete conversation endpoints to stay under the 10,000-conversation limit.</a:t>
            </a:r>
            <a:endParaRPr lang="en-US" sz="950" dirty="0"/>
          </a:p>
        </p:txBody>
      </p:sp>
      <p:sp>
        <p:nvSpPr>
          <p:cNvPr id="26" name="Shape 22"/>
          <p:cNvSpPr/>
          <p:nvPr/>
        </p:nvSpPr>
        <p:spPr>
          <a:xfrm>
            <a:off x="502920" y="5340096"/>
            <a:ext cx="5504688" cy="950976"/>
          </a:xfrm>
          <a:prstGeom prst="roundRect">
            <a:avLst>
              <a:gd name="adj" fmla="val 5769"/>
            </a:avLst>
          </a:prstGeom>
          <a:solidFill>
            <a:srgbClr val="0E1B2A"/>
          </a:solidFill>
          <a:ln w="9525">
            <a:solidFill>
              <a:srgbClr val="0E1B2A"/>
            </a:solidFill>
            <a:prstDash val="solid"/>
          </a:ln>
        </p:spPr>
      </p:sp>
      <p:sp>
        <p:nvSpPr>
          <p:cNvPr id="27" name="Shape 23"/>
          <p:cNvSpPr/>
          <p:nvPr/>
        </p:nvSpPr>
        <p:spPr>
          <a:xfrm>
            <a:off x="685800" y="5678424"/>
            <a:ext cx="274320" cy="274320"/>
          </a:xfrm>
          <a:prstGeom prst="roundRect">
            <a:avLst>
              <a:gd name="adj" fmla="val 16667"/>
            </a:avLst>
          </a:prstGeom>
          <a:solidFill>
            <a:srgbClr val="E8552D"/>
          </a:solidFill>
          <a:ln/>
        </p:spPr>
      </p:sp>
      <p:sp>
        <p:nvSpPr>
          <p:cNvPr id="28" name="Text 24"/>
          <p:cNvSpPr txBox="1"/>
          <p:nvPr/>
        </p:nvSpPr>
        <p:spPr>
          <a:xfrm>
            <a:off x="685800" y="567842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9" name="Text 25"/>
          <p:cNvSpPr txBox="1"/>
          <p:nvPr/>
        </p:nvSpPr>
        <p:spPr>
          <a:xfrm>
            <a:off x="1106424" y="5431536"/>
            <a:ext cx="4718304" cy="768096"/>
          </a:xfrm>
          <a:prstGeom prst="rect">
            <a:avLst/>
          </a:prstGeom>
          <a:noFill/>
          <a:ln/>
        </p:spPr>
        <p:txBody>
          <a:bodyPr wrap="square" lIns="0" tIns="0" rIns="0" bIns="0" rtlCol="0" anchor="ctr"/>
          <a:lstStyle/>
          <a:p>
            <a:pPr indent="0" marL="0">
              <a:lnSpc>
                <a:spcPts val="1250"/>
              </a:lnSpc>
              <a:buNone/>
            </a:pPr>
            <a:r>
              <a:rPr lang="en-US" sz="950" dirty="0">
                <a:solidFill>
                  <a:srgbClr val="DCE6F2"/>
                </a:solidFill>
                <a:latin typeface="Calibri" pitchFamily="34" charset="0"/>
                <a:ea typeface="Calibri" pitchFamily="34" charset="-122"/>
                <a:cs typeface="Calibri" pitchFamily="34" charset="-120"/>
              </a:rPr>
              <a:t>Operational risk: if the last agent author leaves the workspace, the embedded compute credentials become invalid and queries fail for everyone. Assign at least two CAN MANAGE owners per production agent, and treat author offboarding as a change event.  [OFF-5]</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11.2 SERIALIZED_SPACE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Invalid JSON is rejected outright — these are the rules [OFF-6]</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39</a:t>
            </a:r>
            <a:endParaRPr lang="en-US" sz="800" dirty="0"/>
          </a:p>
        </p:txBody>
      </p:sp>
      <p:sp>
        <p:nvSpPr>
          <p:cNvPr id="6" name="Text 4"/>
          <p:cNvSpPr txBox="1"/>
          <p:nvPr/>
        </p:nvSpPr>
        <p:spPr>
          <a:xfrm>
            <a:off x="502920" y="1188720"/>
            <a:ext cx="11183112" cy="402336"/>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serialized_space is a JSON string defining configuration and data sources, escaped as a string in the request. It contains version, config.sample_questions, data_sources.tables / .metric_views, instructions (text_instructions, example_question_sqls, sql_functions, join_specs, sql_snippets) and benchmarks.</a:t>
            </a:r>
            <a:endParaRPr lang="en-US" sz="10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700784"/>
          <a:ext cx="11183112" cy="914400"/>
        </p:xfrm>
        <a:graphic>
          <a:graphicData uri="http://schemas.openxmlformats.org/drawingml/2006/table">
            <a:tbl>
              <a:tblPr/>
              <a:tblGrid>
                <a:gridCol w="1783080"/>
                <a:gridCol w="9400032"/>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Rule</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Requirement</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329184">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Required. Use 2 for new agents.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329184">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IDs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32-character lowercase hexadecimal (a UUID without hyphens). Required on sample questions, text instructions, example question SQLs, join specs, all three snippet types, and benchmark questions. The docs supply a one-line Python command that generates time-ordered IDs which sort correctly by construction.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Sorting</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Collections must be pre-sorted; unsorted input is rejected. Tables and metric views by identifier; column_configs by column_name; sample questions, text instructions, example SQLs, join specs, snippets and benchmark questions by id; sql_functions by the (id, identifier) tuple.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329184">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Uniqueness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Sample-question and benchmark IDs unique across both collections; instruction IDs unique across all instruction types; (table_identifier, column_name) unique per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Size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Strings ≤ 25,000 characters; repeated fields ≤ 10,000 items; at most one text instruction per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329184">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Join specs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The sql field takes exactly two elements — the join condition using backtick-quoted alias references, then a relationship annotation --rt=FROM_RELATIONSHIP_TYPE_&lt;CARDINALITY&gt;-- with cardinality MANY_TO_ONE, ONE_TO_MANY, ONE_TO_ONE or MANY_TO_MANY. Omitting the annotation causes a parsing error. Multi-column joins need a separate join spec each.</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3456E"/>
                          </a:solidFill>
                          <a:latin typeface="Calibri" pitchFamily="34" charset="0"/>
                          <a:ea typeface="Calibri" pitchFamily="34" charset="-122"/>
                          <a:cs typeface="Calibri" pitchFamily="34" charset="-120"/>
                        </a:rPr>
                        <a:t>Other</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Table identifiers use the three-level namespace catalog.schema.table; each benchmark question needs exactly one answer with format SQL; filter, expression and measure SQL must not be empty.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8" name="Text 5"/>
          <p:cNvSpPr txBox="1"/>
          <p:nvPr/>
        </p:nvSpPr>
        <p:spPr>
          <a:xfrm>
            <a:off x="502920" y="468172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CLI TROUBLESHOOTING — ERROR TO FIX  [GH-1]</a:t>
            </a:r>
            <a:endParaRPr lang="en-US" sz="850" dirty="0"/>
          </a:p>
        </p:txBody>
      </p:sp>
      <p:sp>
        <p:nvSpPr>
          <p:cNvPr id="9" name="Shape 6"/>
          <p:cNvSpPr/>
          <p:nvPr/>
        </p:nvSpPr>
        <p:spPr>
          <a:xfrm>
            <a:off x="502920" y="4919472"/>
            <a:ext cx="2104949" cy="1371600"/>
          </a:xfrm>
          <a:prstGeom prst="roundRect">
            <a:avLst>
              <a:gd name="adj" fmla="val 4000"/>
            </a:avLst>
          </a:prstGeom>
          <a:solidFill>
            <a:srgbClr val="E4ECF4"/>
          </a:solidFill>
          <a:ln w="9525">
            <a:solidFill>
              <a:srgbClr val="D2DDE9"/>
            </a:solidFill>
            <a:prstDash val="solid"/>
          </a:ln>
        </p:spPr>
      </p:sp>
      <p:sp>
        <p:nvSpPr>
          <p:cNvPr id="10" name="Text 7"/>
          <p:cNvSpPr txBox="1"/>
          <p:nvPr/>
        </p:nvSpPr>
        <p:spPr>
          <a:xfrm>
            <a:off x="649224" y="503834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sample_question.id must be provided</a:t>
            </a:r>
            <a:endParaRPr lang="en-US" sz="1000" dirty="0"/>
          </a:p>
        </p:txBody>
      </p:sp>
      <p:sp>
        <p:nvSpPr>
          <p:cNvPr id="11" name="Text 8"/>
          <p:cNvSpPr txBox="1"/>
          <p:nvPr/>
        </p:nvSpPr>
        <p:spPr>
          <a:xfrm>
            <a:off x="649224"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Add a 32-character hex id to each sample question.</a:t>
            </a:r>
            <a:endParaRPr lang="en-US" sz="900" dirty="0"/>
          </a:p>
        </p:txBody>
      </p:sp>
      <p:sp>
        <p:nvSpPr>
          <p:cNvPr id="12" name="Shape 9"/>
          <p:cNvSpPr/>
          <p:nvPr/>
        </p:nvSpPr>
        <p:spPr>
          <a:xfrm>
            <a:off x="2772461" y="4919472"/>
            <a:ext cx="2104949" cy="1371600"/>
          </a:xfrm>
          <a:prstGeom prst="roundRect">
            <a:avLst>
              <a:gd name="adj" fmla="val 4000"/>
            </a:avLst>
          </a:prstGeom>
          <a:solidFill>
            <a:srgbClr val="E4ECF4"/>
          </a:solidFill>
          <a:ln w="9525">
            <a:solidFill>
              <a:srgbClr val="D2DDE9"/>
            </a:solidFill>
            <a:prstDash val="solid"/>
          </a:ln>
        </p:spPr>
      </p:sp>
      <p:sp>
        <p:nvSpPr>
          <p:cNvPr id="13" name="Text 10"/>
          <p:cNvSpPr txBox="1"/>
          <p:nvPr/>
        </p:nvSpPr>
        <p:spPr>
          <a:xfrm>
            <a:off x="2918765" y="503834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Expected an array for question</a:t>
            </a:r>
            <a:endParaRPr lang="en-US" sz="1000" dirty="0"/>
          </a:p>
        </p:txBody>
      </p:sp>
      <p:sp>
        <p:nvSpPr>
          <p:cNvPr id="14" name="Text 11"/>
          <p:cNvSpPr txBox="1"/>
          <p:nvPr/>
        </p:nvSpPr>
        <p:spPr>
          <a:xfrm>
            <a:off x="2918765"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Use "question": ["text"], not a bare string.</a:t>
            </a:r>
            <a:endParaRPr lang="en-US" sz="900" dirty="0"/>
          </a:p>
        </p:txBody>
      </p:sp>
      <p:sp>
        <p:nvSpPr>
          <p:cNvPr id="15" name="Shape 12"/>
          <p:cNvSpPr/>
          <p:nvPr/>
        </p:nvSpPr>
        <p:spPr>
          <a:xfrm>
            <a:off x="5042002" y="4919472"/>
            <a:ext cx="2104949" cy="1371600"/>
          </a:xfrm>
          <a:prstGeom prst="roundRect">
            <a:avLst>
              <a:gd name="adj" fmla="val 4000"/>
            </a:avLst>
          </a:prstGeom>
          <a:solidFill>
            <a:srgbClr val="E4ECF4"/>
          </a:solidFill>
          <a:ln w="9525">
            <a:solidFill>
              <a:srgbClr val="D2DDE9"/>
            </a:solidFill>
            <a:prstDash val="solid"/>
          </a:ln>
        </p:spPr>
      </p:sp>
      <p:sp>
        <p:nvSpPr>
          <p:cNvPr id="16" name="Text 13"/>
          <p:cNvSpPr txBox="1"/>
          <p:nvPr/>
        </p:nvSpPr>
        <p:spPr>
          <a:xfrm>
            <a:off x="5188306" y="503834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START_OBJECT / must be sorted by id / Unknown field</a:t>
            </a:r>
            <a:endParaRPr lang="en-US" sz="1000" dirty="0"/>
          </a:p>
        </p:txBody>
      </p:sp>
      <p:sp>
        <p:nvSpPr>
          <p:cNvPr id="17" name="Text 14"/>
          <p:cNvSpPr txBox="1"/>
          <p:nvPr/>
        </p:nvSpPr>
        <p:spPr>
          <a:xfrm>
            <a:off x="5188306"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Field-shape errors — see the skill's serialized-space.md for exact schemas.</a:t>
            </a:r>
            <a:endParaRPr lang="en-US" sz="900" dirty="0"/>
          </a:p>
        </p:txBody>
      </p:sp>
      <p:sp>
        <p:nvSpPr>
          <p:cNvPr id="18" name="Shape 15"/>
          <p:cNvSpPr/>
          <p:nvPr/>
        </p:nvSpPr>
        <p:spPr>
          <a:xfrm>
            <a:off x="7311542" y="4919472"/>
            <a:ext cx="2104949" cy="1371600"/>
          </a:xfrm>
          <a:prstGeom prst="roundRect">
            <a:avLst>
              <a:gd name="adj" fmla="val 4000"/>
            </a:avLst>
          </a:prstGeom>
          <a:solidFill>
            <a:srgbClr val="E4ECF4"/>
          </a:solidFill>
          <a:ln w="9525">
            <a:solidFill>
              <a:srgbClr val="D2DDE9"/>
            </a:solidFill>
            <a:prstDash val="solid"/>
          </a:ln>
        </p:spPr>
      </p:sp>
      <p:sp>
        <p:nvSpPr>
          <p:cNvPr id="19" name="Text 16"/>
          <p:cNvSpPr txBox="1"/>
          <p:nvPr/>
        </p:nvSpPr>
        <p:spPr>
          <a:xfrm>
            <a:off x="7457846" y="503834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No warehouse available</a:t>
            </a:r>
            <a:endParaRPr lang="en-US" sz="1000" dirty="0"/>
          </a:p>
        </p:txBody>
      </p:sp>
      <p:sp>
        <p:nvSpPr>
          <p:cNvPr id="20" name="Text 17"/>
          <p:cNvSpPr txBox="1"/>
          <p:nvPr/>
        </p:nvSpPr>
        <p:spPr>
          <a:xfrm>
            <a:off x="7457846"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Create a SQL warehouse, or pass warehouse_id explicitly.</a:t>
            </a:r>
            <a:endParaRPr lang="en-US" sz="900" dirty="0"/>
          </a:p>
        </p:txBody>
      </p:sp>
      <p:sp>
        <p:nvSpPr>
          <p:cNvPr id="21" name="Shape 18"/>
          <p:cNvSpPr/>
          <p:nvPr/>
        </p:nvSpPr>
        <p:spPr>
          <a:xfrm>
            <a:off x="9581083" y="4919472"/>
            <a:ext cx="2104949" cy="1371600"/>
          </a:xfrm>
          <a:prstGeom prst="roundRect">
            <a:avLst>
              <a:gd name="adj" fmla="val 4000"/>
            </a:avLst>
          </a:prstGeom>
          <a:solidFill>
            <a:srgbClr val="E4ECF4"/>
          </a:solidFill>
          <a:ln w="9525">
            <a:solidFill>
              <a:srgbClr val="D2DDE9"/>
            </a:solidFill>
            <a:prstDash val="solid"/>
          </a:ln>
        </p:spPr>
      </p:sp>
      <p:sp>
        <p:nvSpPr>
          <p:cNvPr id="22" name="Text 19"/>
          <p:cNvSpPr txBox="1"/>
          <p:nvPr/>
        </p:nvSpPr>
        <p:spPr>
          <a:xfrm>
            <a:off x="9727387" y="503834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Wrong or empty answers</a:t>
            </a:r>
            <a:endParaRPr lang="en-US" sz="1000" dirty="0"/>
          </a:p>
        </p:txBody>
      </p:sp>
      <p:sp>
        <p:nvSpPr>
          <p:cNvPr id="23" name="Text 20"/>
          <p:cNvSpPr txBox="1"/>
          <p:nvPr/>
        </p:nvSpPr>
        <p:spPr>
          <a:xfrm>
            <a:off x="9727387" y="5376672"/>
            <a:ext cx="1812341" cy="79552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Add example_question_sqls and text_instructions.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11.3 CLI REFERENCE</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The end-to-end command path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40</a:t>
            </a:r>
            <a:endParaRPr lang="en-US" sz="800" dirty="0"/>
          </a:p>
        </p:txBody>
      </p:sp>
      <p:sp>
        <p:nvSpPr>
          <p:cNvPr id="6" name="Shape 4"/>
          <p:cNvSpPr/>
          <p:nvPr/>
        </p:nvSpPr>
        <p:spPr>
          <a:xfrm>
            <a:off x="502920" y="1188720"/>
            <a:ext cx="7223760" cy="5084064"/>
          </a:xfrm>
          <a:prstGeom prst="roundRect">
            <a:avLst>
              <a:gd name="adj" fmla="val 899"/>
            </a:avLst>
          </a:prstGeom>
          <a:solidFill>
            <a:srgbClr val="0E1B2A"/>
          </a:solidFill>
          <a:ln/>
        </p:spPr>
      </p:sp>
      <p:sp>
        <p:nvSpPr>
          <p:cNvPr id="7" name="Text 5"/>
          <p:cNvSpPr txBox="1"/>
          <p:nvPr/>
        </p:nvSpPr>
        <p:spPr>
          <a:xfrm>
            <a:off x="685800" y="1335024"/>
            <a:ext cx="6858000" cy="4791456"/>
          </a:xfrm>
          <a:prstGeom prst="rect">
            <a:avLst/>
          </a:prstGeom>
          <a:noFill/>
          <a:ln/>
        </p:spPr>
        <p:txBody>
          <a:bodyPr wrap="square" lIns="0" tIns="0" rIns="0" bIns="0" rtlCol="0" anchor="t"/>
          <a:lstStyle/>
          <a:p>
            <a:pPr indent="0" marL="0">
              <a:lnSpc>
                <a:spcPts val="1360"/>
              </a:lnSpc>
              <a:buNone/>
            </a:pPr>
            <a:r>
              <a:rPr lang="en-US" sz="900" dirty="0">
                <a:solidFill>
                  <a:srgbClr val="8FA5BC"/>
                </a:solidFill>
                <a:latin typeface="Courier New" pitchFamily="34" charset="0"/>
                <a:ea typeface="Courier New" pitchFamily="34" charset="-122"/>
                <a:cs typeface="Courier New" pitchFamily="34" charset="-120"/>
              </a:rPr>
              <a:t># 1. Resolve the warehouse first</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experimental aitools tools get-default-warehouse --profile &lt;PROFILE&gt;</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warehouses list --profile &lt;PROFILE&gt;   # if none running, ask the user to choose</a:t>
            </a:r>
            <a:endParaRPr lang="en-US" sz="900" dirty="0"/>
          </a:p>
          <a:p>
            <a:pPr indent="0" marL="0">
              <a:lnSpc>
                <a:spcPts val="1360"/>
              </a:lnSpc>
              <a:buNone/>
            </a:pPr>
            <a:endParaRPr lang="en-US" sz="900" dirty="0"/>
          </a:p>
          <a:p>
            <a:pPr indent="0" marL="0">
              <a:lnSpc>
                <a:spcPts val="1360"/>
              </a:lnSpc>
              <a:buNone/>
            </a:pPr>
            <a:r>
              <a:rPr lang="en-US" sz="900" dirty="0">
                <a:solidFill>
                  <a:srgbClr val="8FA5BC"/>
                </a:solidFill>
                <a:latin typeface="Courier New" pitchFamily="34" charset="0"/>
                <a:ea typeface="Courier New" pitchFamily="34" charset="-122"/>
                <a:cs typeface="Courier New" pitchFamily="34" charset="-120"/>
              </a:rPr>
              <a:t># 2. Profile sources - one call returns columns, types, sample rows, null counts, row count</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experimental aitools tools discover-schema \</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    catalog.schema.gold_sales catalog.schema.gold_customers</a:t>
            </a:r>
            <a:endParaRPr lang="en-US" sz="900" dirty="0"/>
          </a:p>
          <a:p>
            <a:pPr indent="0" marL="0">
              <a:lnSpc>
                <a:spcPts val="1360"/>
              </a:lnSpc>
              <a:buNone/>
            </a:pPr>
            <a:endParaRPr lang="en-US" sz="900" dirty="0"/>
          </a:p>
          <a:p>
            <a:pPr indent="0" marL="0">
              <a:lnSpc>
                <a:spcPts val="1360"/>
              </a:lnSpc>
              <a:buNone/>
            </a:pPr>
            <a:r>
              <a:rPr lang="en-US" sz="900" dirty="0">
                <a:solidFill>
                  <a:srgbClr val="8FA5BC"/>
                </a:solidFill>
                <a:latin typeface="Courier New" pitchFamily="34" charset="0"/>
                <a:ea typeface="Courier New" pitchFamily="34" charset="-122"/>
                <a:cs typeface="Courier New" pitchFamily="34" charset="-120"/>
              </a:rPr>
              <a:t># 3. Ensure parent_path exists first</a:t>
            </a:r>
            <a:endParaRPr lang="en-US" sz="900" dirty="0"/>
          </a:p>
          <a:p>
            <a:pPr indent="0" marL="0">
              <a:lnSpc>
                <a:spcPts val="1360"/>
              </a:lnSpc>
              <a:buNone/>
            </a:pPr>
            <a:r>
              <a:rPr lang="en-US" sz="900" dirty="0">
                <a:solidFill>
                  <a:srgbClr val="8FA5BC"/>
                </a:solidFill>
                <a:latin typeface="Courier New" pitchFamily="34" charset="0"/>
                <a:ea typeface="Courier New" pitchFamily="34" charset="-122"/>
                <a:cs typeface="Courier New" pitchFamily="34" charset="-120"/>
              </a:rPr>
              <a:t>#    create-space fails with "Tree node does not exist" otherwise</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workspace mkdirs /Workspace/Users/you@company.com/genie_spaces</a:t>
            </a:r>
            <a:endParaRPr lang="en-US" sz="900" dirty="0"/>
          </a:p>
          <a:p>
            <a:pPr indent="0" marL="0">
              <a:lnSpc>
                <a:spcPts val="1360"/>
              </a:lnSpc>
              <a:buNone/>
            </a:pPr>
            <a:endParaRPr lang="en-US" sz="900" dirty="0"/>
          </a:p>
          <a:p>
            <a:pPr indent="0" marL="0">
              <a:lnSpc>
                <a:spcPts val="1360"/>
              </a:lnSpc>
              <a:buNone/>
            </a:pPr>
            <a:r>
              <a:rPr lang="en-US" sz="900" dirty="0">
                <a:solidFill>
                  <a:srgbClr val="8FA5BC"/>
                </a:solidFill>
                <a:latin typeface="Courier New" pitchFamily="34" charset="0"/>
                <a:ea typeface="Courier New" pitchFamily="34" charset="-122"/>
                <a:cs typeface="Courier New" pitchFamily="34" charset="-120"/>
              </a:rPr>
              <a:t># 4. Create</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genie create-space --json "{ \"warehouse_id\": \"...\",</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    \"title\": \"...\", \"description\": \"...\", \"parent_path\": \"...\",</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    \"serialized_space\": $(cat genie_agent.json | jq -c '.' | jq -Rs '.') }"</a:t>
            </a:r>
            <a:endParaRPr lang="en-US" sz="900" dirty="0"/>
          </a:p>
          <a:p>
            <a:pPr indent="0" marL="0">
              <a:lnSpc>
                <a:spcPts val="1360"/>
              </a:lnSpc>
              <a:buNone/>
            </a:pPr>
            <a:endParaRPr lang="en-US" sz="900" dirty="0"/>
          </a:p>
          <a:p>
            <a:pPr indent="0" marL="0">
              <a:lnSpc>
                <a:spcPts val="1360"/>
              </a:lnSpc>
              <a:buNone/>
            </a:pPr>
            <a:r>
              <a:rPr lang="en-US" sz="900" dirty="0">
                <a:solidFill>
                  <a:srgbClr val="8FA5BC"/>
                </a:solidFill>
                <a:latin typeface="Courier New" pitchFamily="34" charset="0"/>
                <a:ea typeface="Courier New" pitchFamily="34" charset="-122"/>
                <a:cs typeface="Courier New" pitchFamily="34" charset="-120"/>
              </a:rPr>
              <a:t># 5. Inspect / update / delete</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genie list-spaces</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genie get-space SPACE_ID --include-serialized-space</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genie update-space SPACE_ID \</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    --json "{\"serialized_space\": $(cat genie_agent.json | jq -c '.' | jq -Rs '.')}"</a:t>
            </a:r>
            <a:endParaRPr lang="en-US" sz="900" dirty="0"/>
          </a:p>
          <a:p>
            <a:pPr indent="0" marL="0">
              <a:lnSpc>
                <a:spcPts val="1360"/>
              </a:lnSpc>
              <a:buNone/>
            </a:pPr>
            <a:r>
              <a:rPr lang="en-US" sz="900" dirty="0">
                <a:solidFill>
                  <a:srgbClr val="DCE6F2"/>
                </a:solidFill>
                <a:latin typeface="Courier New" pitchFamily="34" charset="0"/>
                <a:ea typeface="Courier New" pitchFamily="34" charset="-122"/>
                <a:cs typeface="Courier New" pitchFamily="34" charset="-120"/>
              </a:rPr>
              <a:t>databricks genie trash-space SPACE_ID</a:t>
            </a:r>
            <a:endParaRPr lang="en-US" sz="900" dirty="0"/>
          </a:p>
        </p:txBody>
      </p:sp>
      <p:sp>
        <p:nvSpPr>
          <p:cNvPr id="8" name="Shape 6"/>
          <p:cNvSpPr/>
          <p:nvPr/>
        </p:nvSpPr>
        <p:spPr>
          <a:xfrm>
            <a:off x="7900416" y="1188720"/>
            <a:ext cx="3785616" cy="918058"/>
          </a:xfrm>
          <a:prstGeom prst="roundRect">
            <a:avLst>
              <a:gd name="adj" fmla="val 5976"/>
            </a:avLst>
          </a:prstGeom>
          <a:solidFill>
            <a:srgbClr val="F2F5F9"/>
          </a:solidFill>
          <a:ln w="9525">
            <a:solidFill>
              <a:srgbClr val="D2DDE9"/>
            </a:solidFill>
            <a:prstDash val="solid"/>
          </a:ln>
        </p:spPr>
      </p:sp>
      <p:sp>
        <p:nvSpPr>
          <p:cNvPr id="9" name="Text 7"/>
          <p:cNvSpPr txBox="1"/>
          <p:nvPr/>
        </p:nvSpPr>
        <p:spPr>
          <a:xfrm>
            <a:off x="8046720" y="1307592"/>
            <a:ext cx="3493008"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Order matters</a:t>
            </a:r>
            <a:endParaRPr lang="en-US" sz="1100" dirty="0"/>
          </a:p>
        </p:txBody>
      </p:sp>
      <p:sp>
        <p:nvSpPr>
          <p:cNvPr id="10" name="Text 8"/>
          <p:cNvSpPr txBox="1"/>
          <p:nvPr/>
        </p:nvSpPr>
        <p:spPr>
          <a:xfrm>
            <a:off x="8046720" y="1645920"/>
            <a:ext cx="3493008" cy="34198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Resolve the warehouse, profile sources, then create the parent path. create-space fails if the folder does not exist.</a:t>
            </a:r>
            <a:endParaRPr lang="en-US" sz="900" dirty="0"/>
          </a:p>
        </p:txBody>
      </p:sp>
      <p:sp>
        <p:nvSpPr>
          <p:cNvPr id="11" name="Shape 9"/>
          <p:cNvSpPr/>
          <p:nvPr/>
        </p:nvSpPr>
        <p:spPr>
          <a:xfrm>
            <a:off x="7900416" y="2234794"/>
            <a:ext cx="3785616" cy="918058"/>
          </a:xfrm>
          <a:prstGeom prst="roundRect">
            <a:avLst>
              <a:gd name="adj" fmla="val 5976"/>
            </a:avLst>
          </a:prstGeom>
          <a:solidFill>
            <a:srgbClr val="F2F5F9"/>
          </a:solidFill>
          <a:ln w="9525">
            <a:solidFill>
              <a:srgbClr val="D2DDE9"/>
            </a:solidFill>
            <a:prstDash val="solid"/>
          </a:ln>
        </p:spPr>
      </p:sp>
      <p:sp>
        <p:nvSpPr>
          <p:cNvPr id="12" name="Text 10"/>
          <p:cNvSpPr txBox="1"/>
          <p:nvPr/>
        </p:nvSpPr>
        <p:spPr>
          <a:xfrm>
            <a:off x="8046720" y="2353666"/>
            <a:ext cx="3493008"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One profiling call</a:t>
            </a:r>
            <a:endParaRPr lang="en-US" sz="1100" dirty="0"/>
          </a:p>
        </p:txBody>
      </p:sp>
      <p:sp>
        <p:nvSpPr>
          <p:cNvPr id="13" name="Text 11"/>
          <p:cNvSpPr txBox="1"/>
          <p:nvPr/>
        </p:nvSpPr>
        <p:spPr>
          <a:xfrm>
            <a:off x="8046720" y="2691994"/>
            <a:ext cx="3493008" cy="34198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discover-schema returns columns, types, sample rows, null counts and row count in one call.</a:t>
            </a:r>
            <a:endParaRPr lang="en-US" sz="900" dirty="0"/>
          </a:p>
        </p:txBody>
      </p:sp>
      <p:sp>
        <p:nvSpPr>
          <p:cNvPr id="14" name="Shape 12"/>
          <p:cNvSpPr/>
          <p:nvPr/>
        </p:nvSpPr>
        <p:spPr>
          <a:xfrm>
            <a:off x="7900416" y="3280867"/>
            <a:ext cx="3785616" cy="918058"/>
          </a:xfrm>
          <a:prstGeom prst="roundRect">
            <a:avLst>
              <a:gd name="adj" fmla="val 5976"/>
            </a:avLst>
          </a:prstGeom>
          <a:solidFill>
            <a:srgbClr val="F2F5F9"/>
          </a:solidFill>
          <a:ln w="9525">
            <a:solidFill>
              <a:srgbClr val="D2DDE9"/>
            </a:solidFill>
            <a:prstDash val="solid"/>
          </a:ln>
        </p:spPr>
      </p:sp>
      <p:sp>
        <p:nvSpPr>
          <p:cNvPr id="15" name="Text 13"/>
          <p:cNvSpPr txBox="1"/>
          <p:nvPr/>
        </p:nvSpPr>
        <p:spPr>
          <a:xfrm>
            <a:off x="8046720" y="3399739"/>
            <a:ext cx="3493008"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Double-encoded JSON</a:t>
            </a:r>
            <a:endParaRPr lang="en-US" sz="1100" dirty="0"/>
          </a:p>
        </p:txBody>
      </p:sp>
      <p:sp>
        <p:nvSpPr>
          <p:cNvPr id="16" name="Text 14"/>
          <p:cNvSpPr txBox="1"/>
          <p:nvPr/>
        </p:nvSpPr>
        <p:spPr>
          <a:xfrm>
            <a:off x="8046720" y="3738067"/>
            <a:ext cx="3493008" cy="34198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serialized_space is JSON inside a JSON string. jq -c compacts, jq -Rs escapes; skip either and it fails to parse.</a:t>
            </a:r>
            <a:endParaRPr lang="en-US" sz="900" dirty="0"/>
          </a:p>
        </p:txBody>
      </p:sp>
      <p:sp>
        <p:nvSpPr>
          <p:cNvPr id="17" name="Shape 15"/>
          <p:cNvSpPr/>
          <p:nvPr/>
        </p:nvSpPr>
        <p:spPr>
          <a:xfrm>
            <a:off x="7900416" y="4326941"/>
            <a:ext cx="3785616" cy="918058"/>
          </a:xfrm>
          <a:prstGeom prst="roundRect">
            <a:avLst>
              <a:gd name="adj" fmla="val 5976"/>
            </a:avLst>
          </a:prstGeom>
          <a:solidFill>
            <a:srgbClr val="F2F5F9"/>
          </a:solidFill>
          <a:ln w="9525">
            <a:solidFill>
              <a:srgbClr val="D2DDE9"/>
            </a:solidFill>
            <a:prstDash val="solid"/>
          </a:ln>
        </p:spPr>
      </p:sp>
      <p:sp>
        <p:nvSpPr>
          <p:cNvPr id="18" name="Text 16"/>
          <p:cNvSpPr txBox="1"/>
          <p:nvPr/>
        </p:nvSpPr>
        <p:spPr>
          <a:xfrm>
            <a:off x="8046720" y="4445813"/>
            <a:ext cx="3493008"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Trash, not delete</a:t>
            </a:r>
            <a:endParaRPr lang="en-US" sz="1100" dirty="0"/>
          </a:p>
        </p:txBody>
      </p:sp>
      <p:sp>
        <p:nvSpPr>
          <p:cNvPr id="19" name="Text 17"/>
          <p:cNvSpPr txBox="1"/>
          <p:nvPr/>
        </p:nvSpPr>
        <p:spPr>
          <a:xfrm>
            <a:off x="8046720" y="4784141"/>
            <a:ext cx="3493008" cy="34198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trash-space removes an agent. Snapshot first with get-space --include-serialized-space.</a:t>
            </a:r>
            <a:endParaRPr lang="en-US" sz="900" dirty="0"/>
          </a:p>
        </p:txBody>
      </p:sp>
      <p:sp>
        <p:nvSpPr>
          <p:cNvPr id="20" name="Shape 18"/>
          <p:cNvSpPr/>
          <p:nvPr/>
        </p:nvSpPr>
        <p:spPr>
          <a:xfrm>
            <a:off x="7900416" y="5373014"/>
            <a:ext cx="3785616" cy="918058"/>
          </a:xfrm>
          <a:prstGeom prst="roundRect">
            <a:avLst>
              <a:gd name="adj" fmla="val 5976"/>
            </a:avLst>
          </a:prstGeom>
          <a:solidFill>
            <a:srgbClr val="F2F5F9"/>
          </a:solidFill>
          <a:ln w="9525">
            <a:solidFill>
              <a:srgbClr val="D2DDE9"/>
            </a:solidFill>
            <a:prstDash val="solid"/>
          </a:ln>
        </p:spPr>
      </p:sp>
      <p:sp>
        <p:nvSpPr>
          <p:cNvPr id="21" name="Text 19"/>
          <p:cNvSpPr txBox="1"/>
          <p:nvPr/>
        </p:nvSpPr>
        <p:spPr>
          <a:xfrm>
            <a:off x="8046720" y="5491886"/>
            <a:ext cx="3493008" cy="292608"/>
          </a:xfrm>
          <a:prstGeom prst="rect">
            <a:avLst/>
          </a:prstGeom>
          <a:noFill/>
          <a:ln/>
        </p:spPr>
        <p:txBody>
          <a:bodyPr wrap="square" lIns="0" tIns="0" rIns="0" bIns="0" rtlCol="0" anchor="t"/>
          <a:lstStyle/>
          <a:p>
            <a:pPr indent="0" marL="0">
              <a:buNone/>
            </a:pPr>
            <a:r>
              <a:rPr lang="en-US" sz="1100" b="1" dirty="0">
                <a:solidFill>
                  <a:srgbClr val="0E1B2A"/>
                </a:solidFill>
                <a:latin typeface="Calibri" pitchFamily="34" charset="0"/>
                <a:ea typeface="Calibri" pitchFamily="34" charset="-122"/>
                <a:cs typeface="Calibri" pitchFamily="34" charset="-120"/>
              </a:rPr>
              <a:t>Legacy naming</a:t>
            </a:r>
            <a:endParaRPr lang="en-US" sz="1100" dirty="0"/>
          </a:p>
        </p:txBody>
      </p:sp>
      <p:sp>
        <p:nvSpPr>
          <p:cNvPr id="22" name="Text 20"/>
          <p:cNvSpPr txBox="1"/>
          <p:nvPr/>
        </p:nvSpPr>
        <p:spPr>
          <a:xfrm>
            <a:off x="8046720" y="5830214"/>
            <a:ext cx="3493008" cy="341986"/>
          </a:xfrm>
          <a:prstGeom prst="rect">
            <a:avLst/>
          </a:prstGeom>
          <a:noFill/>
          <a:ln/>
        </p:spPr>
        <p:txBody>
          <a:bodyPr wrap="square" lIns="0" tIns="0" rIns="0" bIns="0" rtlCol="0" anchor="t"/>
          <a:lstStyle/>
          <a:p>
            <a:pPr indent="0" marL="0">
              <a:lnSpc>
                <a:spcPts val="1150"/>
              </a:lnSpc>
              <a:buNone/>
            </a:pPr>
            <a:r>
              <a:rPr lang="en-US" sz="900" dirty="0">
                <a:solidFill>
                  <a:srgbClr val="2B3A4C"/>
                </a:solidFill>
                <a:latin typeface="Calibri" pitchFamily="34" charset="0"/>
                <a:ea typeface="Calibri" pitchFamily="34" charset="-122"/>
                <a:cs typeface="Calibri" pitchFamily="34" charset="-120"/>
              </a:rPr>
              <a:t>Every command still says space, not agent. The CLI vocabulary has not caught up with the product rename.</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12</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Troubleshooting</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Symptom to fix, the token-limit failure mode, and the anti-patterns that cause most of them.</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The official symptom-to-fix playbook</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Token limits and context filtering</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Anti-patterns and why each fails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What the docs add to the list</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12.1 TROUBLESHOOTING PLAYBOOK</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Symptom to documented fix — part 1 of 2 [OFF-5]</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42</a:t>
            </a:r>
            <a:endParaRPr lang="en-US" sz="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4023360"/>
                <a:gridCol w="7159752"/>
              </a:tblGrid>
              <a:tr h="4572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Misunderstood business jargon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e.g. “year” means a fiscal year starting in February. Add instructions that explicitly map your jargon to concepts Genie can understand.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Incorrect table or column usage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Provide clear, precise descriptions matching users' terminology; add example queries; remove or hide overlapping and unnecessary tables and columns.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Filtering errors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e.g. matching “California” when the table stores “CA”. Verify the relevant columns have example values and value dictionaries enabled, and refresh values when new data arrives.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Incorrect joins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Define foreign keys in Unity Catalog; otherwise define join relationships in the knowledge store; add example queries showing standard joins; as a last resort pre-join into a view.</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Column comments not syncing from foreign tables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Edit column metadata in the agent UI, or create materialized views over federated tables and comment those — which is reusable across agents.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Metric calculation issues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Define metrics as SQL expressions; add example SQL for each roll-up; document pre-computed aggregates and valid further aggregations in table comments; create pre-aggregated views for very complex SQL.</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Incorrect time-based calculations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Spell out the source timezone, the conversion function and the target timezone in instructions.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Shape 4"/>
          <p:cNvSpPr/>
          <p:nvPr/>
        </p:nvSpPr>
        <p:spPr>
          <a:xfrm>
            <a:off x="502920" y="5084064"/>
            <a:ext cx="11183112" cy="1207008"/>
          </a:xfrm>
          <a:prstGeom prst="roundRect">
            <a:avLst>
              <a:gd name="adj" fmla="val 4545"/>
            </a:avLst>
          </a:prstGeom>
          <a:solidFill>
            <a:srgbClr val="0E1B2A"/>
          </a:solidFill>
          <a:ln w="9525">
            <a:solidFill>
              <a:srgbClr val="0E1B2A"/>
            </a:solidFill>
            <a:prstDash val="solid"/>
          </a:ln>
        </p:spPr>
      </p:sp>
      <p:sp>
        <p:nvSpPr>
          <p:cNvPr id="8" name="Shape 5"/>
          <p:cNvSpPr/>
          <p:nvPr/>
        </p:nvSpPr>
        <p:spPr>
          <a:xfrm>
            <a:off x="685800" y="5550408"/>
            <a:ext cx="274320" cy="274320"/>
          </a:xfrm>
          <a:prstGeom prst="roundRect">
            <a:avLst>
              <a:gd name="adj" fmla="val 16667"/>
            </a:avLst>
          </a:prstGeom>
          <a:solidFill>
            <a:srgbClr val="1B7A5A"/>
          </a:solidFill>
          <a:ln/>
        </p:spPr>
      </p:sp>
      <p:sp>
        <p:nvSpPr>
          <p:cNvPr id="9" name="Text 6"/>
          <p:cNvSpPr txBox="1"/>
          <p:nvPr/>
        </p:nvSpPr>
        <p:spPr>
          <a:xfrm>
            <a:off x="685800" y="555040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0" name="Text 7"/>
          <p:cNvSpPr txBox="1"/>
          <p:nvPr/>
        </p:nvSpPr>
        <p:spPr>
          <a:xfrm>
            <a:off x="1106424" y="5175504"/>
            <a:ext cx="10396728" cy="1024128"/>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Calibri" pitchFamily="34" charset="0"/>
                <a:ea typeface="Calibri" pitchFamily="34" charset="-122"/>
                <a:cs typeface="Calibri" pitchFamily="34" charset="-120"/>
              </a:rPr>
              <a:t>Pattern across the whole playbook: almost every documented fix moves context from a lower rung of the priority ladder to a higher one — from text into descriptions, from prose into SQL expressions, from guesswork into foreign keys and example queries. When a fix is not obvious, ask which rung the missing context belongs on. For many common problems, the fastest path to a fix is Genie Code.</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12.2 TROUBLESHOOTING PLAYBOOK</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Symptom to documented fix — part 2 of 2, plus token limits [OFF-5]</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43</a:t>
            </a:r>
            <a:endParaRPr lang="en-US" sz="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4023360"/>
                <a:gridCol w="715975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Ignoring instructions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Add example queries using the tables correctly; hide irrelevant columns; create simpler views; remove irrelevant tables and instructions; start a new chat for a clean test.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Performance issues / timeouts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Check query history for slow queries and optimise the SQL rather than the agent config; encapsulate complex queries in trusted assets or views; shorten example SQL; start a new chat.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Unreliable answers to mission-critical questions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Use trusted assets to provide verified answers.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Cross-Geo processing not enabled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Genie is a Designated Service using Databricks Geos for data residency; an account admin must enable cross-Geo processing for affected regions.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Last agent author removed from the workspace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Queries fail for everyone because the embedded compute credentials are invalid. Another user with at least CAN EDIT must reconfigure the agent's SQL warehouse, which embeds their credentials instead.</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Shape 4"/>
          <p:cNvSpPr/>
          <p:nvPr/>
        </p:nvSpPr>
        <p:spPr>
          <a:xfrm>
            <a:off x="502920" y="3401568"/>
            <a:ext cx="5504688" cy="2871216"/>
          </a:xfrm>
          <a:prstGeom prst="roundRect">
            <a:avLst>
              <a:gd name="adj" fmla="val 1911"/>
            </a:avLst>
          </a:prstGeom>
          <a:solidFill>
            <a:srgbClr val="FBEDEA"/>
          </a:solidFill>
          <a:ln w="9525">
            <a:solidFill>
              <a:srgbClr val="E8B5AA"/>
            </a:solidFill>
            <a:prstDash val="solid"/>
          </a:ln>
        </p:spPr>
      </p:sp>
      <p:sp>
        <p:nvSpPr>
          <p:cNvPr id="8" name="Text 5"/>
          <p:cNvSpPr txBox="1"/>
          <p:nvPr/>
        </p:nvSpPr>
        <p:spPr>
          <a:xfrm>
            <a:off x="704088" y="3547872"/>
            <a:ext cx="5120640" cy="274320"/>
          </a:xfrm>
          <a:prstGeom prst="rect">
            <a:avLst/>
          </a:prstGeom>
          <a:noFill/>
          <a:ln/>
        </p:spPr>
        <p:txBody>
          <a:bodyPr wrap="square" lIns="0" tIns="0" rIns="0" bIns="0" rtlCol="0" anchor="t"/>
          <a:lstStyle/>
          <a:p>
            <a:pPr indent="0" marL="0">
              <a:buNone/>
            </a:pPr>
            <a:r>
              <a:rPr lang="en-US" sz="1600" b="1" dirty="0">
                <a:solidFill>
                  <a:srgbClr val="B3321E"/>
                </a:solidFill>
                <a:latin typeface="Cambria" pitchFamily="34" charset="0"/>
                <a:ea typeface="Cambria" pitchFamily="34" charset="-122"/>
                <a:cs typeface="Cambria" pitchFamily="34" charset="-120"/>
              </a:rPr>
              <a:t>Token limits: the hard stop</a:t>
            </a:r>
            <a:endParaRPr lang="en-US" sz="1600" dirty="0"/>
          </a:p>
        </p:txBody>
      </p:sp>
      <p:sp>
        <p:nvSpPr>
          <p:cNvPr id="9" name="Text 6"/>
          <p:cNvSpPr txBox="1"/>
          <p:nvPr/>
        </p:nvSpPr>
        <p:spPr>
          <a:xfrm>
            <a:off x="704088" y="3877056"/>
            <a:ext cx="5102352" cy="822960"/>
          </a:xfrm>
          <a:prstGeom prst="rect">
            <a:avLst/>
          </a:prstGeom>
          <a:noFill/>
          <a:ln/>
        </p:spPr>
        <p:txBody>
          <a:bodyPr wrap="square" lIns="0" tIns="0" rIns="0" bIns="0" rtlCol="0" anchor="t"/>
          <a:lstStyle/>
          <a:p>
            <a:pPr indent="0" marL="0">
              <a:lnSpc>
                <a:spcPts val="1400"/>
              </a:lnSpc>
              <a:buNone/>
            </a:pPr>
            <a:r>
              <a:rPr lang="en-US" sz="1050" dirty="0">
                <a:solidFill>
                  <a:srgbClr val="2B3A4C"/>
                </a:solidFill>
                <a:latin typeface="Calibri" pitchFamily="34" charset="0"/>
                <a:ea typeface="Calibri" pitchFamily="34" charset="-122"/>
                <a:cs typeface="Calibri" pitchFamily="34" charset="-120"/>
              </a:rPr>
              <a:t>Text instructions and metadata are converted into tokens. As the agent approaches the limit a warning appears; Genie then uses context filtering to prioritise the most relevant tokens, so responses still generate — but quality may drop if important context is filtered out.</a:t>
            </a:r>
            <a:endParaRPr lang="en-US" sz="1050" dirty="0"/>
          </a:p>
        </p:txBody>
      </p:sp>
      <p:sp>
        <p:nvSpPr>
          <p:cNvPr id="10" name="Shape 7"/>
          <p:cNvSpPr/>
          <p:nvPr/>
        </p:nvSpPr>
        <p:spPr>
          <a:xfrm>
            <a:off x="704088" y="4754880"/>
            <a:ext cx="5102352" cy="502920"/>
          </a:xfrm>
          <a:prstGeom prst="roundRect">
            <a:avLst>
              <a:gd name="adj" fmla="val 10909"/>
            </a:avLst>
          </a:prstGeom>
          <a:solidFill>
            <a:srgbClr val="B3321E"/>
          </a:solidFill>
          <a:ln w="9525">
            <a:solidFill>
              <a:srgbClr val="B3321E"/>
            </a:solidFill>
            <a:prstDash val="solid"/>
          </a:ln>
        </p:spPr>
      </p:sp>
      <p:sp>
        <p:nvSpPr>
          <p:cNvPr id="11" name="Text 8"/>
          <p:cNvSpPr txBox="1"/>
          <p:nvPr/>
        </p:nvSpPr>
        <p:spPr>
          <a:xfrm>
            <a:off x="832104" y="4754880"/>
            <a:ext cx="4846320" cy="502920"/>
          </a:xfrm>
          <a:prstGeom prst="rect">
            <a:avLst/>
          </a:prstGeom>
          <a:noFill/>
          <a:ln/>
        </p:spPr>
        <p:txBody>
          <a:bodyPr wrap="square" lIns="0" tIns="0" rIns="0" bIns="0" rtlCol="0" anchor="ctr"/>
          <a:lstStyle/>
          <a:p>
            <a:pPr indent="0" marL="0">
              <a:lnSpc>
                <a:spcPts val="1300"/>
              </a:lnSpc>
              <a:buNone/>
            </a:pPr>
            <a:r>
              <a:rPr lang="en-US" sz="1100" b="1" dirty="0">
                <a:solidFill>
                  <a:srgbClr val="FFFFFF"/>
                </a:solidFill>
                <a:latin typeface="Calibri" pitchFamily="34" charset="0"/>
                <a:ea typeface="Calibri" pitchFamily="34" charset="-122"/>
                <a:cs typeface="Calibri" pitchFamily="34" charset="-120"/>
              </a:rPr>
              <a:t>When the limit is exceeded you can no longer send or receive messages in the agent.</a:t>
            </a:r>
            <a:endParaRPr lang="en-US" sz="1100" dirty="0"/>
          </a:p>
        </p:txBody>
      </p:sp>
      <p:sp>
        <p:nvSpPr>
          <p:cNvPr id="12" name="Text 9"/>
          <p:cNvSpPr txBox="1"/>
          <p:nvPr/>
        </p:nvSpPr>
        <p:spPr>
          <a:xfrm>
            <a:off x="704088" y="5358384"/>
            <a:ext cx="5102352" cy="457200"/>
          </a:xfrm>
          <a:prstGeom prst="rect">
            <a:avLst/>
          </a:prstGeom>
          <a:noFill/>
          <a:ln/>
        </p:spPr>
        <p:txBody>
          <a:bodyPr wrap="square" lIns="0" tIns="0" rIns="0" bIns="0" rtlCol="0" anchor="t"/>
          <a:lstStyle/>
          <a:p>
            <a:pPr indent="0" marL="0">
              <a:lnSpc>
                <a:spcPts val="1250"/>
              </a:lnSpc>
              <a:buNone/>
            </a:pPr>
            <a:r>
              <a:rPr lang="en-US" sz="950" i="1" dirty="0">
                <a:solidFill>
                  <a:srgbClr val="2B3A4C"/>
                </a:solidFill>
                <a:latin typeface="Calibri" pitchFamily="34" charset="0"/>
                <a:ea typeface="Calibri" pitchFamily="34" charset="-122"/>
                <a:cs typeface="Calibri" pitchFamily="34" charset="-120"/>
              </a:rPr>
              <a:t>This is a full outage of the agent, not a degradation — treat the warning as a production incident, not a backlog item.</a:t>
            </a:r>
            <a:endParaRPr lang="en-US" sz="950" dirty="0"/>
          </a:p>
        </p:txBody>
      </p:sp>
      <p:sp>
        <p:nvSpPr>
          <p:cNvPr id="13" name="Text 10"/>
          <p:cNvSpPr txBox="1"/>
          <p:nvPr/>
        </p:nvSpPr>
        <p:spPr>
          <a:xfrm>
            <a:off x="6181344" y="3383280"/>
            <a:ext cx="5504688"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HOW TO REDUCE TOKEN COUNT  [OFF-5]</a:t>
            </a:r>
            <a:endParaRPr lang="en-US" sz="850" dirty="0"/>
          </a:p>
        </p:txBody>
      </p:sp>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6181344" y="3621024"/>
          <a:ext cx="5504688" cy="914400"/>
        </p:xfrm>
        <a:graphic>
          <a:graphicData uri="http://schemas.openxmlformats.org/drawingml/2006/table">
            <a:tbl>
              <a:tblPr/>
              <a:tblGrid>
                <a:gridCol w="384048"/>
                <a:gridCol w="512064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E8552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 to reduce token count</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E8552D"/>
                    </a:solidFill>
                  </a:tcPr>
                </a:tc>
              </a:tr>
              <a:tr h="0">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Remove unnecessary columns: create views that exclude non-essential fields, or hide the columns in the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Streamline column descriptions: avoid restating the column name; say what the value means.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Edit column metadata in the agent — agent-scoped edits never change Unity Catalog, so trim freely.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0">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Prune overlapping or redundant example SQL while keeping a diverse range of query shapes.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E8552D"/>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Simplify instructions: the General instructions block counts as one instruction, but not a small one.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15" name="Text 11"/>
          <p:cNvSpPr txBox="1"/>
          <p:nvPr/>
        </p:nvSpPr>
        <p:spPr>
          <a:xfrm>
            <a:off x="6181344" y="5943600"/>
            <a:ext cx="5504688" cy="347472"/>
          </a:xfrm>
          <a:prstGeom prst="rect">
            <a:avLst/>
          </a:prstGeom>
          <a:noFill/>
          <a:ln/>
        </p:spPr>
        <p:txBody>
          <a:bodyPr wrap="square" lIns="0" tIns="0" rIns="0" bIns="0" rtlCol="0" anchor="t"/>
          <a:lstStyle/>
          <a:p>
            <a:pPr indent="0" marL="0">
              <a:lnSpc>
                <a:spcPts val="1250"/>
              </a:lnSpc>
              <a:buNone/>
            </a:pPr>
            <a:r>
              <a:rPr lang="en-US" sz="950" i="1" dirty="0">
                <a:solidFill>
                  <a:srgbClr val="56677C"/>
                </a:solidFill>
                <a:latin typeface="Calibri" pitchFamily="34" charset="0"/>
                <a:ea typeface="Calibri" pitchFamily="34" charset="-122"/>
                <a:cs typeface="Calibri" pitchFamily="34" charset="-120"/>
              </a:rPr>
              <a:t>Context filtering keeps the agent answering as it approaches the ceiling — which is why quality degrades quietly before it fails loudly.</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12.3 ANTI-PATTERNS</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Seven ways well-intentioned configuration degrades an agent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44</a:t>
            </a:r>
            <a:endParaRPr lang="en-US" sz="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3429000"/>
                <a:gridCol w="4023360"/>
                <a:gridCol w="3730752"/>
              </a:tblGrid>
              <a:tr h="4572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Anti-pattern</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 it fails</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13456E"/>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Both the base view AND the Metric View in the same Agent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Genie sees unaggregated rows and must re-derive aggregation logic</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Remove the base view once a Metric View exists on top of it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Adding 10 measures at once before testing</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You cannot isolate which one broke Genie's reasoning</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Add and validate one at a time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A Genie Agent with no description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Multi-agent routing fails silently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Always set an Agent description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Complex CASE chains in saved example SQL</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Increases Genie's reasoning load on similar questions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Simplify to WHERE filters; lean on composed measures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Bare (unqualified) columns in SQL snippets or example SQL</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Raises “Table name or alias is required for column”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Qualify every column with its source name</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Prompt matching blanket-enabled on every column</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Wastes context on IDs, hashes, free text and raw measures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Enable selectively, on categorical dimensions and filters users name directly</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2B3A4C"/>
                          </a:solidFill>
                          <a:latin typeface="Calibri" pitchFamily="34" charset="0"/>
                          <a:ea typeface="Calibri" pitchFamily="34" charset="-122"/>
                          <a:cs typeface="Calibri" pitchFamily="34" charset="-120"/>
                        </a:rPr>
                        <a:t>Assuming a governed Metric View source needs no column_configs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Format assistance and entity matching have no Metric View equivalent</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c>
                  <a:txBody>
                    <a:bodyPr/>
                    <a:lstStyle/>
                    <a:p>
                      <a:pPr indent="0" marL="0">
                        <a:buNone/>
                      </a:pPr>
                      <a:r>
                        <a:rPr lang="en-US" sz="950" dirty="0">
                          <a:solidFill>
                            <a:srgbClr val="2B3A4C"/>
                          </a:solidFill>
                          <a:latin typeface="Calibri" pitchFamily="34" charset="0"/>
                          <a:ea typeface="Calibri" pitchFamily="34" charset="-122"/>
                          <a:cs typeface="Calibri" pitchFamily="34" charset="-120"/>
                        </a:rPr>
                        <a:t>Still emit column_configs enabling them on the relevant categorical dimensions</a:t>
                      </a:r>
                      <a:endParaRPr lang="en-US" sz="950" dirty="0">
                        <a:latin typeface="Calibri" charset="0"/>
                        <a:ea typeface="Calibri" charset="0"/>
                        <a:cs typeface="Calibri" charset="0"/>
                      </a:endParaRPr>
                    </a:p>
                  </a:txBody>
                  <a:tcPr marL="54864" marR="54864" marT="54864" marB="54864" anchor="ctr">
                    <a:lnL w="6350" cap="flat" cmpd="sng" algn="ctr">
                      <a:solidFill>
                        <a:srgbClr val="D2DDE9"/>
                      </a:solidFill>
                      <a:prstDash val="solid"/>
                      <a:round/>
                      <a:headEnd type="none" w="med" len="med"/>
                      <a:tailEnd type="none" w="med" len="med"/>
                    </a:lnL>
                    <a:lnR w="6350" cap="flat" cmpd="sng" algn="ctr">
                      <a:solidFill>
                        <a:srgbClr val="D2DDE9"/>
                      </a:solidFill>
                      <a:prstDash val="solid"/>
                      <a:round/>
                      <a:headEnd type="none" w="med" len="med"/>
                      <a:tailEnd type="none" w="med" len="med"/>
                    </a:lnR>
                    <a:lnT w="6350" cap="flat" cmpd="sng" algn="ctr">
                      <a:solidFill>
                        <a:srgbClr val="D2DDE9"/>
                      </a:solidFill>
                      <a:prstDash val="solid"/>
                      <a:round/>
                      <a:headEnd type="none" w="med" len="med"/>
                      <a:tailEnd type="none" w="med" len="med"/>
                    </a:lnT>
                    <a:lnB w="6350" cap="flat" cmpd="sng" algn="ctr">
                      <a:solidFill>
                        <a:srgbClr val="D2DDE9"/>
                      </a:solidFill>
                      <a:prstDash val="solid"/>
                      <a:round/>
                      <a:headEnd type="none" w="med" len="med"/>
                      <a:tailEnd type="none" w="med" len="med"/>
                    </a:lnB>
                    <a:solidFill>
                      <a:srgbClr val="F2F5F9"/>
                    </a:solidFill>
                  </a:tcPr>
                </a:tc>
              </a:tr>
            </a:tbl>
          </a:graphicData>
        </a:graphic>
      </p:graphicFrame>
      <p:sp>
        <p:nvSpPr>
          <p:cNvPr id="7" name="Text 4"/>
          <p:cNvSpPr txBox="1"/>
          <p:nvPr/>
        </p:nvSpPr>
        <p:spPr>
          <a:xfrm>
            <a:off x="502920" y="495604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ALSO FROM THE OFFICIAL DOCS</a:t>
            </a:r>
            <a:endParaRPr lang="en-US" sz="850" dirty="0"/>
          </a:p>
        </p:txBody>
      </p:sp>
      <p:sp>
        <p:nvSpPr>
          <p:cNvPr id="8" name="Shape 5"/>
          <p:cNvSpPr/>
          <p:nvPr/>
        </p:nvSpPr>
        <p:spPr>
          <a:xfrm>
            <a:off x="502920" y="5193792"/>
            <a:ext cx="2104949" cy="1097280"/>
          </a:xfrm>
          <a:prstGeom prst="roundRect">
            <a:avLst>
              <a:gd name="adj" fmla="val 5000"/>
            </a:avLst>
          </a:prstGeom>
          <a:solidFill>
            <a:srgbClr val="E4ECF4"/>
          </a:solidFill>
          <a:ln w="9525">
            <a:solidFill>
              <a:srgbClr val="D2DDE9"/>
            </a:solidFill>
            <a:prstDash val="solid"/>
          </a:ln>
        </p:spPr>
      </p:sp>
      <p:sp>
        <p:nvSpPr>
          <p:cNvPr id="9" name="Text 6"/>
          <p:cNvSpPr txBox="1"/>
          <p:nvPr/>
        </p:nvSpPr>
        <p:spPr>
          <a:xfrm>
            <a:off x="649224" y="531266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Vague and conflicting guidance</a:t>
            </a:r>
            <a:endParaRPr lang="en-US" sz="1000" dirty="0"/>
          </a:p>
        </p:txBody>
      </p:sp>
      <p:sp>
        <p:nvSpPr>
          <p:cNvPr id="10" name="Text 7"/>
          <p:cNvSpPr txBox="1"/>
          <p:nvPr/>
        </p:nvSpPr>
        <p:spPr>
          <a:xfrm>
            <a:off x="649224" y="5650992"/>
            <a:ext cx="1812341" cy="52120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Vague text instructions, and conflicting guidance across instruction types.  [OFF-1]</a:t>
            </a:r>
            <a:endParaRPr lang="en-US" sz="900" dirty="0"/>
          </a:p>
        </p:txBody>
      </p:sp>
      <p:sp>
        <p:nvSpPr>
          <p:cNvPr id="11" name="Shape 8"/>
          <p:cNvSpPr/>
          <p:nvPr/>
        </p:nvSpPr>
        <p:spPr>
          <a:xfrm>
            <a:off x="2772461" y="5193792"/>
            <a:ext cx="2104949" cy="1097280"/>
          </a:xfrm>
          <a:prstGeom prst="roundRect">
            <a:avLst>
              <a:gd name="adj" fmla="val 5000"/>
            </a:avLst>
          </a:prstGeom>
          <a:solidFill>
            <a:srgbClr val="E4ECF4"/>
          </a:solidFill>
          <a:ln w="9525">
            <a:solidFill>
              <a:srgbClr val="D2DDE9"/>
            </a:solidFill>
            <a:prstDash val="solid"/>
          </a:ln>
        </p:spPr>
      </p:sp>
      <p:sp>
        <p:nvSpPr>
          <p:cNvPr id="12" name="Text 9"/>
          <p:cNvSpPr txBox="1"/>
          <p:nvPr/>
        </p:nvSpPr>
        <p:spPr>
          <a:xfrm>
            <a:off x="2918765" y="531266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Text where SQL belongs</a:t>
            </a:r>
            <a:endParaRPr lang="en-US" sz="1000" dirty="0"/>
          </a:p>
        </p:txBody>
      </p:sp>
      <p:sp>
        <p:nvSpPr>
          <p:cNvPr id="13" name="Text 10"/>
          <p:cNvSpPr txBox="1"/>
          <p:nvPr/>
        </p:nvSpPr>
        <p:spPr>
          <a:xfrm>
            <a:off x="2918765" y="5650992"/>
            <a:ext cx="1812341" cy="52120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Using text instructions to define metrics, filters or query patterns expressible in SQL.  [OFF-1]</a:t>
            </a:r>
            <a:endParaRPr lang="en-US" sz="900" dirty="0"/>
          </a:p>
        </p:txBody>
      </p:sp>
      <p:sp>
        <p:nvSpPr>
          <p:cNvPr id="14" name="Shape 11"/>
          <p:cNvSpPr/>
          <p:nvPr/>
        </p:nvSpPr>
        <p:spPr>
          <a:xfrm>
            <a:off x="5042002" y="5193792"/>
            <a:ext cx="2104949" cy="1097280"/>
          </a:xfrm>
          <a:prstGeom prst="roundRect">
            <a:avLst>
              <a:gd name="adj" fmla="val 5000"/>
            </a:avLst>
          </a:prstGeom>
          <a:solidFill>
            <a:srgbClr val="E4ECF4"/>
          </a:solidFill>
          <a:ln w="9525">
            <a:solidFill>
              <a:srgbClr val="D2DDE9"/>
            </a:solidFill>
            <a:prstDash val="solid"/>
          </a:ln>
        </p:spPr>
      </p:sp>
      <p:sp>
        <p:nvSpPr>
          <p:cNvPr id="15" name="Text 12"/>
          <p:cNvSpPr txBox="1"/>
          <p:nvPr/>
        </p:nvSpPr>
        <p:spPr>
          <a:xfrm>
            <a:off x="5188306" y="531266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Filler examples</a:t>
            </a:r>
            <a:endParaRPr lang="en-US" sz="1000" dirty="0"/>
          </a:p>
        </p:txBody>
      </p:sp>
      <p:sp>
        <p:nvSpPr>
          <p:cNvPr id="16" name="Text 13"/>
          <p:cNvSpPr txBox="1"/>
          <p:nvPr/>
        </p:nvSpPr>
        <p:spPr>
          <a:xfrm>
            <a:off x="5188306" y="5650992"/>
            <a:ext cx="1812341" cy="52120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Manufacturing filler examples to hit a count rather than to teach a pattern.  [GH-1]</a:t>
            </a:r>
            <a:endParaRPr lang="en-US" sz="900" dirty="0"/>
          </a:p>
        </p:txBody>
      </p:sp>
      <p:sp>
        <p:nvSpPr>
          <p:cNvPr id="17" name="Shape 14"/>
          <p:cNvSpPr/>
          <p:nvPr/>
        </p:nvSpPr>
        <p:spPr>
          <a:xfrm>
            <a:off x="7311542" y="5193792"/>
            <a:ext cx="2104949" cy="1097280"/>
          </a:xfrm>
          <a:prstGeom prst="roundRect">
            <a:avLst>
              <a:gd name="adj" fmla="val 5000"/>
            </a:avLst>
          </a:prstGeom>
          <a:solidFill>
            <a:srgbClr val="E4ECF4"/>
          </a:solidFill>
          <a:ln w="9525">
            <a:solidFill>
              <a:srgbClr val="D2DDE9"/>
            </a:solidFill>
            <a:prstDash val="solid"/>
          </a:ln>
        </p:spPr>
      </p:sp>
      <p:sp>
        <p:nvSpPr>
          <p:cNvPr id="18" name="Text 15"/>
          <p:cNvSpPr txBox="1"/>
          <p:nvPr/>
        </p:nvSpPr>
        <p:spPr>
          <a:xfrm>
            <a:off x="7457846" y="531266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Benchmark leakage</a:t>
            </a:r>
            <a:endParaRPr lang="en-US" sz="1000" dirty="0"/>
          </a:p>
        </p:txBody>
      </p:sp>
      <p:sp>
        <p:nvSpPr>
          <p:cNvPr id="19" name="Text 16"/>
          <p:cNvSpPr txBox="1"/>
          <p:nvPr/>
        </p:nvSpPr>
        <p:spPr>
          <a:xfrm>
            <a:off x="7457846" y="5650992"/>
            <a:ext cx="1812341" cy="52120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Copying benchmark questions or answer SQL into examples.  [GH-1]</a:t>
            </a:r>
            <a:endParaRPr lang="en-US" sz="900" dirty="0"/>
          </a:p>
        </p:txBody>
      </p:sp>
      <p:sp>
        <p:nvSpPr>
          <p:cNvPr id="20" name="Shape 17"/>
          <p:cNvSpPr/>
          <p:nvPr/>
        </p:nvSpPr>
        <p:spPr>
          <a:xfrm>
            <a:off x="9581083" y="5193792"/>
            <a:ext cx="2104949" cy="1097280"/>
          </a:xfrm>
          <a:prstGeom prst="roundRect">
            <a:avLst>
              <a:gd name="adj" fmla="val 5000"/>
            </a:avLst>
          </a:prstGeom>
          <a:solidFill>
            <a:srgbClr val="E4ECF4"/>
          </a:solidFill>
          <a:ln w="9525">
            <a:solidFill>
              <a:srgbClr val="D2DDE9"/>
            </a:solidFill>
            <a:prstDash val="solid"/>
          </a:ln>
        </p:spPr>
      </p:sp>
      <p:sp>
        <p:nvSpPr>
          <p:cNvPr id="21" name="Text 18"/>
          <p:cNvSpPr txBox="1"/>
          <p:nvPr/>
        </p:nvSpPr>
        <p:spPr>
          <a:xfrm>
            <a:off x="9727387" y="5312664"/>
            <a:ext cx="1812341" cy="292608"/>
          </a:xfrm>
          <a:prstGeom prst="rect">
            <a:avLst/>
          </a:prstGeom>
          <a:noFill/>
          <a:ln/>
        </p:spPr>
        <p:txBody>
          <a:bodyPr wrap="square" lIns="0" tIns="0" rIns="0" bIns="0" rtlCol="0" anchor="t"/>
          <a:lstStyle/>
          <a:p>
            <a:pPr indent="0" marL="0">
              <a:buNone/>
            </a:pPr>
            <a:r>
              <a:rPr lang="en-US" sz="1000" b="1" dirty="0">
                <a:solidFill>
                  <a:srgbClr val="0E1B2A"/>
                </a:solidFill>
                <a:latin typeface="Calibri" pitchFamily="34" charset="0"/>
                <a:ea typeface="Calibri" pitchFamily="34" charset="-122"/>
                <a:cs typeface="Calibri" pitchFamily="34" charset="-120"/>
              </a:rPr>
              <a:t>Redundancy near the ceiling</a:t>
            </a:r>
            <a:endParaRPr lang="en-US" sz="1000" dirty="0"/>
          </a:p>
        </p:txBody>
      </p:sp>
      <p:sp>
        <p:nvSpPr>
          <p:cNvPr id="22" name="Text 19"/>
          <p:cNvSpPr txBox="1"/>
          <p:nvPr/>
        </p:nvSpPr>
        <p:spPr>
          <a:xfrm>
            <a:off x="9727387" y="5650992"/>
            <a:ext cx="1812341" cy="521208"/>
          </a:xfrm>
          <a:prstGeom prst="rect">
            <a:avLst/>
          </a:prstGeom>
          <a:noFill/>
          <a:ln/>
        </p:spPr>
        <p:txBody>
          <a:bodyPr wrap="square" lIns="0" tIns="0" rIns="0" bIns="0" rtlCol="0" anchor="t"/>
          <a:lstStyle/>
          <a:p>
            <a:pPr indent="0" marL="0">
              <a:lnSpc>
                <a:spcPts val="1180"/>
              </a:lnSpc>
              <a:buNone/>
            </a:pPr>
            <a:r>
              <a:rPr lang="en-US" sz="900" dirty="0">
                <a:solidFill>
                  <a:srgbClr val="2B3A4C"/>
                </a:solidFill>
                <a:latin typeface="Calibri" pitchFamily="34" charset="0"/>
                <a:ea typeface="Calibri" pitchFamily="34" charset="-122"/>
                <a:cs typeface="Calibri" pitchFamily="34" charset="-120"/>
              </a:rPr>
              <a:t>Leaving redundant example SQL in place as the agent nears the token limit.  [OFF-5]</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822960" y="2395728"/>
            <a:ext cx="676656" cy="676656"/>
          </a:xfrm>
          <a:prstGeom prst="roundRect">
            <a:avLst>
              <a:gd name="adj" fmla="val 10811"/>
            </a:avLst>
          </a:prstGeom>
          <a:solidFill>
            <a:srgbClr val="E8552D"/>
          </a:solidFill>
          <a:ln/>
        </p:spPr>
      </p:sp>
      <p:sp>
        <p:nvSpPr>
          <p:cNvPr id="3" name="Text 1"/>
          <p:cNvSpPr txBox="1"/>
          <p:nvPr/>
        </p:nvSpPr>
        <p:spPr>
          <a:xfrm>
            <a:off x="822960" y="2395728"/>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13</a:t>
            </a:r>
            <a:endParaRPr lang="en-US" sz="2400" dirty="0"/>
          </a:p>
        </p:txBody>
      </p:sp>
      <p:sp>
        <p:nvSpPr>
          <p:cNvPr id="4" name="Text 2"/>
          <p:cNvSpPr txBox="1"/>
          <p:nvPr/>
        </p:nvSpPr>
        <p:spPr>
          <a:xfrm>
            <a:off x="1691640" y="2212848"/>
            <a:ext cx="5669280" cy="1060704"/>
          </a:xfrm>
          <a:prstGeom prst="rect">
            <a:avLst/>
          </a:prstGeom>
          <a:noFill/>
          <a:ln/>
        </p:spPr>
        <p:txBody>
          <a:bodyPr wrap="square" lIns="0" tIns="0" rIns="0" bIns="0"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Ship it</a:t>
            </a:r>
            <a:endParaRPr lang="en-US" sz="3200" dirty="0"/>
          </a:p>
        </p:txBody>
      </p:sp>
      <p:sp>
        <p:nvSpPr>
          <p:cNvPr id="5" name="Text 3"/>
          <p:cNvSpPr txBox="1"/>
          <p:nvPr/>
        </p:nvSpPr>
        <p:spPr>
          <a:xfrm>
            <a:off x="1691640" y="3364992"/>
            <a:ext cx="5394960" cy="822960"/>
          </a:xfrm>
          <a:prstGeom prst="rect">
            <a:avLst/>
          </a:prstGeom>
          <a:noFill/>
          <a:ln/>
        </p:spPr>
        <p:txBody>
          <a:bodyPr wrap="square" lIns="0" tIns="0" rIns="0" bIns="0" rtlCol="0" anchor="t"/>
          <a:lstStyle/>
          <a:p>
            <a:pPr indent="0" marL="0">
              <a:lnSpc>
                <a:spcPts val="1700"/>
              </a:lnSpc>
              <a:buNone/>
            </a:pPr>
            <a:r>
              <a:rPr lang="en-US" sz="1250" dirty="0">
                <a:solidFill>
                  <a:srgbClr val="A9BCD0"/>
                </a:solidFill>
                <a:latin typeface="Calibri" pitchFamily="34" charset="0"/>
                <a:ea typeface="Calibri" pitchFamily="34" charset="-122"/>
                <a:cs typeface="Calibri" pitchFamily="34" charset="-120"/>
              </a:rPr>
              <a:t>The checklist that decides whether an agent goes live, and what a complete proposal contains.</a:t>
            </a:r>
            <a:endParaRPr lang="en-US" sz="1250" dirty="0"/>
          </a:p>
        </p:txBody>
      </p:sp>
      <p:sp>
        <p:nvSpPr>
          <p:cNvPr id="6" name="Shape 4"/>
          <p:cNvSpPr/>
          <p:nvPr/>
        </p:nvSpPr>
        <p:spPr>
          <a:xfrm>
            <a:off x="7543800" y="1691640"/>
            <a:ext cx="3886200" cy="3566160"/>
          </a:xfrm>
          <a:prstGeom prst="roundRect">
            <a:avLst>
              <a:gd name="adj" fmla="val 1538"/>
            </a:avLst>
          </a:prstGeom>
          <a:solidFill>
            <a:srgbClr val="17293F"/>
          </a:solidFill>
          <a:ln w="9525">
            <a:solidFill>
              <a:srgbClr val="2A3F58"/>
            </a:solidFill>
            <a:prstDash val="solid"/>
          </a:ln>
        </p:spPr>
      </p:sp>
      <p:sp>
        <p:nvSpPr>
          <p:cNvPr id="7" name="Text 5"/>
          <p:cNvSpPr txBox="1"/>
          <p:nvPr/>
        </p:nvSpPr>
        <p:spPr>
          <a:xfrm>
            <a:off x="7818120" y="1901952"/>
            <a:ext cx="3383280" cy="201168"/>
          </a:xfrm>
          <a:prstGeom prst="rect">
            <a:avLst/>
          </a:prstGeom>
          <a:noFill/>
          <a:ln/>
        </p:spPr>
        <p:txBody>
          <a:bodyPr wrap="square" lIns="0" tIns="0" rIns="0" bIns="0" rtlCol="0" anchor="t"/>
          <a:lstStyle/>
          <a:p>
            <a:pPr indent="0" marL="0">
              <a:buNone/>
            </a:pPr>
            <a:r>
              <a:rPr lang="en-US" sz="850" b="1" spc="180" kern="0" dirty="0">
                <a:solidFill>
                  <a:srgbClr val="F0A34A"/>
                </a:solidFill>
                <a:latin typeface="Calibri" pitchFamily="34" charset="0"/>
                <a:ea typeface="Calibri" pitchFamily="34" charset="-122"/>
                <a:cs typeface="Calibri" pitchFamily="34" charset="-120"/>
              </a:rPr>
              <a:t>IN THIS SECTION</a:t>
            </a:r>
            <a:endParaRPr lang="en-US" sz="850" dirty="0"/>
          </a:p>
        </p:txBody>
      </p:sp>
      <p:sp>
        <p:nvSpPr>
          <p:cNvPr id="8" name="Text 6"/>
          <p:cNvSpPr txBox="1"/>
          <p:nvPr/>
        </p:nvSpPr>
        <p:spPr>
          <a:xfrm>
            <a:off x="7818120" y="2212848"/>
            <a:ext cx="3383280" cy="2834640"/>
          </a:xfrm>
          <a:prstGeom prst="rect">
            <a:avLst/>
          </a:prstGeom>
          <a:noFill/>
          <a:ln/>
        </p:spPr>
        <p:txBody>
          <a:bodyPr wrap="square" lIns="0" tIns="0" rIns="0" bIns="0" rtlCol="0" anchor="t"/>
          <a:lstStyle/>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Structural pre-launch checks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Official readiness markers</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Required output when proposing an Agent</a:t>
            </a:r>
            <a:endParaRPr lang="en-US" sz="1100" dirty="0"/>
          </a:p>
          <a:p>
            <a:pPr marL="152400" indent="-152400">
              <a:lnSpc>
                <a:spcPts val="1500"/>
              </a:lnSpc>
              <a:spcAft>
                <a:spcPts val="400"/>
              </a:spcAft>
              <a:buSzPct val="100000"/>
              <a:buChar char="•"/>
            </a:pPr>
            <a:r>
              <a:rPr lang="en-US" sz="1100" dirty="0">
                <a:solidFill>
                  <a:srgbClr val="CBD8E6"/>
                </a:solidFill>
                <a:latin typeface="Calibri" pitchFamily="34" charset="0"/>
                <a:ea typeface="Calibri" pitchFamily="34" charset="-122"/>
                <a:cs typeface="Calibri" pitchFamily="34" charset="-120"/>
              </a:rPr>
              <a:t>Sources not yet incorporated</a:t>
            </a:r>
            <a:endParaRPr lang="en-US" sz="1100" dirty="0"/>
          </a:p>
        </p:txBody>
      </p:sp>
      <p:sp>
        <p:nvSpPr>
          <p:cNvPr id="9" name="Text 7"/>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10" name="Text 8"/>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13.1 PRE-LAUNCH CHECKLIST</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Structural checks before an agent meets its audience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46</a:t>
            </a:r>
            <a:endParaRPr lang="en-US" sz="800" dirty="0"/>
          </a:p>
        </p:txBody>
      </p:sp>
      <p:sp>
        <p:nvSpPr>
          <p:cNvPr id="6" name="Shape 4"/>
          <p:cNvSpPr/>
          <p:nvPr/>
        </p:nvSpPr>
        <p:spPr>
          <a:xfrm>
            <a:off x="502920" y="1188720"/>
            <a:ext cx="5504688" cy="493776"/>
          </a:xfrm>
          <a:prstGeom prst="roundRect">
            <a:avLst>
              <a:gd name="adj" fmla="val 11111"/>
            </a:avLst>
          </a:prstGeom>
          <a:solidFill>
            <a:srgbClr val="F2F5F9"/>
          </a:solidFill>
          <a:ln w="9525">
            <a:solidFill>
              <a:srgbClr val="D2DDE9"/>
            </a:solidFill>
            <a:prstDash val="solid"/>
          </a:ln>
        </p:spPr>
      </p:sp>
      <p:sp>
        <p:nvSpPr>
          <p:cNvPr id="7" name="Shape 5"/>
          <p:cNvSpPr/>
          <p:nvPr/>
        </p:nvSpPr>
        <p:spPr>
          <a:xfrm>
            <a:off x="630936" y="1316736"/>
            <a:ext cx="237744" cy="237744"/>
          </a:xfrm>
          <a:prstGeom prst="roundRect">
            <a:avLst>
              <a:gd name="adj" fmla="val 15385"/>
            </a:avLst>
          </a:prstGeom>
          <a:solidFill>
            <a:srgbClr val="FFFFFF"/>
          </a:solidFill>
          <a:ln w="12700">
            <a:solidFill>
              <a:srgbClr val="13456E"/>
            </a:solidFill>
            <a:prstDash val="solid"/>
          </a:ln>
        </p:spPr>
      </p:sp>
      <p:sp>
        <p:nvSpPr>
          <p:cNvPr id="8" name="Text 6"/>
          <p:cNvSpPr txBox="1"/>
          <p:nvPr/>
        </p:nvSpPr>
        <p:spPr>
          <a:xfrm>
            <a:off x="630936" y="1316736"/>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9" name="Text 7"/>
          <p:cNvSpPr txBox="1"/>
          <p:nvPr/>
        </p:nvSpPr>
        <p:spPr>
          <a:xfrm>
            <a:off x="960120" y="1188720"/>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A description that states purpose and scope (required for multi-agent routing).</a:t>
            </a:r>
            <a:endParaRPr lang="en-US" sz="950" dirty="0"/>
          </a:p>
        </p:txBody>
      </p:sp>
      <p:sp>
        <p:nvSpPr>
          <p:cNvPr id="10" name="Shape 8"/>
          <p:cNvSpPr/>
          <p:nvPr/>
        </p:nvSpPr>
        <p:spPr>
          <a:xfrm>
            <a:off x="502920" y="1755648"/>
            <a:ext cx="5504688" cy="493776"/>
          </a:xfrm>
          <a:prstGeom prst="roundRect">
            <a:avLst>
              <a:gd name="adj" fmla="val 11111"/>
            </a:avLst>
          </a:prstGeom>
          <a:solidFill>
            <a:srgbClr val="F2F5F9"/>
          </a:solidFill>
          <a:ln w="9525">
            <a:solidFill>
              <a:srgbClr val="D2DDE9"/>
            </a:solidFill>
            <a:prstDash val="solid"/>
          </a:ln>
        </p:spPr>
      </p:sp>
      <p:sp>
        <p:nvSpPr>
          <p:cNvPr id="11" name="Shape 9"/>
          <p:cNvSpPr/>
          <p:nvPr/>
        </p:nvSpPr>
        <p:spPr>
          <a:xfrm>
            <a:off x="630936" y="1883664"/>
            <a:ext cx="237744" cy="237744"/>
          </a:xfrm>
          <a:prstGeom prst="roundRect">
            <a:avLst>
              <a:gd name="adj" fmla="val 15385"/>
            </a:avLst>
          </a:prstGeom>
          <a:solidFill>
            <a:srgbClr val="FFFFFF"/>
          </a:solidFill>
          <a:ln w="12700">
            <a:solidFill>
              <a:srgbClr val="13456E"/>
            </a:solidFill>
            <a:prstDash val="solid"/>
          </a:ln>
        </p:spPr>
      </p:sp>
      <p:sp>
        <p:nvSpPr>
          <p:cNvPr id="12" name="Text 10"/>
          <p:cNvSpPr txBox="1"/>
          <p:nvPr/>
        </p:nvSpPr>
        <p:spPr>
          <a:xfrm>
            <a:off x="630936" y="1883664"/>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13" name="Text 11"/>
          <p:cNvSpPr txBox="1"/>
          <p:nvPr/>
        </p:nvSpPr>
        <p:spPr>
          <a:xfrm>
            <a:off x="960120" y="1755648"/>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A focused source set, ideally 5 or fewer at first.</a:t>
            </a:r>
            <a:endParaRPr lang="en-US" sz="950" dirty="0"/>
          </a:p>
        </p:txBody>
      </p:sp>
      <p:sp>
        <p:nvSpPr>
          <p:cNvPr id="14" name="Shape 12"/>
          <p:cNvSpPr/>
          <p:nvPr/>
        </p:nvSpPr>
        <p:spPr>
          <a:xfrm>
            <a:off x="502920" y="2322576"/>
            <a:ext cx="5504688" cy="493776"/>
          </a:xfrm>
          <a:prstGeom prst="roundRect">
            <a:avLst>
              <a:gd name="adj" fmla="val 11111"/>
            </a:avLst>
          </a:prstGeom>
          <a:solidFill>
            <a:srgbClr val="F2F5F9"/>
          </a:solidFill>
          <a:ln w="9525">
            <a:solidFill>
              <a:srgbClr val="D2DDE9"/>
            </a:solidFill>
            <a:prstDash val="solid"/>
          </a:ln>
        </p:spPr>
      </p:sp>
      <p:sp>
        <p:nvSpPr>
          <p:cNvPr id="15" name="Shape 13"/>
          <p:cNvSpPr/>
          <p:nvPr/>
        </p:nvSpPr>
        <p:spPr>
          <a:xfrm>
            <a:off x="630936" y="2450592"/>
            <a:ext cx="237744" cy="237744"/>
          </a:xfrm>
          <a:prstGeom prst="roundRect">
            <a:avLst>
              <a:gd name="adj" fmla="val 15385"/>
            </a:avLst>
          </a:prstGeom>
          <a:solidFill>
            <a:srgbClr val="FFFFFF"/>
          </a:solidFill>
          <a:ln w="12700">
            <a:solidFill>
              <a:srgbClr val="13456E"/>
            </a:solidFill>
            <a:prstDash val="solid"/>
          </a:ln>
        </p:spPr>
      </p:sp>
      <p:sp>
        <p:nvSpPr>
          <p:cNvPr id="16" name="Text 14"/>
          <p:cNvSpPr txBox="1"/>
          <p:nvPr/>
        </p:nvSpPr>
        <p:spPr>
          <a:xfrm>
            <a:off x="630936" y="2450592"/>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17" name="Text 15"/>
          <p:cNvSpPr txBox="1"/>
          <p:nvPr/>
        </p:nvSpPr>
        <p:spPr>
          <a:xfrm>
            <a:off x="960120" y="2322576"/>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Descriptions that state business purpose and grain.</a:t>
            </a:r>
            <a:endParaRPr lang="en-US" sz="950" dirty="0"/>
          </a:p>
        </p:txBody>
      </p:sp>
      <p:sp>
        <p:nvSpPr>
          <p:cNvPr id="18" name="Shape 16"/>
          <p:cNvSpPr/>
          <p:nvPr/>
        </p:nvSpPr>
        <p:spPr>
          <a:xfrm>
            <a:off x="502920" y="2889504"/>
            <a:ext cx="5504688" cy="493776"/>
          </a:xfrm>
          <a:prstGeom prst="roundRect">
            <a:avLst>
              <a:gd name="adj" fmla="val 11111"/>
            </a:avLst>
          </a:prstGeom>
          <a:solidFill>
            <a:srgbClr val="F2F5F9"/>
          </a:solidFill>
          <a:ln w="9525">
            <a:solidFill>
              <a:srgbClr val="D2DDE9"/>
            </a:solidFill>
            <a:prstDash val="solid"/>
          </a:ln>
        </p:spPr>
      </p:sp>
      <p:sp>
        <p:nvSpPr>
          <p:cNvPr id="19" name="Shape 17"/>
          <p:cNvSpPr/>
          <p:nvPr/>
        </p:nvSpPr>
        <p:spPr>
          <a:xfrm>
            <a:off x="630936" y="3017520"/>
            <a:ext cx="237744" cy="237744"/>
          </a:xfrm>
          <a:prstGeom prst="roundRect">
            <a:avLst>
              <a:gd name="adj" fmla="val 15385"/>
            </a:avLst>
          </a:prstGeom>
          <a:solidFill>
            <a:srgbClr val="FFFFFF"/>
          </a:solidFill>
          <a:ln w="12700">
            <a:solidFill>
              <a:srgbClr val="13456E"/>
            </a:solidFill>
            <a:prstDash val="solid"/>
          </a:ln>
        </p:spPr>
      </p:sp>
      <p:sp>
        <p:nvSpPr>
          <p:cNvPr id="20" name="Text 18"/>
          <p:cNvSpPr txBox="1"/>
          <p:nvPr/>
        </p:nvSpPr>
        <p:spPr>
          <a:xfrm>
            <a:off x="630936" y="3017520"/>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21" name="Text 19"/>
          <p:cNvSpPr txBox="1"/>
          <p:nvPr/>
        </p:nvSpPr>
        <p:spPr>
          <a:xfrm>
            <a:off x="960120" y="2889504"/>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Hidden ingestion, audit, hash, raw JSON, embedding and sensitive free-text fields.</a:t>
            </a:r>
            <a:endParaRPr lang="en-US" sz="950" dirty="0"/>
          </a:p>
        </p:txBody>
      </p:sp>
      <p:sp>
        <p:nvSpPr>
          <p:cNvPr id="22" name="Shape 20"/>
          <p:cNvSpPr/>
          <p:nvPr/>
        </p:nvSpPr>
        <p:spPr>
          <a:xfrm>
            <a:off x="502920" y="3456432"/>
            <a:ext cx="5504688" cy="493776"/>
          </a:xfrm>
          <a:prstGeom prst="roundRect">
            <a:avLst>
              <a:gd name="adj" fmla="val 11111"/>
            </a:avLst>
          </a:prstGeom>
          <a:solidFill>
            <a:srgbClr val="F2F5F9"/>
          </a:solidFill>
          <a:ln w="9525">
            <a:solidFill>
              <a:srgbClr val="D2DDE9"/>
            </a:solidFill>
            <a:prstDash val="solid"/>
          </a:ln>
        </p:spPr>
      </p:sp>
      <p:sp>
        <p:nvSpPr>
          <p:cNvPr id="23" name="Shape 21"/>
          <p:cNvSpPr/>
          <p:nvPr/>
        </p:nvSpPr>
        <p:spPr>
          <a:xfrm>
            <a:off x="630936" y="3584448"/>
            <a:ext cx="237744" cy="237744"/>
          </a:xfrm>
          <a:prstGeom prst="roundRect">
            <a:avLst>
              <a:gd name="adj" fmla="val 15385"/>
            </a:avLst>
          </a:prstGeom>
          <a:solidFill>
            <a:srgbClr val="FFFFFF"/>
          </a:solidFill>
          <a:ln w="12700">
            <a:solidFill>
              <a:srgbClr val="13456E"/>
            </a:solidFill>
            <a:prstDash val="solid"/>
          </a:ln>
        </p:spPr>
      </p:sp>
      <p:sp>
        <p:nvSpPr>
          <p:cNvPr id="24" name="Text 22"/>
          <p:cNvSpPr txBox="1"/>
          <p:nvPr/>
        </p:nvSpPr>
        <p:spPr>
          <a:xfrm>
            <a:off x="630936" y="3584448"/>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25" name="Text 23"/>
          <p:cNvSpPr txBox="1"/>
          <p:nvPr/>
        </p:nvSpPr>
        <p:spPr>
          <a:xfrm>
            <a:off x="960120" y="3456432"/>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Prompt matching only on useful eligible categorical strings.</a:t>
            </a:r>
            <a:endParaRPr lang="en-US" sz="950" dirty="0"/>
          </a:p>
        </p:txBody>
      </p:sp>
      <p:sp>
        <p:nvSpPr>
          <p:cNvPr id="26" name="Shape 24"/>
          <p:cNvSpPr/>
          <p:nvPr/>
        </p:nvSpPr>
        <p:spPr>
          <a:xfrm>
            <a:off x="502920" y="4023360"/>
            <a:ext cx="5504688" cy="493776"/>
          </a:xfrm>
          <a:prstGeom prst="roundRect">
            <a:avLst>
              <a:gd name="adj" fmla="val 11111"/>
            </a:avLst>
          </a:prstGeom>
          <a:solidFill>
            <a:srgbClr val="F2F5F9"/>
          </a:solidFill>
          <a:ln w="9525">
            <a:solidFill>
              <a:srgbClr val="D2DDE9"/>
            </a:solidFill>
            <a:prstDash val="solid"/>
          </a:ln>
        </p:spPr>
      </p:sp>
      <p:sp>
        <p:nvSpPr>
          <p:cNvPr id="27" name="Shape 25"/>
          <p:cNvSpPr/>
          <p:nvPr/>
        </p:nvSpPr>
        <p:spPr>
          <a:xfrm>
            <a:off x="630936" y="4151376"/>
            <a:ext cx="237744" cy="237744"/>
          </a:xfrm>
          <a:prstGeom prst="roundRect">
            <a:avLst>
              <a:gd name="adj" fmla="val 15385"/>
            </a:avLst>
          </a:prstGeom>
          <a:solidFill>
            <a:srgbClr val="FFFFFF"/>
          </a:solidFill>
          <a:ln w="12700">
            <a:solidFill>
              <a:srgbClr val="13456E"/>
            </a:solidFill>
            <a:prstDash val="solid"/>
          </a:ln>
        </p:spPr>
      </p:sp>
      <p:sp>
        <p:nvSpPr>
          <p:cNvPr id="28" name="Text 26"/>
          <p:cNvSpPr txBox="1"/>
          <p:nvPr/>
        </p:nvSpPr>
        <p:spPr>
          <a:xfrm>
            <a:off x="630936" y="4151376"/>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29" name="Text 27"/>
          <p:cNvSpPr txBox="1"/>
          <p:nvPr/>
        </p:nvSpPr>
        <p:spPr>
          <a:xfrm>
            <a:off x="960120" y="4023360"/>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Joins supported by constraints, naming, row-count checks or user confirmation.</a:t>
            </a:r>
            <a:endParaRPr lang="en-US" sz="950" dirty="0"/>
          </a:p>
        </p:txBody>
      </p:sp>
      <p:sp>
        <p:nvSpPr>
          <p:cNvPr id="30" name="Shape 28"/>
          <p:cNvSpPr/>
          <p:nvPr/>
        </p:nvSpPr>
        <p:spPr>
          <a:xfrm>
            <a:off x="6181344" y="1188720"/>
            <a:ext cx="5504688" cy="493776"/>
          </a:xfrm>
          <a:prstGeom prst="roundRect">
            <a:avLst>
              <a:gd name="adj" fmla="val 11111"/>
            </a:avLst>
          </a:prstGeom>
          <a:solidFill>
            <a:srgbClr val="F2F5F9"/>
          </a:solidFill>
          <a:ln w="9525">
            <a:solidFill>
              <a:srgbClr val="D2DDE9"/>
            </a:solidFill>
            <a:prstDash val="solid"/>
          </a:ln>
        </p:spPr>
      </p:sp>
      <p:sp>
        <p:nvSpPr>
          <p:cNvPr id="31" name="Shape 29"/>
          <p:cNvSpPr/>
          <p:nvPr/>
        </p:nvSpPr>
        <p:spPr>
          <a:xfrm>
            <a:off x="6309360" y="1316736"/>
            <a:ext cx="237744" cy="237744"/>
          </a:xfrm>
          <a:prstGeom prst="roundRect">
            <a:avLst>
              <a:gd name="adj" fmla="val 15385"/>
            </a:avLst>
          </a:prstGeom>
          <a:solidFill>
            <a:srgbClr val="FFFFFF"/>
          </a:solidFill>
          <a:ln w="12700">
            <a:solidFill>
              <a:srgbClr val="13456E"/>
            </a:solidFill>
            <a:prstDash val="solid"/>
          </a:ln>
        </p:spPr>
      </p:sp>
      <p:sp>
        <p:nvSpPr>
          <p:cNvPr id="32" name="Text 30"/>
          <p:cNvSpPr txBox="1"/>
          <p:nvPr/>
        </p:nvSpPr>
        <p:spPr>
          <a:xfrm>
            <a:off x="6309360" y="1316736"/>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33" name="Text 31"/>
          <p:cNvSpPr txBox="1"/>
          <p:nvPr/>
        </p:nvSpPr>
        <p:spPr>
          <a:xfrm>
            <a:off x="6638544" y="1188720"/>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No long rulebook-style text instructions.</a:t>
            </a:r>
            <a:endParaRPr lang="en-US" sz="950" dirty="0"/>
          </a:p>
        </p:txBody>
      </p:sp>
      <p:sp>
        <p:nvSpPr>
          <p:cNvPr id="34" name="Shape 32"/>
          <p:cNvSpPr/>
          <p:nvPr/>
        </p:nvSpPr>
        <p:spPr>
          <a:xfrm>
            <a:off x="6181344" y="1755648"/>
            <a:ext cx="5504688" cy="493776"/>
          </a:xfrm>
          <a:prstGeom prst="roundRect">
            <a:avLst>
              <a:gd name="adj" fmla="val 11111"/>
            </a:avLst>
          </a:prstGeom>
          <a:solidFill>
            <a:srgbClr val="F2F5F9"/>
          </a:solidFill>
          <a:ln w="9525">
            <a:solidFill>
              <a:srgbClr val="D2DDE9"/>
            </a:solidFill>
            <a:prstDash val="solid"/>
          </a:ln>
        </p:spPr>
      </p:sp>
      <p:sp>
        <p:nvSpPr>
          <p:cNvPr id="35" name="Shape 33"/>
          <p:cNvSpPr/>
          <p:nvPr/>
        </p:nvSpPr>
        <p:spPr>
          <a:xfrm>
            <a:off x="6309360" y="1883664"/>
            <a:ext cx="237744" cy="237744"/>
          </a:xfrm>
          <a:prstGeom prst="roundRect">
            <a:avLst>
              <a:gd name="adj" fmla="val 15385"/>
            </a:avLst>
          </a:prstGeom>
          <a:solidFill>
            <a:srgbClr val="FFFFFF"/>
          </a:solidFill>
          <a:ln w="12700">
            <a:solidFill>
              <a:srgbClr val="13456E"/>
            </a:solidFill>
            <a:prstDash val="solid"/>
          </a:ln>
        </p:spPr>
      </p:sp>
      <p:sp>
        <p:nvSpPr>
          <p:cNvPr id="36" name="Text 34"/>
          <p:cNvSpPr txBox="1"/>
          <p:nvPr/>
        </p:nvSpPr>
        <p:spPr>
          <a:xfrm>
            <a:off x="6309360" y="1883664"/>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37" name="Text 35"/>
          <p:cNvSpPr txBox="1"/>
          <p:nvPr/>
        </p:nvSpPr>
        <p:spPr>
          <a:xfrm>
            <a:off x="6638544" y="1755648"/>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Text instructions only for global behaviour that cannot be encoded structurally, with justification.</a:t>
            </a:r>
            <a:endParaRPr lang="en-US" sz="950" dirty="0"/>
          </a:p>
        </p:txBody>
      </p:sp>
      <p:sp>
        <p:nvSpPr>
          <p:cNvPr id="38" name="Shape 36"/>
          <p:cNvSpPr/>
          <p:nvPr/>
        </p:nvSpPr>
        <p:spPr>
          <a:xfrm>
            <a:off x="6181344" y="2322576"/>
            <a:ext cx="5504688" cy="493776"/>
          </a:xfrm>
          <a:prstGeom prst="roundRect">
            <a:avLst>
              <a:gd name="adj" fmla="val 11111"/>
            </a:avLst>
          </a:prstGeom>
          <a:solidFill>
            <a:srgbClr val="F2F5F9"/>
          </a:solidFill>
          <a:ln w="9525">
            <a:solidFill>
              <a:srgbClr val="D2DDE9"/>
            </a:solidFill>
            <a:prstDash val="solid"/>
          </a:ln>
        </p:spPr>
      </p:sp>
      <p:sp>
        <p:nvSpPr>
          <p:cNvPr id="39" name="Shape 37"/>
          <p:cNvSpPr/>
          <p:nvPr/>
        </p:nvSpPr>
        <p:spPr>
          <a:xfrm>
            <a:off x="6309360" y="2450592"/>
            <a:ext cx="237744" cy="237744"/>
          </a:xfrm>
          <a:prstGeom prst="roundRect">
            <a:avLst>
              <a:gd name="adj" fmla="val 15385"/>
            </a:avLst>
          </a:prstGeom>
          <a:solidFill>
            <a:srgbClr val="FFFFFF"/>
          </a:solidFill>
          <a:ln w="12700">
            <a:solidFill>
              <a:srgbClr val="13456E"/>
            </a:solidFill>
            <a:prstDash val="solid"/>
          </a:ln>
        </p:spPr>
      </p:sp>
      <p:sp>
        <p:nvSpPr>
          <p:cNvPr id="40" name="Text 38"/>
          <p:cNvSpPr txBox="1"/>
          <p:nvPr/>
        </p:nvSpPr>
        <p:spPr>
          <a:xfrm>
            <a:off x="6309360" y="2450592"/>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41" name="Text 39"/>
          <p:cNvSpPr txBox="1"/>
          <p:nvPr/>
        </p:nvSpPr>
        <p:spPr>
          <a:xfrm>
            <a:off x="6638544" y="2322576"/>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Example SQL that teaches reusable patterns, not memorised test questions.</a:t>
            </a:r>
            <a:endParaRPr lang="en-US" sz="950" dirty="0"/>
          </a:p>
        </p:txBody>
      </p:sp>
      <p:sp>
        <p:nvSpPr>
          <p:cNvPr id="42" name="Shape 40"/>
          <p:cNvSpPr/>
          <p:nvPr/>
        </p:nvSpPr>
        <p:spPr>
          <a:xfrm>
            <a:off x="6181344" y="2889504"/>
            <a:ext cx="5504688" cy="493776"/>
          </a:xfrm>
          <a:prstGeom prst="roundRect">
            <a:avLst>
              <a:gd name="adj" fmla="val 11111"/>
            </a:avLst>
          </a:prstGeom>
          <a:solidFill>
            <a:srgbClr val="F2F5F9"/>
          </a:solidFill>
          <a:ln w="9525">
            <a:solidFill>
              <a:srgbClr val="D2DDE9"/>
            </a:solidFill>
            <a:prstDash val="solid"/>
          </a:ln>
        </p:spPr>
      </p:sp>
      <p:sp>
        <p:nvSpPr>
          <p:cNvPr id="43" name="Shape 41"/>
          <p:cNvSpPr/>
          <p:nvPr/>
        </p:nvSpPr>
        <p:spPr>
          <a:xfrm>
            <a:off x="6309360" y="3017520"/>
            <a:ext cx="237744" cy="237744"/>
          </a:xfrm>
          <a:prstGeom prst="roundRect">
            <a:avLst>
              <a:gd name="adj" fmla="val 15385"/>
            </a:avLst>
          </a:prstGeom>
          <a:solidFill>
            <a:srgbClr val="FFFFFF"/>
          </a:solidFill>
          <a:ln w="12700">
            <a:solidFill>
              <a:srgbClr val="13456E"/>
            </a:solidFill>
            <a:prstDash val="solid"/>
          </a:ln>
        </p:spPr>
      </p:sp>
      <p:sp>
        <p:nvSpPr>
          <p:cNvPr id="44" name="Text 42"/>
          <p:cNvSpPr txBox="1"/>
          <p:nvPr/>
        </p:nvSpPr>
        <p:spPr>
          <a:xfrm>
            <a:off x="6309360" y="3017520"/>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45" name="Text 43"/>
          <p:cNvSpPr txBox="1"/>
          <p:nvPr/>
        </p:nvSpPr>
        <p:spPr>
          <a:xfrm>
            <a:off x="6638544" y="2889504"/>
            <a:ext cx="4901184" cy="493776"/>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Example SQL parameters with real defaults and descriptions.</a:t>
            </a:r>
            <a:endParaRPr lang="en-US" sz="950" dirty="0"/>
          </a:p>
        </p:txBody>
      </p:sp>
      <p:sp>
        <p:nvSpPr>
          <p:cNvPr id="46" name="Shape 44"/>
          <p:cNvSpPr/>
          <p:nvPr/>
        </p:nvSpPr>
        <p:spPr>
          <a:xfrm>
            <a:off x="6181344" y="3456432"/>
            <a:ext cx="5504688" cy="1097280"/>
          </a:xfrm>
          <a:prstGeom prst="roundRect">
            <a:avLst>
              <a:gd name="adj" fmla="val 5000"/>
            </a:avLst>
          </a:prstGeom>
          <a:solidFill>
            <a:srgbClr val="F2F5F9"/>
          </a:solidFill>
          <a:ln w="9525">
            <a:solidFill>
              <a:srgbClr val="D2DDE9"/>
            </a:solidFill>
            <a:prstDash val="solid"/>
          </a:ln>
        </p:spPr>
      </p:sp>
      <p:sp>
        <p:nvSpPr>
          <p:cNvPr id="47" name="Shape 45"/>
          <p:cNvSpPr/>
          <p:nvPr/>
        </p:nvSpPr>
        <p:spPr>
          <a:xfrm>
            <a:off x="6309360" y="3886200"/>
            <a:ext cx="237744" cy="237744"/>
          </a:xfrm>
          <a:prstGeom prst="roundRect">
            <a:avLst>
              <a:gd name="adj" fmla="val 15385"/>
            </a:avLst>
          </a:prstGeom>
          <a:solidFill>
            <a:srgbClr val="FFFFFF"/>
          </a:solidFill>
          <a:ln w="12700">
            <a:solidFill>
              <a:srgbClr val="13456E"/>
            </a:solidFill>
            <a:prstDash val="solid"/>
          </a:ln>
        </p:spPr>
      </p:sp>
      <p:sp>
        <p:nvSpPr>
          <p:cNvPr id="48" name="Text 46"/>
          <p:cNvSpPr txBox="1"/>
          <p:nvPr/>
        </p:nvSpPr>
        <p:spPr>
          <a:xfrm>
            <a:off x="6309360" y="3886200"/>
            <a:ext cx="237744" cy="237744"/>
          </a:xfrm>
          <a:prstGeom prst="rect">
            <a:avLst/>
          </a:prstGeom>
          <a:noFill/>
          <a:ln/>
        </p:spPr>
        <p:txBody>
          <a:bodyPr wrap="square" lIns="0" tIns="0" rIns="0" bIns="0" rtlCol="0" anchor="ctr"/>
          <a:lstStyle/>
          <a:p>
            <a:pPr algn="ctr" indent="0" marL="0">
              <a:buNone/>
            </a:pPr>
            <a:r>
              <a:rPr lang="en-US" sz="1000" b="1" dirty="0">
                <a:solidFill>
                  <a:srgbClr val="13456E"/>
                </a:solidFill>
                <a:latin typeface="Calibri" pitchFamily="34" charset="0"/>
                <a:ea typeface="Calibri" pitchFamily="34" charset="-122"/>
                <a:cs typeface="Calibri" pitchFamily="34" charset="-120"/>
              </a:rPr>
              <a:t>✓</a:t>
            </a:r>
            <a:endParaRPr lang="en-US" sz="1000" dirty="0"/>
          </a:p>
        </p:txBody>
      </p:sp>
      <p:sp>
        <p:nvSpPr>
          <p:cNvPr id="49" name="Text 47"/>
          <p:cNvSpPr txBox="1"/>
          <p:nvPr/>
        </p:nvSpPr>
        <p:spPr>
          <a:xfrm>
            <a:off x="6638544" y="3456432"/>
            <a:ext cx="4901184" cy="1097280"/>
          </a:xfrm>
          <a:prstGeom prst="rect">
            <a:avLst/>
          </a:prstGeom>
          <a:noFill/>
          <a:ln/>
        </p:spPr>
        <p:txBody>
          <a:bodyPr wrap="square" lIns="0" tIns="0" rIns="0" bIns="0" rtlCol="0" anchor="ctr"/>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Benchmarks with ground truth matched to the intended execution mode: checked SQL for deterministic Chat-style questions, evaluation notes for Agent-style multi-step analysis, both when a deterministic question also needs full-response judging.</a:t>
            </a:r>
            <a:endParaRPr lang="en-US" sz="950" dirty="0"/>
          </a:p>
        </p:txBody>
      </p:sp>
      <p:sp>
        <p:nvSpPr>
          <p:cNvPr id="50" name="Text 48"/>
          <p:cNvSpPr txBox="1"/>
          <p:nvPr/>
        </p:nvSpPr>
        <p:spPr>
          <a:xfrm>
            <a:off x="502920" y="468172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OFFICIAL READINESS MARKERS  [OFF-6]</a:t>
            </a:r>
            <a:endParaRPr lang="en-US" sz="850" dirty="0"/>
          </a:p>
        </p:txBody>
      </p:sp>
      <p:sp>
        <p:nvSpPr>
          <p:cNvPr id="51" name="Shape 49"/>
          <p:cNvSpPr/>
          <p:nvPr/>
        </p:nvSpPr>
        <p:spPr>
          <a:xfrm>
            <a:off x="502920" y="4919472"/>
            <a:ext cx="2658618" cy="1371600"/>
          </a:xfrm>
          <a:prstGeom prst="roundRect">
            <a:avLst>
              <a:gd name="adj" fmla="val 4000"/>
            </a:avLst>
          </a:prstGeom>
          <a:solidFill>
            <a:srgbClr val="E4ECF4"/>
          </a:solidFill>
          <a:ln w="9525">
            <a:solidFill>
              <a:srgbClr val="D2DDE9"/>
            </a:solidFill>
            <a:prstDash val="solid"/>
          </a:ln>
        </p:spPr>
      </p:sp>
      <p:sp>
        <p:nvSpPr>
          <p:cNvPr id="52" name="Text 50"/>
          <p:cNvSpPr txBox="1"/>
          <p:nvPr/>
        </p:nvSpPr>
        <p:spPr>
          <a:xfrm>
            <a:off x="649224" y="5038344"/>
            <a:ext cx="2366010"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Well-annotated data</a:t>
            </a:r>
            <a:endParaRPr lang="en-US" sz="1150" dirty="0"/>
          </a:p>
        </p:txBody>
      </p:sp>
      <p:sp>
        <p:nvSpPr>
          <p:cNvPr id="53" name="Text 51"/>
          <p:cNvSpPr txBox="1"/>
          <p:nvPr/>
        </p:nvSpPr>
        <p:spPr>
          <a:xfrm>
            <a:off x="649224" y="5376672"/>
            <a:ext cx="2366010" cy="79552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Unity Catalog data with clear descriptive comments on every attached table and column.</a:t>
            </a:r>
            <a:endParaRPr lang="en-US" sz="1000" dirty="0"/>
          </a:p>
        </p:txBody>
      </p:sp>
      <p:sp>
        <p:nvSpPr>
          <p:cNvPr id="54" name="Shape 52"/>
          <p:cNvSpPr/>
          <p:nvPr/>
        </p:nvSpPr>
        <p:spPr>
          <a:xfrm>
            <a:off x="3344418" y="4919472"/>
            <a:ext cx="2658618" cy="1371600"/>
          </a:xfrm>
          <a:prstGeom prst="roundRect">
            <a:avLst>
              <a:gd name="adj" fmla="val 4000"/>
            </a:avLst>
          </a:prstGeom>
          <a:solidFill>
            <a:srgbClr val="E4ECF4"/>
          </a:solidFill>
          <a:ln w="9525">
            <a:solidFill>
              <a:srgbClr val="D2DDE9"/>
            </a:solidFill>
            <a:prstDash val="solid"/>
          </a:ln>
        </p:spPr>
      </p:sp>
      <p:sp>
        <p:nvSpPr>
          <p:cNvPr id="55" name="Text 53"/>
          <p:cNvSpPr txBox="1"/>
          <p:nvPr/>
        </p:nvSpPr>
        <p:spPr>
          <a:xfrm>
            <a:off x="3490722" y="5038344"/>
            <a:ext cx="2366010"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User-tested</a:t>
            </a:r>
            <a:endParaRPr lang="en-US" sz="1150" dirty="0"/>
          </a:p>
        </p:txBody>
      </p:sp>
      <p:sp>
        <p:nvSpPr>
          <p:cNvPr id="56" name="Text 54"/>
          <p:cNvSpPr txBox="1"/>
          <p:nvPr/>
        </p:nvSpPr>
        <p:spPr>
          <a:xfrm>
            <a:off x="3490722" y="5376672"/>
            <a:ext cx="2366010" cy="79552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Tested with the questions you actually expect from end users, not the ones easiest to answer.</a:t>
            </a:r>
            <a:endParaRPr lang="en-US" sz="1000" dirty="0"/>
          </a:p>
        </p:txBody>
      </p:sp>
      <p:sp>
        <p:nvSpPr>
          <p:cNvPr id="57" name="Shape 55"/>
          <p:cNvSpPr/>
          <p:nvPr/>
        </p:nvSpPr>
        <p:spPr>
          <a:xfrm>
            <a:off x="6185916" y="4919472"/>
            <a:ext cx="2658618" cy="1371600"/>
          </a:xfrm>
          <a:prstGeom prst="roundRect">
            <a:avLst>
              <a:gd name="adj" fmla="val 4000"/>
            </a:avLst>
          </a:prstGeom>
          <a:solidFill>
            <a:srgbClr val="E4ECF4"/>
          </a:solidFill>
          <a:ln w="9525">
            <a:solidFill>
              <a:srgbClr val="D2DDE9"/>
            </a:solidFill>
            <a:prstDash val="solid"/>
          </a:ln>
        </p:spPr>
      </p:sp>
      <p:sp>
        <p:nvSpPr>
          <p:cNvPr id="58" name="Text 56"/>
          <p:cNvSpPr txBox="1"/>
          <p:nvPr/>
        </p:nvSpPr>
        <p:spPr>
          <a:xfrm>
            <a:off x="6332220" y="5038344"/>
            <a:ext cx="2366010"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Company context added</a:t>
            </a:r>
            <a:endParaRPr lang="en-US" sz="1150" dirty="0"/>
          </a:p>
        </p:txBody>
      </p:sp>
      <p:sp>
        <p:nvSpPr>
          <p:cNvPr id="59" name="Text 57"/>
          <p:cNvSpPr txBox="1"/>
          <p:nvPr/>
        </p:nvSpPr>
        <p:spPr>
          <a:xfrm>
            <a:off x="6332220" y="5376672"/>
            <a:ext cx="2366010" cy="79552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As instructions, example SQL and functions — with at least five tested example SQL queries.</a:t>
            </a:r>
            <a:endParaRPr lang="en-US" sz="1000" dirty="0"/>
          </a:p>
        </p:txBody>
      </p:sp>
      <p:sp>
        <p:nvSpPr>
          <p:cNvPr id="60" name="Shape 58"/>
          <p:cNvSpPr/>
          <p:nvPr/>
        </p:nvSpPr>
        <p:spPr>
          <a:xfrm>
            <a:off x="9027414" y="4919472"/>
            <a:ext cx="2658618" cy="1371600"/>
          </a:xfrm>
          <a:prstGeom prst="roundRect">
            <a:avLst>
              <a:gd name="adj" fmla="val 4000"/>
            </a:avLst>
          </a:prstGeom>
          <a:solidFill>
            <a:srgbClr val="E4ECF4"/>
          </a:solidFill>
          <a:ln w="9525">
            <a:solidFill>
              <a:srgbClr val="D2DDE9"/>
            </a:solidFill>
            <a:prstDash val="solid"/>
          </a:ln>
        </p:spPr>
      </p:sp>
      <p:sp>
        <p:nvSpPr>
          <p:cNvPr id="61" name="Text 59"/>
          <p:cNvSpPr txBox="1"/>
          <p:nvPr/>
        </p:nvSpPr>
        <p:spPr>
          <a:xfrm>
            <a:off x="9173718" y="5038344"/>
            <a:ext cx="2366010" cy="292608"/>
          </a:xfrm>
          <a:prstGeom prst="rect">
            <a:avLst/>
          </a:prstGeom>
          <a:noFill/>
          <a:ln/>
        </p:spPr>
        <p:txBody>
          <a:bodyPr wrap="square" lIns="0" tIns="0" rIns="0" bIns="0" rtlCol="0" anchor="t"/>
          <a:lstStyle/>
          <a:p>
            <a:pPr indent="0" marL="0">
              <a:buNone/>
            </a:pPr>
            <a:r>
              <a:rPr lang="en-US" sz="1150" b="1" dirty="0">
                <a:solidFill>
                  <a:srgbClr val="0E1B2A"/>
                </a:solidFill>
                <a:latin typeface="Calibri" pitchFamily="34" charset="0"/>
                <a:ea typeface="Calibri" pitchFamily="34" charset="-122"/>
                <a:cs typeface="Calibri" pitchFamily="34" charset="-120"/>
              </a:rPr>
              <a:t>Benchmarked</a:t>
            </a:r>
            <a:endParaRPr lang="en-US" sz="1150" dirty="0"/>
          </a:p>
        </p:txBody>
      </p:sp>
      <p:sp>
        <p:nvSpPr>
          <p:cNvPr id="62" name="Text 60"/>
          <p:cNvSpPr txBox="1"/>
          <p:nvPr/>
        </p:nvSpPr>
        <p:spPr>
          <a:xfrm>
            <a:off x="9173718" y="5376672"/>
            <a:ext cx="2366010" cy="795528"/>
          </a:xfrm>
          <a:prstGeom prst="rect">
            <a:avLst/>
          </a:prstGeom>
          <a:noFill/>
          <a:ln/>
        </p:spPr>
        <p:txBody>
          <a:bodyPr wrap="square" lIns="0" tIns="0" rIns="0" bIns="0" rtlCol="0" anchor="t"/>
          <a:lstStyle/>
          <a:p>
            <a:pPr indent="0" marL="0">
              <a:lnSpc>
                <a:spcPts val="1300"/>
              </a:lnSpc>
              <a:buNone/>
            </a:pPr>
            <a:r>
              <a:rPr lang="en-US" sz="1000" dirty="0">
                <a:solidFill>
                  <a:srgbClr val="2B3A4C"/>
                </a:solidFill>
                <a:latin typeface="Calibri" pitchFamily="34" charset="0"/>
                <a:ea typeface="Calibri" pitchFamily="34" charset="-122"/>
                <a:cs typeface="Calibri" pitchFamily="34" charset="-120"/>
              </a:rPr>
              <a:t>At least five benchmark questions based on anticipated user questions, with ground truth attached.</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0058400" cy="182880"/>
          </a:xfrm>
          <a:prstGeom prst="rect">
            <a:avLst/>
          </a:prstGeom>
          <a:noFill/>
          <a:ln/>
        </p:spPr>
        <p:txBody>
          <a:bodyPr wrap="square" lIns="0" tIns="0" rIns="0" bIns="0" rtlCol="0" anchor="t"/>
          <a:lstStyle/>
          <a:p>
            <a:pPr indent="0" marL="0">
              <a:buNone/>
            </a:pPr>
            <a:r>
              <a:rPr lang="en-US" sz="950" b="1" spc="220" kern="0" dirty="0">
                <a:solidFill>
                  <a:srgbClr val="E8552D"/>
                </a:solidFill>
                <a:latin typeface="Calibri" pitchFamily="34" charset="0"/>
                <a:ea typeface="Calibri" pitchFamily="34" charset="-122"/>
                <a:cs typeface="Calibri" pitchFamily="34" charset="-120"/>
              </a:rPr>
              <a:t>13.2 THE PROPOSAL</a:t>
            </a:r>
            <a:endParaRPr lang="en-US" sz="950" dirty="0"/>
          </a:p>
        </p:txBody>
      </p:sp>
      <p:sp>
        <p:nvSpPr>
          <p:cNvPr id="3" name="Text 1"/>
          <p:cNvSpPr txBox="1"/>
          <p:nvPr/>
        </p:nvSpPr>
        <p:spPr>
          <a:xfrm>
            <a:off x="502920" y="502920"/>
            <a:ext cx="11183112" cy="502920"/>
          </a:xfrm>
          <a:prstGeom prst="rect">
            <a:avLst/>
          </a:prstGeom>
          <a:noFill/>
          <a:ln/>
        </p:spPr>
        <p:txBody>
          <a:bodyPr wrap="square" lIns="0" tIns="0" rIns="0" bIns="0" rtlCol="0" anchor="t"/>
          <a:lstStyle/>
          <a:p>
            <a:pPr indent="0" marL="0">
              <a:buNone/>
            </a:pPr>
            <a:r>
              <a:rPr lang="en-US" sz="2700" b="1" dirty="0">
                <a:solidFill>
                  <a:srgbClr val="0E1B2A"/>
                </a:solidFill>
                <a:latin typeface="Cambria" pitchFamily="34" charset="0"/>
                <a:ea typeface="Cambria" pitchFamily="34" charset="-122"/>
                <a:cs typeface="Cambria" pitchFamily="34" charset="-120"/>
              </a:rPr>
              <a:t>Required output when proposing an Agent [GH-1]</a:t>
            </a:r>
            <a:endParaRPr lang="en-US" sz="2700" dirty="0"/>
          </a:p>
        </p:txBody>
      </p:sp>
      <p:sp>
        <p:nvSpPr>
          <p:cNvPr id="4" name="Text 2"/>
          <p:cNvSpPr txBox="1"/>
          <p:nvPr/>
        </p:nvSpPr>
        <p:spPr>
          <a:xfrm>
            <a:off x="502920" y="6437376"/>
            <a:ext cx="8229600" cy="201168"/>
          </a:xfrm>
          <a:prstGeom prst="rect">
            <a:avLst/>
          </a:prstGeom>
          <a:noFill/>
          <a:ln/>
        </p:spPr>
        <p:txBody>
          <a:bodyPr wrap="square" lIns="0" tIns="0" rIns="0" bIns="0" rtlCol="0" anchor="t"/>
          <a:lstStyle/>
          <a:p>
            <a:pPr indent="0" marL="0">
              <a:buNone/>
            </a:pPr>
            <a:r>
              <a:rPr lang="en-US" sz="800" dirty="0">
                <a:solidFill>
                  <a:srgbClr val="93A3B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5" name="Text 3"/>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93A3B5"/>
                </a:solidFill>
                <a:latin typeface="Calibri" pitchFamily="34" charset="0"/>
                <a:ea typeface="Calibri" pitchFamily="34" charset="-122"/>
                <a:cs typeface="Calibri" pitchFamily="34" charset="-120"/>
              </a:rPr>
              <a:t>47</a:t>
            </a:r>
            <a:endParaRPr lang="en-US" sz="800" dirty="0"/>
          </a:p>
        </p:txBody>
      </p:sp>
      <p:sp>
        <p:nvSpPr>
          <p:cNvPr id="6" name="Shape 4"/>
          <p:cNvSpPr/>
          <p:nvPr/>
        </p:nvSpPr>
        <p:spPr>
          <a:xfrm>
            <a:off x="502920" y="1207008"/>
            <a:ext cx="2672334" cy="1152144"/>
          </a:xfrm>
          <a:prstGeom prst="roundRect">
            <a:avLst>
              <a:gd name="adj" fmla="val 4762"/>
            </a:avLst>
          </a:prstGeom>
          <a:solidFill>
            <a:srgbClr val="F2F5F9"/>
          </a:solidFill>
          <a:ln w="9525">
            <a:solidFill>
              <a:srgbClr val="D2DDE9"/>
            </a:solidFill>
            <a:prstDash val="solid"/>
          </a:ln>
        </p:spPr>
      </p:sp>
      <p:sp>
        <p:nvSpPr>
          <p:cNvPr id="7" name="Shape 5"/>
          <p:cNvSpPr/>
          <p:nvPr/>
        </p:nvSpPr>
        <p:spPr>
          <a:xfrm>
            <a:off x="649224" y="1344168"/>
            <a:ext cx="256032" cy="256032"/>
          </a:xfrm>
          <a:prstGeom prst="roundRect">
            <a:avLst>
              <a:gd name="adj" fmla="val 17857"/>
            </a:avLst>
          </a:prstGeom>
          <a:solidFill>
            <a:srgbClr val="13456E"/>
          </a:solidFill>
          <a:ln/>
        </p:spPr>
      </p:sp>
      <p:sp>
        <p:nvSpPr>
          <p:cNvPr id="8" name="Text 6"/>
          <p:cNvSpPr txBox="1"/>
          <p:nvPr/>
        </p:nvSpPr>
        <p:spPr>
          <a:xfrm>
            <a:off x="649224"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996696" y="1335024"/>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Title or draft title</a:t>
            </a:r>
            <a:endParaRPr lang="en-US" sz="1100" dirty="0"/>
          </a:p>
        </p:txBody>
      </p:sp>
      <p:sp>
        <p:nvSpPr>
          <p:cNvPr id="10" name="Text 8"/>
          <p:cNvSpPr txBox="1"/>
          <p:nvPr/>
        </p:nvSpPr>
        <p:spPr>
          <a:xfrm>
            <a:off x="649224" y="1773936"/>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The name the agent will carry in the workspace browser.</a:t>
            </a:r>
            <a:endParaRPr lang="en-US" sz="950" dirty="0"/>
          </a:p>
        </p:txBody>
      </p:sp>
      <p:sp>
        <p:nvSpPr>
          <p:cNvPr id="11" name="Shape 9"/>
          <p:cNvSpPr/>
          <p:nvPr/>
        </p:nvSpPr>
        <p:spPr>
          <a:xfrm>
            <a:off x="3339846" y="1207008"/>
            <a:ext cx="2672334" cy="1152144"/>
          </a:xfrm>
          <a:prstGeom prst="roundRect">
            <a:avLst>
              <a:gd name="adj" fmla="val 4762"/>
            </a:avLst>
          </a:prstGeom>
          <a:solidFill>
            <a:srgbClr val="F2F5F9"/>
          </a:solidFill>
          <a:ln w="9525">
            <a:solidFill>
              <a:srgbClr val="D2DDE9"/>
            </a:solidFill>
            <a:prstDash val="solid"/>
          </a:ln>
        </p:spPr>
      </p:sp>
      <p:sp>
        <p:nvSpPr>
          <p:cNvPr id="12" name="Shape 10"/>
          <p:cNvSpPr/>
          <p:nvPr/>
        </p:nvSpPr>
        <p:spPr>
          <a:xfrm>
            <a:off x="3486150" y="1344168"/>
            <a:ext cx="256032" cy="256032"/>
          </a:xfrm>
          <a:prstGeom prst="roundRect">
            <a:avLst>
              <a:gd name="adj" fmla="val 17857"/>
            </a:avLst>
          </a:prstGeom>
          <a:solidFill>
            <a:srgbClr val="13456E"/>
          </a:solidFill>
          <a:ln/>
        </p:spPr>
      </p:sp>
      <p:sp>
        <p:nvSpPr>
          <p:cNvPr id="13" name="Text 11"/>
          <p:cNvSpPr txBox="1"/>
          <p:nvPr/>
        </p:nvSpPr>
        <p:spPr>
          <a:xfrm>
            <a:off x="3486150"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3833622" y="1335024"/>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Data sources and rationale</a:t>
            </a:r>
            <a:endParaRPr lang="en-US" sz="1100" dirty="0"/>
          </a:p>
        </p:txBody>
      </p:sp>
      <p:sp>
        <p:nvSpPr>
          <p:cNvPr id="15" name="Text 13"/>
          <p:cNvSpPr txBox="1"/>
          <p:nvPr/>
        </p:nvSpPr>
        <p:spPr>
          <a:xfrm>
            <a:off x="3486150" y="1773936"/>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Which sources are included, and why each one belongs given the business questions.</a:t>
            </a:r>
            <a:endParaRPr lang="en-US" sz="950" dirty="0"/>
          </a:p>
        </p:txBody>
      </p:sp>
      <p:sp>
        <p:nvSpPr>
          <p:cNvPr id="16" name="Shape 14"/>
          <p:cNvSpPr/>
          <p:nvPr/>
        </p:nvSpPr>
        <p:spPr>
          <a:xfrm>
            <a:off x="6176772" y="1207008"/>
            <a:ext cx="2672334" cy="1152144"/>
          </a:xfrm>
          <a:prstGeom prst="roundRect">
            <a:avLst>
              <a:gd name="adj" fmla="val 4762"/>
            </a:avLst>
          </a:prstGeom>
          <a:solidFill>
            <a:srgbClr val="F2F5F9"/>
          </a:solidFill>
          <a:ln w="9525">
            <a:solidFill>
              <a:srgbClr val="D2DDE9"/>
            </a:solidFill>
            <a:prstDash val="solid"/>
          </a:ln>
        </p:spPr>
      </p:sp>
      <p:sp>
        <p:nvSpPr>
          <p:cNvPr id="17" name="Shape 15"/>
          <p:cNvSpPr/>
          <p:nvPr/>
        </p:nvSpPr>
        <p:spPr>
          <a:xfrm>
            <a:off x="6323076" y="1344168"/>
            <a:ext cx="256032" cy="256032"/>
          </a:xfrm>
          <a:prstGeom prst="roundRect">
            <a:avLst>
              <a:gd name="adj" fmla="val 17857"/>
            </a:avLst>
          </a:prstGeom>
          <a:solidFill>
            <a:srgbClr val="13456E"/>
          </a:solidFill>
          <a:ln/>
        </p:spPr>
      </p:sp>
      <p:sp>
        <p:nvSpPr>
          <p:cNvPr id="18" name="Text 16"/>
          <p:cNvSpPr txBox="1"/>
          <p:nvPr/>
        </p:nvSpPr>
        <p:spPr>
          <a:xfrm>
            <a:off x="6323076"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6670548" y="1335024"/>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Per-question readiness</a:t>
            </a:r>
            <a:endParaRPr lang="en-US" sz="1100" dirty="0"/>
          </a:p>
        </p:txBody>
      </p:sp>
      <p:sp>
        <p:nvSpPr>
          <p:cNvPr id="20" name="Text 18"/>
          <p:cNvSpPr txBox="1"/>
          <p:nvPr/>
        </p:nvSpPr>
        <p:spPr>
          <a:xfrm>
            <a:off x="6323076" y="1773936"/>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Confidence level for each business question, and the data gaps behind anything below High.</a:t>
            </a:r>
            <a:endParaRPr lang="en-US" sz="950" dirty="0"/>
          </a:p>
        </p:txBody>
      </p:sp>
      <p:sp>
        <p:nvSpPr>
          <p:cNvPr id="21" name="Shape 19"/>
          <p:cNvSpPr/>
          <p:nvPr/>
        </p:nvSpPr>
        <p:spPr>
          <a:xfrm>
            <a:off x="9013698" y="1207008"/>
            <a:ext cx="2672334" cy="1152144"/>
          </a:xfrm>
          <a:prstGeom prst="roundRect">
            <a:avLst>
              <a:gd name="adj" fmla="val 4762"/>
            </a:avLst>
          </a:prstGeom>
          <a:solidFill>
            <a:srgbClr val="F2F5F9"/>
          </a:solidFill>
          <a:ln w="9525">
            <a:solidFill>
              <a:srgbClr val="D2DDE9"/>
            </a:solidFill>
            <a:prstDash val="solid"/>
          </a:ln>
        </p:spPr>
      </p:sp>
      <p:sp>
        <p:nvSpPr>
          <p:cNvPr id="22" name="Shape 20"/>
          <p:cNvSpPr/>
          <p:nvPr/>
        </p:nvSpPr>
        <p:spPr>
          <a:xfrm>
            <a:off x="9160002" y="1344168"/>
            <a:ext cx="256032" cy="256032"/>
          </a:xfrm>
          <a:prstGeom prst="roundRect">
            <a:avLst>
              <a:gd name="adj" fmla="val 17857"/>
            </a:avLst>
          </a:prstGeom>
          <a:solidFill>
            <a:srgbClr val="13456E"/>
          </a:solidFill>
          <a:ln/>
        </p:spPr>
      </p:sp>
      <p:sp>
        <p:nvSpPr>
          <p:cNvPr id="23" name="Text 21"/>
          <p:cNvSpPr txBox="1"/>
          <p:nvPr/>
        </p:nvSpPr>
        <p:spPr>
          <a:xfrm>
            <a:off x="9160002" y="1344168"/>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9507474" y="1335024"/>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Configuration decisions</a:t>
            </a:r>
            <a:endParaRPr lang="en-US" sz="1100" dirty="0"/>
          </a:p>
        </p:txBody>
      </p:sp>
      <p:sp>
        <p:nvSpPr>
          <p:cNvPr id="25" name="Text 23"/>
          <p:cNvSpPr txBox="1"/>
          <p:nvPr/>
        </p:nvSpPr>
        <p:spPr>
          <a:xfrm>
            <a:off x="9160002" y="1773936"/>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Important metadata, prompt matching, join, snippet, example, sample question and benchmark choices.</a:t>
            </a:r>
            <a:endParaRPr lang="en-US" sz="950" dirty="0"/>
          </a:p>
        </p:txBody>
      </p:sp>
      <p:sp>
        <p:nvSpPr>
          <p:cNvPr id="26" name="Shape 24"/>
          <p:cNvSpPr/>
          <p:nvPr/>
        </p:nvSpPr>
        <p:spPr>
          <a:xfrm>
            <a:off x="502920" y="2523744"/>
            <a:ext cx="2672334" cy="1152144"/>
          </a:xfrm>
          <a:prstGeom prst="roundRect">
            <a:avLst>
              <a:gd name="adj" fmla="val 4762"/>
            </a:avLst>
          </a:prstGeom>
          <a:solidFill>
            <a:srgbClr val="F2F5F9"/>
          </a:solidFill>
          <a:ln w="9525">
            <a:solidFill>
              <a:srgbClr val="D2DDE9"/>
            </a:solidFill>
            <a:prstDash val="solid"/>
          </a:ln>
        </p:spPr>
      </p:sp>
      <p:sp>
        <p:nvSpPr>
          <p:cNvPr id="27" name="Shape 25"/>
          <p:cNvSpPr/>
          <p:nvPr/>
        </p:nvSpPr>
        <p:spPr>
          <a:xfrm>
            <a:off x="649224" y="2660904"/>
            <a:ext cx="256032" cy="256032"/>
          </a:xfrm>
          <a:prstGeom prst="roundRect">
            <a:avLst>
              <a:gd name="adj" fmla="val 17857"/>
            </a:avLst>
          </a:prstGeom>
          <a:solidFill>
            <a:srgbClr val="13456E"/>
          </a:solidFill>
          <a:ln/>
        </p:spPr>
      </p:sp>
      <p:sp>
        <p:nvSpPr>
          <p:cNvPr id="28" name="Text 26"/>
          <p:cNvSpPr txBox="1"/>
          <p:nvPr/>
        </p:nvSpPr>
        <p:spPr>
          <a:xfrm>
            <a:off x="649224" y="266090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996696" y="2651760"/>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Benchmark strategy</a:t>
            </a:r>
            <a:endParaRPr lang="en-US" sz="1100" dirty="0"/>
          </a:p>
        </p:txBody>
      </p:sp>
      <p:sp>
        <p:nvSpPr>
          <p:cNvPr id="30" name="Text 28"/>
          <p:cNvSpPr txBox="1"/>
          <p:nvPr/>
        </p:nvSpPr>
        <p:spPr>
          <a:xfrm>
            <a:off x="649224" y="3090672"/>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The execution target — Chat or Agent mode — and the field strategy for ground truth.</a:t>
            </a:r>
            <a:endParaRPr lang="en-US" sz="950" dirty="0"/>
          </a:p>
        </p:txBody>
      </p:sp>
      <p:sp>
        <p:nvSpPr>
          <p:cNvPr id="31" name="Shape 29"/>
          <p:cNvSpPr/>
          <p:nvPr/>
        </p:nvSpPr>
        <p:spPr>
          <a:xfrm>
            <a:off x="3339846" y="2523744"/>
            <a:ext cx="2672334" cy="1152144"/>
          </a:xfrm>
          <a:prstGeom prst="roundRect">
            <a:avLst>
              <a:gd name="adj" fmla="val 4762"/>
            </a:avLst>
          </a:prstGeom>
          <a:solidFill>
            <a:srgbClr val="F2F5F9"/>
          </a:solidFill>
          <a:ln w="9525">
            <a:solidFill>
              <a:srgbClr val="D2DDE9"/>
            </a:solidFill>
            <a:prstDash val="solid"/>
          </a:ln>
        </p:spPr>
      </p:sp>
      <p:sp>
        <p:nvSpPr>
          <p:cNvPr id="32" name="Shape 30"/>
          <p:cNvSpPr/>
          <p:nvPr/>
        </p:nvSpPr>
        <p:spPr>
          <a:xfrm>
            <a:off x="3486150" y="2660904"/>
            <a:ext cx="256032" cy="256032"/>
          </a:xfrm>
          <a:prstGeom prst="roundRect">
            <a:avLst>
              <a:gd name="adj" fmla="val 17857"/>
            </a:avLst>
          </a:prstGeom>
          <a:solidFill>
            <a:srgbClr val="13456E"/>
          </a:solidFill>
          <a:ln/>
        </p:spPr>
      </p:sp>
      <p:sp>
        <p:nvSpPr>
          <p:cNvPr id="33" name="Text 31"/>
          <p:cNvSpPr txBox="1"/>
          <p:nvPr/>
        </p:nvSpPr>
        <p:spPr>
          <a:xfrm>
            <a:off x="3486150" y="266090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4" name="Text 32"/>
          <p:cNvSpPr txBox="1"/>
          <p:nvPr/>
        </p:nvSpPr>
        <p:spPr>
          <a:xfrm>
            <a:off x="3833622" y="2651760"/>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Assumptions to confirm</a:t>
            </a:r>
            <a:endParaRPr lang="en-US" sz="1100" dirty="0"/>
          </a:p>
        </p:txBody>
      </p:sp>
      <p:sp>
        <p:nvSpPr>
          <p:cNvPr id="35" name="Text 33"/>
          <p:cNvSpPr txBox="1"/>
          <p:nvPr/>
        </p:nvSpPr>
        <p:spPr>
          <a:xfrm>
            <a:off x="3486150" y="3090672"/>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Anything requiring user confirmation before live creation, stated explicitly rather than implied.</a:t>
            </a:r>
            <a:endParaRPr lang="en-US" sz="950" dirty="0"/>
          </a:p>
        </p:txBody>
      </p:sp>
      <p:sp>
        <p:nvSpPr>
          <p:cNvPr id="36" name="Shape 34"/>
          <p:cNvSpPr/>
          <p:nvPr/>
        </p:nvSpPr>
        <p:spPr>
          <a:xfrm>
            <a:off x="6176772" y="2523744"/>
            <a:ext cx="2672334" cy="1152144"/>
          </a:xfrm>
          <a:prstGeom prst="roundRect">
            <a:avLst>
              <a:gd name="adj" fmla="val 4762"/>
            </a:avLst>
          </a:prstGeom>
          <a:solidFill>
            <a:srgbClr val="F2F5F9"/>
          </a:solidFill>
          <a:ln w="9525">
            <a:solidFill>
              <a:srgbClr val="D2DDE9"/>
            </a:solidFill>
            <a:prstDash val="solid"/>
          </a:ln>
        </p:spPr>
      </p:sp>
      <p:sp>
        <p:nvSpPr>
          <p:cNvPr id="37" name="Shape 35"/>
          <p:cNvSpPr/>
          <p:nvPr/>
        </p:nvSpPr>
        <p:spPr>
          <a:xfrm>
            <a:off x="6323076" y="2660904"/>
            <a:ext cx="256032" cy="256032"/>
          </a:xfrm>
          <a:prstGeom prst="roundRect">
            <a:avLst>
              <a:gd name="adj" fmla="val 17857"/>
            </a:avLst>
          </a:prstGeom>
          <a:solidFill>
            <a:srgbClr val="13456E"/>
          </a:solidFill>
          <a:ln/>
        </p:spPr>
      </p:sp>
      <p:sp>
        <p:nvSpPr>
          <p:cNvPr id="38" name="Text 36"/>
          <p:cNvSpPr txBox="1"/>
          <p:nvPr/>
        </p:nvSpPr>
        <p:spPr>
          <a:xfrm>
            <a:off x="6323076" y="266090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39" name="Text 37"/>
          <p:cNvSpPr txBox="1"/>
          <p:nvPr/>
        </p:nvSpPr>
        <p:spPr>
          <a:xfrm>
            <a:off x="6670548" y="2651760"/>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Validation performed</a:t>
            </a:r>
            <a:endParaRPr lang="en-US" sz="1100" dirty="0"/>
          </a:p>
        </p:txBody>
      </p:sp>
      <p:sp>
        <p:nvSpPr>
          <p:cNvPr id="40" name="Text 38"/>
          <p:cNvSpPr txBox="1"/>
          <p:nvPr/>
        </p:nvSpPr>
        <p:spPr>
          <a:xfrm>
            <a:off x="6323076" y="3090672"/>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The read-only validation you ran, and any limitations of that validation.</a:t>
            </a:r>
            <a:endParaRPr lang="en-US" sz="950" dirty="0"/>
          </a:p>
        </p:txBody>
      </p:sp>
      <p:sp>
        <p:nvSpPr>
          <p:cNvPr id="41" name="Shape 39"/>
          <p:cNvSpPr/>
          <p:nvPr/>
        </p:nvSpPr>
        <p:spPr>
          <a:xfrm>
            <a:off x="9013698" y="2523744"/>
            <a:ext cx="2672334" cy="1152144"/>
          </a:xfrm>
          <a:prstGeom prst="roundRect">
            <a:avLst>
              <a:gd name="adj" fmla="val 4762"/>
            </a:avLst>
          </a:prstGeom>
          <a:solidFill>
            <a:srgbClr val="F2F5F9"/>
          </a:solidFill>
          <a:ln w="9525">
            <a:solidFill>
              <a:srgbClr val="D2DDE9"/>
            </a:solidFill>
            <a:prstDash val="solid"/>
          </a:ln>
        </p:spPr>
      </p:sp>
      <p:sp>
        <p:nvSpPr>
          <p:cNvPr id="42" name="Shape 40"/>
          <p:cNvSpPr/>
          <p:nvPr/>
        </p:nvSpPr>
        <p:spPr>
          <a:xfrm>
            <a:off x="9160002" y="2660904"/>
            <a:ext cx="256032" cy="256032"/>
          </a:xfrm>
          <a:prstGeom prst="roundRect">
            <a:avLst>
              <a:gd name="adj" fmla="val 17857"/>
            </a:avLst>
          </a:prstGeom>
          <a:solidFill>
            <a:srgbClr val="13456E"/>
          </a:solidFill>
          <a:ln/>
        </p:spPr>
      </p:sp>
      <p:sp>
        <p:nvSpPr>
          <p:cNvPr id="43" name="Text 41"/>
          <p:cNvSpPr txBox="1"/>
          <p:nvPr/>
        </p:nvSpPr>
        <p:spPr>
          <a:xfrm>
            <a:off x="9160002" y="2660904"/>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a:t>
            </a:r>
            <a:endParaRPr lang="en-US" sz="1050" dirty="0"/>
          </a:p>
        </p:txBody>
      </p:sp>
      <p:sp>
        <p:nvSpPr>
          <p:cNvPr id="44" name="Text 42"/>
          <p:cNvSpPr txBox="1"/>
          <p:nvPr/>
        </p:nvSpPr>
        <p:spPr>
          <a:xfrm>
            <a:off x="9507474" y="2651760"/>
            <a:ext cx="2032254" cy="384048"/>
          </a:xfrm>
          <a:prstGeom prst="rect">
            <a:avLst/>
          </a:prstGeom>
          <a:noFill/>
          <a:ln/>
        </p:spPr>
        <p:txBody>
          <a:bodyPr wrap="square" lIns="0" tIns="0" rIns="0" bIns="0" rtlCol="0" anchor="ctr"/>
          <a:lstStyle/>
          <a:p>
            <a:pPr indent="0" marL="0">
              <a:lnSpc>
                <a:spcPts val="1265"/>
              </a:lnSpc>
              <a:buNone/>
            </a:pPr>
            <a:r>
              <a:rPr lang="en-US" sz="1100" b="1" dirty="0">
                <a:solidFill>
                  <a:srgbClr val="0E1B2A"/>
                </a:solidFill>
                <a:latin typeface="Calibri" pitchFamily="34" charset="0"/>
                <a:ea typeface="Calibri" pitchFamily="34" charset="-122"/>
                <a:cs typeface="Calibri" pitchFamily="34" charset="-120"/>
              </a:rPr>
              <a:t>Metric View recommendation</a:t>
            </a:r>
            <a:endParaRPr lang="en-US" sz="1100" dirty="0"/>
          </a:p>
        </p:txBody>
      </p:sp>
      <p:sp>
        <p:nvSpPr>
          <p:cNvPr id="45" name="Text 43"/>
          <p:cNvSpPr txBox="1"/>
          <p:nvPr/>
        </p:nvSpPr>
        <p:spPr>
          <a:xfrm>
            <a:off x="9160002" y="3090672"/>
            <a:ext cx="2379726" cy="466344"/>
          </a:xfrm>
          <a:prstGeom prst="rect">
            <a:avLst/>
          </a:prstGeom>
          <a:noFill/>
          <a:ln/>
        </p:spPr>
        <p:txBody>
          <a:bodyPr wrap="square" lIns="0" tIns="0" rIns="0" bIns="0" rtlCol="0" anchor="t"/>
          <a:lstStyle/>
          <a:p>
            <a:pPr indent="0" marL="0">
              <a:lnSpc>
                <a:spcPts val="1250"/>
              </a:lnSpc>
              <a:buNone/>
            </a:pPr>
            <a:r>
              <a:rPr lang="en-US" sz="950" dirty="0">
                <a:solidFill>
                  <a:srgbClr val="2B3A4C"/>
                </a:solidFill>
                <a:latin typeface="Calibri" pitchFamily="34" charset="0"/>
                <a:ea typeface="Calibri" pitchFamily="34" charset="-122"/>
                <a:cs typeface="Calibri" pitchFamily="34" charset="-120"/>
              </a:rPr>
              <a:t>Any Metric View recommendation made for raw-table sources, plus the user's decision on it.</a:t>
            </a:r>
            <a:endParaRPr lang="en-US" sz="950" dirty="0"/>
          </a:p>
        </p:txBody>
      </p:sp>
      <p:sp>
        <p:nvSpPr>
          <p:cNvPr id="46" name="Text 44"/>
          <p:cNvSpPr txBox="1"/>
          <p:nvPr/>
        </p:nvSpPr>
        <p:spPr>
          <a:xfrm>
            <a:off x="502920" y="3858768"/>
            <a:ext cx="11183112" cy="182880"/>
          </a:xfrm>
          <a:prstGeom prst="rect">
            <a:avLst/>
          </a:prstGeom>
          <a:noFill/>
          <a:ln/>
        </p:spPr>
        <p:txBody>
          <a:bodyPr wrap="square" lIns="0" tIns="0" rIns="0" bIns="0" rtlCol="0" anchor="t"/>
          <a:lstStyle/>
          <a:p>
            <a:pPr indent="0" marL="0">
              <a:buNone/>
            </a:pPr>
            <a:r>
              <a:rPr lang="en-US" sz="850" b="1" spc="140" kern="0" dirty="0">
                <a:solidFill>
                  <a:srgbClr val="56677C"/>
                </a:solidFill>
                <a:latin typeface="Calibri" pitchFamily="34" charset="0"/>
                <a:ea typeface="Calibri" pitchFamily="34" charset="-122"/>
                <a:cs typeface="Calibri" pitchFamily="34" charset="-120"/>
              </a:rPr>
              <a:t>SOURCES NOT YET INCORPORATED — KNOWN GAPS IN THIS DECK</a:t>
            </a:r>
            <a:endParaRPr lang="en-US" sz="850" dirty="0"/>
          </a:p>
        </p:txBody>
      </p:sp>
      <p:sp>
        <p:nvSpPr>
          <p:cNvPr id="47" name="Shape 45"/>
          <p:cNvSpPr/>
          <p:nvPr/>
        </p:nvSpPr>
        <p:spPr>
          <a:xfrm>
            <a:off x="502920" y="4096512"/>
            <a:ext cx="3593592" cy="2194560"/>
          </a:xfrm>
          <a:prstGeom prst="roundRect">
            <a:avLst>
              <a:gd name="adj" fmla="val 2500"/>
            </a:avLst>
          </a:prstGeom>
          <a:solidFill>
            <a:srgbClr val="E4ECF4"/>
          </a:solidFill>
          <a:ln w="9525">
            <a:solidFill>
              <a:srgbClr val="D2DDE9"/>
            </a:solidFill>
            <a:prstDash val="solid"/>
          </a:ln>
        </p:spPr>
      </p:sp>
      <p:sp>
        <p:nvSpPr>
          <p:cNvPr id="48" name="Text 46"/>
          <p:cNvSpPr txBox="1"/>
          <p:nvPr/>
        </p:nvSpPr>
        <p:spPr>
          <a:xfrm>
            <a:off x="649224" y="4215384"/>
            <a:ext cx="3300984"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GH-1 sibling reference files</a:t>
            </a:r>
            <a:endParaRPr lang="en-US" sz="1200" dirty="0"/>
          </a:p>
        </p:txBody>
      </p:sp>
      <p:sp>
        <p:nvSpPr>
          <p:cNvPr id="49" name="Text 47"/>
          <p:cNvSpPr txBox="1"/>
          <p:nvPr/>
        </p:nvSpPr>
        <p:spPr>
          <a:xfrm>
            <a:off x="649224" y="4553712"/>
            <a:ext cx="3300984" cy="161848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serialized-space.md (exact field schemas verified against the Genie API), diagnose-genie-agent.md, optimize-genie-agent.md (the source of the ≥ 30 benchmark-item bar), genie-agent-cicd.md, query-genie-agent.md, and the databricks-metric-views skill. GitHub blocked direct fetches of these paths; they sit in the same references/ folder as create-genie-agent.md.</a:t>
            </a:r>
            <a:endParaRPr lang="en-US" sz="1000" dirty="0"/>
          </a:p>
        </p:txBody>
      </p:sp>
      <p:sp>
        <p:nvSpPr>
          <p:cNvPr id="50" name="Shape 48"/>
          <p:cNvSpPr/>
          <p:nvPr/>
        </p:nvSpPr>
        <p:spPr>
          <a:xfrm>
            <a:off x="4297680" y="4096512"/>
            <a:ext cx="3593592" cy="2194560"/>
          </a:xfrm>
          <a:prstGeom prst="roundRect">
            <a:avLst>
              <a:gd name="adj" fmla="val 2500"/>
            </a:avLst>
          </a:prstGeom>
          <a:solidFill>
            <a:srgbClr val="E4ECF4"/>
          </a:solidFill>
          <a:ln w="9525">
            <a:solidFill>
              <a:srgbClr val="D2DDE9"/>
            </a:solidFill>
            <a:prstDash val="solid"/>
          </a:ln>
        </p:spPr>
      </p:sp>
      <p:sp>
        <p:nvSpPr>
          <p:cNvPr id="51" name="Text 49"/>
          <p:cNvSpPr txBox="1"/>
          <p:nvPr/>
        </p:nvSpPr>
        <p:spPr>
          <a:xfrm>
            <a:off x="4443984" y="4215384"/>
            <a:ext cx="3300984"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Official pages not yet read</a:t>
            </a:r>
            <a:endParaRPr lang="en-US" sz="1200" dirty="0"/>
          </a:p>
        </p:txBody>
      </p:sp>
      <p:sp>
        <p:nvSpPr>
          <p:cNvPr id="52" name="Text 50"/>
          <p:cNvSpPr txBox="1"/>
          <p:nvPr/>
        </p:nvSpPr>
        <p:spPr>
          <a:xfrm>
            <a:off x="4443984" y="4553712"/>
            <a:ext cx="3300984" cy="161848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Genie Agents concepts; Agent mode and the Agent mode APIs; Analyze files in volumes with a Genie Agent; Genie Agents with dashboards; Embed a Genie Agent; Monitor usage with audit logs and alerts; Metric views; and the Declarative Automation Bundles resources reference.</a:t>
            </a:r>
            <a:endParaRPr lang="en-US" sz="1000" dirty="0"/>
          </a:p>
        </p:txBody>
      </p:sp>
      <p:sp>
        <p:nvSpPr>
          <p:cNvPr id="53" name="Shape 51"/>
          <p:cNvSpPr/>
          <p:nvPr/>
        </p:nvSpPr>
        <p:spPr>
          <a:xfrm>
            <a:off x="8092440" y="4096512"/>
            <a:ext cx="3593592" cy="2194560"/>
          </a:xfrm>
          <a:prstGeom prst="roundRect">
            <a:avLst>
              <a:gd name="adj" fmla="val 2500"/>
            </a:avLst>
          </a:prstGeom>
          <a:solidFill>
            <a:srgbClr val="E4ECF4"/>
          </a:solidFill>
          <a:ln w="9525">
            <a:solidFill>
              <a:srgbClr val="D2DDE9"/>
            </a:solidFill>
            <a:prstDash val="solid"/>
          </a:ln>
        </p:spPr>
      </p:sp>
      <p:sp>
        <p:nvSpPr>
          <p:cNvPr id="54" name="Text 52"/>
          <p:cNvSpPr txBox="1"/>
          <p:nvPr/>
        </p:nvSpPr>
        <p:spPr>
          <a:xfrm>
            <a:off x="8238744" y="4215384"/>
            <a:ext cx="3300984" cy="292608"/>
          </a:xfrm>
          <a:prstGeom prst="rect">
            <a:avLst/>
          </a:prstGeom>
          <a:noFill/>
          <a:ln/>
        </p:spPr>
        <p:txBody>
          <a:bodyPr wrap="square" lIns="0" tIns="0" rIns="0" bIns="0" rtlCol="0" anchor="t"/>
          <a:lstStyle/>
          <a:p>
            <a:pPr indent="0" marL="0">
              <a:buNone/>
            </a:pPr>
            <a:r>
              <a:rPr lang="en-US" sz="1200" b="1" dirty="0">
                <a:solidFill>
                  <a:srgbClr val="0E1B2A"/>
                </a:solidFill>
                <a:latin typeface="Calibri" pitchFamily="34" charset="0"/>
                <a:ea typeface="Calibri" pitchFamily="34" charset="-122"/>
                <a:cs typeface="Calibri" pitchFamily="34" charset="-120"/>
              </a:rPr>
              <a:t>How to treat the gaps</a:t>
            </a:r>
            <a:endParaRPr lang="en-US" sz="1200" dirty="0"/>
          </a:p>
        </p:txBody>
      </p:sp>
      <p:sp>
        <p:nvSpPr>
          <p:cNvPr id="55" name="Text 53"/>
          <p:cNvSpPr txBox="1"/>
          <p:nvPr/>
        </p:nvSpPr>
        <p:spPr>
          <a:xfrm>
            <a:off x="8238744" y="4553712"/>
            <a:ext cx="3300984" cy="1618488"/>
          </a:xfrm>
          <a:prstGeom prst="rect">
            <a:avLst/>
          </a:prstGeom>
          <a:noFill/>
          <a:ln/>
        </p:spPr>
        <p:txBody>
          <a:bodyPr wrap="square" lIns="0" tIns="0" rIns="0" bIns="0" rtlCol="0" anchor="t"/>
          <a:lstStyle/>
          <a:p>
            <a:pPr indent="0" marL="0">
              <a:lnSpc>
                <a:spcPts val="1350"/>
              </a:lnSpc>
              <a:buNone/>
            </a:pPr>
            <a:r>
              <a:rPr lang="en-US" sz="1000" dirty="0">
                <a:solidFill>
                  <a:srgbClr val="2B3A4C"/>
                </a:solidFill>
                <a:latin typeface="Calibri" pitchFamily="34" charset="0"/>
                <a:ea typeface="Calibri" pitchFamily="34" charset="-122"/>
                <a:cs typeface="Calibri" pitchFamily="34" charset="-120"/>
              </a:rPr>
              <a:t>Nothing in this deck is drawn from the sources above — they are listed so that a reader can tell the difference between a rule that is absent because it does not exist, and one that is absent because the page was not readable when the underlying document was compiled on 19 September 2026.</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E1B2A"/>
        </a:solidFill>
      </p:bgPr>
    </p:bg>
    <p:spTree>
      <p:nvGrpSpPr>
        <p:cNvPr id="1" name=""/>
        <p:cNvGrpSpPr/>
        <p:nvPr/>
      </p:nvGrpSpPr>
      <p:grpSpPr>
        <a:xfrm>
          <a:off x="0" y="0"/>
          <a:ext cx="0" cy="0"/>
          <a:chOff x="0" y="0"/>
          <a:chExt cx="0" cy="0"/>
        </a:xfrm>
      </p:grpSpPr>
      <p:sp>
        <p:nvSpPr>
          <p:cNvPr id="2" name="Text 0"/>
          <p:cNvSpPr txBox="1"/>
          <p:nvPr/>
        </p:nvSpPr>
        <p:spPr>
          <a:xfrm>
            <a:off x="822960" y="868680"/>
            <a:ext cx="7315200" cy="219456"/>
          </a:xfrm>
          <a:prstGeom prst="rect">
            <a:avLst/>
          </a:prstGeom>
          <a:noFill/>
          <a:ln/>
        </p:spPr>
        <p:txBody>
          <a:bodyPr wrap="square" lIns="0" tIns="0" rIns="0" bIns="0" rtlCol="0" anchor="t"/>
          <a:lstStyle/>
          <a:p>
            <a:pPr indent="0" marL="0">
              <a:buNone/>
            </a:pPr>
            <a:r>
              <a:rPr lang="en-US" sz="1000" b="1" spc="240" kern="0" dirty="0">
                <a:solidFill>
                  <a:srgbClr val="E8552D"/>
                </a:solidFill>
                <a:latin typeface="Calibri" pitchFamily="34" charset="0"/>
                <a:ea typeface="Calibri" pitchFamily="34" charset="-122"/>
                <a:cs typeface="Calibri" pitchFamily="34" charset="-120"/>
              </a:rPr>
              <a:t>THE SHORT VERSION</a:t>
            </a:r>
            <a:endParaRPr lang="en-US" sz="1000" dirty="0"/>
          </a:p>
        </p:txBody>
      </p:sp>
      <p:sp>
        <p:nvSpPr>
          <p:cNvPr id="3" name="Text 1"/>
          <p:cNvSpPr txBox="1"/>
          <p:nvPr/>
        </p:nvSpPr>
        <p:spPr>
          <a:xfrm>
            <a:off x="822960" y="1133856"/>
            <a:ext cx="731520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Five things to take away</a:t>
            </a:r>
            <a:endParaRPr lang="en-US" sz="3200" dirty="0"/>
          </a:p>
        </p:txBody>
      </p:sp>
      <p:sp>
        <p:nvSpPr>
          <p:cNvPr id="4" name="Shape 2"/>
          <p:cNvSpPr/>
          <p:nvPr/>
        </p:nvSpPr>
        <p:spPr>
          <a:xfrm>
            <a:off x="822960" y="2011680"/>
            <a:ext cx="1962302" cy="2286000"/>
          </a:xfrm>
          <a:prstGeom prst="roundRect">
            <a:avLst>
              <a:gd name="adj" fmla="val 2796"/>
            </a:avLst>
          </a:prstGeom>
          <a:solidFill>
            <a:srgbClr val="17293F"/>
          </a:solidFill>
          <a:ln w="9525">
            <a:solidFill>
              <a:srgbClr val="2A3F58"/>
            </a:solidFill>
            <a:prstDash val="solid"/>
          </a:ln>
        </p:spPr>
      </p:sp>
      <p:sp>
        <p:nvSpPr>
          <p:cNvPr id="5" name="Shape 3"/>
          <p:cNvSpPr/>
          <p:nvPr/>
        </p:nvSpPr>
        <p:spPr>
          <a:xfrm>
            <a:off x="987552" y="2194560"/>
            <a:ext cx="292608" cy="292608"/>
          </a:xfrm>
          <a:prstGeom prst="roundRect">
            <a:avLst>
              <a:gd name="adj" fmla="val 15625"/>
            </a:avLst>
          </a:prstGeom>
          <a:solidFill>
            <a:srgbClr val="E8552D"/>
          </a:solidFill>
          <a:ln/>
        </p:spPr>
      </p:sp>
      <p:sp>
        <p:nvSpPr>
          <p:cNvPr id="6" name="Text 4"/>
          <p:cNvSpPr txBox="1"/>
          <p:nvPr/>
        </p:nvSpPr>
        <p:spPr>
          <a:xfrm>
            <a:off x="987552" y="219456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7" name="Text 5"/>
          <p:cNvSpPr txBox="1"/>
          <p:nvPr/>
        </p:nvSpPr>
        <p:spPr>
          <a:xfrm>
            <a:off x="987552" y="2596896"/>
            <a:ext cx="1633118" cy="585216"/>
          </a:xfrm>
          <a:prstGeom prst="rect">
            <a:avLst/>
          </a:prstGeom>
          <a:noFill/>
          <a:ln/>
        </p:spPr>
        <p:txBody>
          <a:bodyPr wrap="square" lIns="0" tIns="0" rIns="0" bIns="0" rtlCol="0" anchor="t"/>
          <a:lstStyle/>
          <a:p>
            <a:pPr indent="0" marL="0">
              <a:lnSpc>
                <a:spcPts val="1700"/>
              </a:lnSpc>
              <a:buNone/>
            </a:pPr>
            <a:r>
              <a:rPr lang="en-US" sz="1300" b="1" dirty="0">
                <a:solidFill>
                  <a:srgbClr val="F0A34A"/>
                </a:solidFill>
                <a:latin typeface="Calibri" pitchFamily="34" charset="0"/>
                <a:ea typeface="Calibri" pitchFamily="34" charset="-122"/>
                <a:cs typeface="Calibri" pitchFamily="34" charset="-120"/>
              </a:rPr>
              <a:t>Narrow beats broad</a:t>
            </a:r>
            <a:endParaRPr lang="en-US" sz="1300" dirty="0"/>
          </a:p>
        </p:txBody>
      </p:sp>
      <p:sp>
        <p:nvSpPr>
          <p:cNvPr id="8" name="Text 6"/>
          <p:cNvSpPr txBox="1"/>
          <p:nvPr/>
        </p:nvSpPr>
        <p:spPr>
          <a:xfrm>
            <a:off x="987552" y="3236976"/>
            <a:ext cx="1633118" cy="914400"/>
          </a:xfrm>
          <a:prstGeom prst="rect">
            <a:avLst/>
          </a:prstGeom>
          <a:noFill/>
          <a:ln/>
        </p:spPr>
        <p:txBody>
          <a:bodyPr wrap="square" lIns="0" tIns="0" rIns="0" bIns="0" rtlCol="0" anchor="t"/>
          <a:lstStyle/>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One topic, one audience, five or fewer sources. Design to 30 objects, not 50.</a:t>
            </a:r>
            <a:endParaRPr lang="en-US" sz="1000" dirty="0"/>
          </a:p>
        </p:txBody>
      </p:sp>
      <p:sp>
        <p:nvSpPr>
          <p:cNvPr id="9" name="Shape 7"/>
          <p:cNvSpPr/>
          <p:nvPr/>
        </p:nvSpPr>
        <p:spPr>
          <a:xfrm>
            <a:off x="2968142" y="2011680"/>
            <a:ext cx="1962302" cy="2286000"/>
          </a:xfrm>
          <a:prstGeom prst="roundRect">
            <a:avLst>
              <a:gd name="adj" fmla="val 2796"/>
            </a:avLst>
          </a:prstGeom>
          <a:solidFill>
            <a:srgbClr val="17293F"/>
          </a:solidFill>
          <a:ln w="9525">
            <a:solidFill>
              <a:srgbClr val="2A3F58"/>
            </a:solidFill>
            <a:prstDash val="solid"/>
          </a:ln>
        </p:spPr>
      </p:sp>
      <p:sp>
        <p:nvSpPr>
          <p:cNvPr id="10" name="Shape 8"/>
          <p:cNvSpPr/>
          <p:nvPr/>
        </p:nvSpPr>
        <p:spPr>
          <a:xfrm>
            <a:off x="3132734" y="2194560"/>
            <a:ext cx="292608" cy="292608"/>
          </a:xfrm>
          <a:prstGeom prst="roundRect">
            <a:avLst>
              <a:gd name="adj" fmla="val 15625"/>
            </a:avLst>
          </a:prstGeom>
          <a:solidFill>
            <a:srgbClr val="E8552D"/>
          </a:solidFill>
          <a:ln/>
        </p:spPr>
      </p:sp>
      <p:sp>
        <p:nvSpPr>
          <p:cNvPr id="11" name="Text 9"/>
          <p:cNvSpPr txBox="1"/>
          <p:nvPr/>
        </p:nvSpPr>
        <p:spPr>
          <a:xfrm>
            <a:off x="3132734" y="219456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2" name="Text 10"/>
          <p:cNvSpPr txBox="1"/>
          <p:nvPr/>
        </p:nvSpPr>
        <p:spPr>
          <a:xfrm>
            <a:off x="3132734" y="2596896"/>
            <a:ext cx="1633118" cy="585216"/>
          </a:xfrm>
          <a:prstGeom prst="rect">
            <a:avLst/>
          </a:prstGeom>
          <a:noFill/>
          <a:ln/>
        </p:spPr>
        <p:txBody>
          <a:bodyPr wrap="square" lIns="0" tIns="0" rIns="0" bIns="0" rtlCol="0" anchor="t"/>
          <a:lstStyle/>
          <a:p>
            <a:pPr indent="0" marL="0">
              <a:lnSpc>
                <a:spcPts val="1700"/>
              </a:lnSpc>
              <a:buNone/>
            </a:pPr>
            <a:r>
              <a:rPr lang="en-US" sz="1300" b="1" dirty="0">
                <a:solidFill>
                  <a:srgbClr val="F0A34A"/>
                </a:solidFill>
                <a:latin typeface="Calibri" pitchFamily="34" charset="0"/>
                <a:ea typeface="Calibri" pitchFamily="34" charset="-122"/>
                <a:cs typeface="Calibri" pitchFamily="34" charset="-120"/>
              </a:rPr>
              <a:t>Structure beats prose</a:t>
            </a:r>
            <a:endParaRPr lang="en-US" sz="1300" dirty="0"/>
          </a:p>
        </p:txBody>
      </p:sp>
      <p:sp>
        <p:nvSpPr>
          <p:cNvPr id="13" name="Text 11"/>
          <p:cNvSpPr txBox="1"/>
          <p:nvPr/>
        </p:nvSpPr>
        <p:spPr>
          <a:xfrm>
            <a:off x="3132734" y="3236976"/>
            <a:ext cx="1633118" cy="914400"/>
          </a:xfrm>
          <a:prstGeom prst="rect">
            <a:avLst/>
          </a:prstGeom>
          <a:noFill/>
          <a:ln/>
        </p:spPr>
        <p:txBody>
          <a:bodyPr wrap="square" lIns="0" tIns="0" rIns="0" bIns="0" rtlCol="0" anchor="t"/>
          <a:lstStyle/>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Descriptions, expressions and example SQL are applied exactly as written. Text instructions are interpreted — and degrade first.</a:t>
            </a:r>
            <a:endParaRPr lang="en-US" sz="1000" dirty="0"/>
          </a:p>
        </p:txBody>
      </p:sp>
      <p:sp>
        <p:nvSpPr>
          <p:cNvPr id="14" name="Shape 12"/>
          <p:cNvSpPr/>
          <p:nvPr/>
        </p:nvSpPr>
        <p:spPr>
          <a:xfrm>
            <a:off x="5113325" y="2011680"/>
            <a:ext cx="1962302" cy="2286000"/>
          </a:xfrm>
          <a:prstGeom prst="roundRect">
            <a:avLst>
              <a:gd name="adj" fmla="val 2796"/>
            </a:avLst>
          </a:prstGeom>
          <a:solidFill>
            <a:srgbClr val="17293F"/>
          </a:solidFill>
          <a:ln w="9525">
            <a:solidFill>
              <a:srgbClr val="2A3F58"/>
            </a:solidFill>
            <a:prstDash val="solid"/>
          </a:ln>
        </p:spPr>
      </p:sp>
      <p:sp>
        <p:nvSpPr>
          <p:cNvPr id="15" name="Shape 13"/>
          <p:cNvSpPr/>
          <p:nvPr/>
        </p:nvSpPr>
        <p:spPr>
          <a:xfrm>
            <a:off x="5277917" y="2194560"/>
            <a:ext cx="292608" cy="292608"/>
          </a:xfrm>
          <a:prstGeom prst="roundRect">
            <a:avLst>
              <a:gd name="adj" fmla="val 15625"/>
            </a:avLst>
          </a:prstGeom>
          <a:solidFill>
            <a:srgbClr val="E8552D"/>
          </a:solidFill>
          <a:ln/>
        </p:spPr>
      </p:sp>
      <p:sp>
        <p:nvSpPr>
          <p:cNvPr id="16" name="Text 14"/>
          <p:cNvSpPr txBox="1"/>
          <p:nvPr/>
        </p:nvSpPr>
        <p:spPr>
          <a:xfrm>
            <a:off x="5277917" y="219456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7" name="Text 15"/>
          <p:cNvSpPr txBox="1"/>
          <p:nvPr/>
        </p:nvSpPr>
        <p:spPr>
          <a:xfrm>
            <a:off x="5277917" y="2596896"/>
            <a:ext cx="1633118" cy="585216"/>
          </a:xfrm>
          <a:prstGeom prst="rect">
            <a:avLst/>
          </a:prstGeom>
          <a:noFill/>
          <a:ln/>
        </p:spPr>
        <p:txBody>
          <a:bodyPr wrap="square" lIns="0" tIns="0" rIns="0" bIns="0" rtlCol="0" anchor="t"/>
          <a:lstStyle/>
          <a:p>
            <a:pPr indent="0" marL="0">
              <a:lnSpc>
                <a:spcPts val="1700"/>
              </a:lnSpc>
              <a:buNone/>
            </a:pPr>
            <a:r>
              <a:rPr lang="en-US" sz="1300" b="1" dirty="0">
                <a:solidFill>
                  <a:srgbClr val="F0A34A"/>
                </a:solidFill>
                <a:latin typeface="Calibri" pitchFamily="34" charset="0"/>
                <a:ea typeface="Calibri" pitchFamily="34" charset="-122"/>
                <a:cs typeface="Calibri" pitchFamily="34" charset="-120"/>
              </a:rPr>
              <a:t>Consistency is a safety property</a:t>
            </a:r>
            <a:endParaRPr lang="en-US" sz="1300" dirty="0"/>
          </a:p>
        </p:txBody>
      </p:sp>
      <p:sp>
        <p:nvSpPr>
          <p:cNvPr id="18" name="Text 16"/>
          <p:cNvSpPr txBox="1"/>
          <p:nvPr/>
        </p:nvSpPr>
        <p:spPr>
          <a:xfrm>
            <a:off x="5277917" y="3236976"/>
            <a:ext cx="1633118" cy="914400"/>
          </a:xfrm>
          <a:prstGeom prst="rect">
            <a:avLst/>
          </a:prstGeom>
          <a:noFill/>
          <a:ln/>
        </p:spPr>
        <p:txBody>
          <a:bodyPr wrap="square" lIns="0" tIns="0" rIns="0" bIns="0" rtlCol="0" anchor="t"/>
          <a:lstStyle/>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Under non-determinism, conflicting guidance is the mechanism that produces two answers to one question.</a:t>
            </a:r>
            <a:endParaRPr lang="en-US" sz="1000" dirty="0"/>
          </a:p>
        </p:txBody>
      </p:sp>
      <p:sp>
        <p:nvSpPr>
          <p:cNvPr id="19" name="Shape 17"/>
          <p:cNvSpPr/>
          <p:nvPr/>
        </p:nvSpPr>
        <p:spPr>
          <a:xfrm>
            <a:off x="7258507" y="2011680"/>
            <a:ext cx="1962302" cy="2286000"/>
          </a:xfrm>
          <a:prstGeom prst="roundRect">
            <a:avLst>
              <a:gd name="adj" fmla="val 2796"/>
            </a:avLst>
          </a:prstGeom>
          <a:solidFill>
            <a:srgbClr val="17293F"/>
          </a:solidFill>
          <a:ln w="9525">
            <a:solidFill>
              <a:srgbClr val="2A3F58"/>
            </a:solidFill>
            <a:prstDash val="solid"/>
          </a:ln>
        </p:spPr>
      </p:sp>
      <p:sp>
        <p:nvSpPr>
          <p:cNvPr id="20" name="Shape 18"/>
          <p:cNvSpPr/>
          <p:nvPr/>
        </p:nvSpPr>
        <p:spPr>
          <a:xfrm>
            <a:off x="7423099" y="2194560"/>
            <a:ext cx="292608" cy="292608"/>
          </a:xfrm>
          <a:prstGeom prst="roundRect">
            <a:avLst>
              <a:gd name="adj" fmla="val 15625"/>
            </a:avLst>
          </a:prstGeom>
          <a:solidFill>
            <a:srgbClr val="E8552D"/>
          </a:solidFill>
          <a:ln/>
        </p:spPr>
      </p:sp>
      <p:sp>
        <p:nvSpPr>
          <p:cNvPr id="21" name="Text 19"/>
          <p:cNvSpPr txBox="1"/>
          <p:nvPr/>
        </p:nvSpPr>
        <p:spPr>
          <a:xfrm>
            <a:off x="7423099" y="219456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2" name="Text 20"/>
          <p:cNvSpPr txBox="1"/>
          <p:nvPr/>
        </p:nvSpPr>
        <p:spPr>
          <a:xfrm>
            <a:off x="7423099" y="2596896"/>
            <a:ext cx="1633118" cy="585216"/>
          </a:xfrm>
          <a:prstGeom prst="rect">
            <a:avLst/>
          </a:prstGeom>
          <a:noFill/>
          <a:ln/>
        </p:spPr>
        <p:txBody>
          <a:bodyPr wrap="square" lIns="0" tIns="0" rIns="0" bIns="0" rtlCol="0" anchor="t"/>
          <a:lstStyle/>
          <a:p>
            <a:pPr indent="0" marL="0">
              <a:lnSpc>
                <a:spcPts val="1700"/>
              </a:lnSpc>
              <a:buNone/>
            </a:pPr>
            <a:r>
              <a:rPr lang="en-US" sz="1300" b="1" dirty="0">
                <a:solidFill>
                  <a:srgbClr val="F0A34A"/>
                </a:solidFill>
                <a:latin typeface="Calibri" pitchFamily="34" charset="0"/>
                <a:ea typeface="Calibri" pitchFamily="34" charset="-122"/>
                <a:cs typeface="Calibri" pitchFamily="34" charset="-120"/>
              </a:rPr>
              <a:t>Attachment is not security</a:t>
            </a:r>
            <a:endParaRPr lang="en-US" sz="1300" dirty="0"/>
          </a:p>
        </p:txBody>
      </p:sp>
      <p:sp>
        <p:nvSpPr>
          <p:cNvPr id="23" name="Text 21"/>
          <p:cNvSpPr txBox="1"/>
          <p:nvPr/>
        </p:nvSpPr>
        <p:spPr>
          <a:xfrm>
            <a:off x="7423099" y="3236976"/>
            <a:ext cx="1633118" cy="914400"/>
          </a:xfrm>
          <a:prstGeom prst="rect">
            <a:avLst/>
          </a:prstGeom>
          <a:noFill/>
          <a:ln/>
        </p:spPr>
        <p:txBody>
          <a:bodyPr wrap="square" lIns="0" tIns="0" rIns="0" bIns="0" rtlCol="0" anchor="t"/>
          <a:lstStyle/>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Genie can query beyond the attached tables. Unity Catalog grants, row filters and column masks are the control.</a:t>
            </a:r>
            <a:endParaRPr lang="en-US" sz="1000" dirty="0"/>
          </a:p>
        </p:txBody>
      </p:sp>
      <p:sp>
        <p:nvSpPr>
          <p:cNvPr id="24" name="Shape 22"/>
          <p:cNvSpPr/>
          <p:nvPr/>
        </p:nvSpPr>
        <p:spPr>
          <a:xfrm>
            <a:off x="9403690" y="2011680"/>
            <a:ext cx="1962302" cy="2286000"/>
          </a:xfrm>
          <a:prstGeom prst="roundRect">
            <a:avLst>
              <a:gd name="adj" fmla="val 2796"/>
            </a:avLst>
          </a:prstGeom>
          <a:solidFill>
            <a:srgbClr val="17293F"/>
          </a:solidFill>
          <a:ln w="9525">
            <a:solidFill>
              <a:srgbClr val="2A3F58"/>
            </a:solidFill>
            <a:prstDash val="solid"/>
          </a:ln>
        </p:spPr>
      </p:sp>
      <p:sp>
        <p:nvSpPr>
          <p:cNvPr id="25" name="Shape 23"/>
          <p:cNvSpPr/>
          <p:nvPr/>
        </p:nvSpPr>
        <p:spPr>
          <a:xfrm>
            <a:off x="9568282" y="2194560"/>
            <a:ext cx="292608" cy="292608"/>
          </a:xfrm>
          <a:prstGeom prst="roundRect">
            <a:avLst>
              <a:gd name="adj" fmla="val 15625"/>
            </a:avLst>
          </a:prstGeom>
          <a:solidFill>
            <a:srgbClr val="E8552D"/>
          </a:solidFill>
          <a:ln/>
        </p:spPr>
      </p:sp>
      <p:sp>
        <p:nvSpPr>
          <p:cNvPr id="26" name="Text 24"/>
          <p:cNvSpPr txBox="1"/>
          <p:nvPr/>
        </p:nvSpPr>
        <p:spPr>
          <a:xfrm>
            <a:off x="9568282" y="219456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7" name="Text 25"/>
          <p:cNvSpPr txBox="1"/>
          <p:nvPr/>
        </p:nvSpPr>
        <p:spPr>
          <a:xfrm>
            <a:off x="9568282" y="2596896"/>
            <a:ext cx="1633118" cy="585216"/>
          </a:xfrm>
          <a:prstGeom prst="rect">
            <a:avLst/>
          </a:prstGeom>
          <a:noFill/>
          <a:ln/>
        </p:spPr>
        <p:txBody>
          <a:bodyPr wrap="square" lIns="0" tIns="0" rIns="0" bIns="0" rtlCol="0" anchor="t"/>
          <a:lstStyle/>
          <a:p>
            <a:pPr indent="0" marL="0">
              <a:lnSpc>
                <a:spcPts val="1700"/>
              </a:lnSpc>
              <a:buNone/>
            </a:pPr>
            <a:r>
              <a:rPr lang="en-US" sz="1300" b="1" dirty="0">
                <a:solidFill>
                  <a:srgbClr val="F0A34A"/>
                </a:solidFill>
                <a:latin typeface="Calibri" pitchFamily="34" charset="0"/>
                <a:ea typeface="Calibri" pitchFamily="34" charset="-122"/>
                <a:cs typeface="Calibri" pitchFamily="34" charset="-120"/>
              </a:rPr>
              <a:t>Curation is a role, not a task</a:t>
            </a:r>
            <a:endParaRPr lang="en-US" sz="1300" dirty="0"/>
          </a:p>
        </p:txBody>
      </p:sp>
      <p:sp>
        <p:nvSpPr>
          <p:cNvPr id="28" name="Text 26"/>
          <p:cNvSpPr txBox="1"/>
          <p:nvPr/>
        </p:nvSpPr>
        <p:spPr>
          <a:xfrm>
            <a:off x="9568282" y="3236976"/>
            <a:ext cx="1633118" cy="914400"/>
          </a:xfrm>
          <a:prstGeom prst="rect">
            <a:avLst/>
          </a:prstGeom>
          <a:noFill/>
          <a:ln/>
        </p:spPr>
        <p:txBody>
          <a:bodyPr wrap="square" lIns="0" tIns="0" rIns="0" bIns="0" rtlCol="0" anchor="t"/>
          <a:lstStyle/>
          <a:p>
            <a:pPr indent="0" marL="0">
              <a:lnSpc>
                <a:spcPts val="1350"/>
              </a:lnSpc>
              <a:buNone/>
            </a:pPr>
            <a:r>
              <a:rPr lang="en-US" sz="1000" dirty="0">
                <a:solidFill>
                  <a:srgbClr val="B7C7D8"/>
                </a:solidFill>
                <a:latin typeface="Calibri" pitchFamily="34" charset="0"/>
                <a:ea typeface="Calibri" pitchFamily="34" charset="-122"/>
                <a:cs typeface="Calibri" pitchFamily="34" charset="-120"/>
              </a:rPr>
              <a:t>The agent accumulates knowledge over time. Benchmarks, the Monitor tab and Genie Code are how that accumulation stays honest.</a:t>
            </a:r>
            <a:endParaRPr lang="en-US" sz="1000" dirty="0"/>
          </a:p>
        </p:txBody>
      </p:sp>
      <p:sp>
        <p:nvSpPr>
          <p:cNvPr id="29" name="Shape 27"/>
          <p:cNvSpPr/>
          <p:nvPr/>
        </p:nvSpPr>
        <p:spPr>
          <a:xfrm>
            <a:off x="822960" y="4572000"/>
            <a:ext cx="10543032" cy="1298448"/>
          </a:xfrm>
          <a:prstGeom prst="roundRect">
            <a:avLst>
              <a:gd name="adj" fmla="val 4225"/>
            </a:avLst>
          </a:prstGeom>
          <a:solidFill>
            <a:srgbClr val="16293F"/>
          </a:solidFill>
          <a:ln w="9525">
            <a:solidFill>
              <a:srgbClr val="2A3F58"/>
            </a:solidFill>
            <a:prstDash val="solid"/>
          </a:ln>
        </p:spPr>
      </p:sp>
      <p:sp>
        <p:nvSpPr>
          <p:cNvPr id="30" name="Text 28"/>
          <p:cNvSpPr txBox="1"/>
          <p:nvPr/>
        </p:nvSpPr>
        <p:spPr>
          <a:xfrm>
            <a:off x="1051560" y="4736592"/>
            <a:ext cx="10058400" cy="182880"/>
          </a:xfrm>
          <a:prstGeom prst="rect">
            <a:avLst/>
          </a:prstGeom>
          <a:noFill/>
          <a:ln/>
        </p:spPr>
        <p:txBody>
          <a:bodyPr wrap="square" lIns="0" tIns="0" rIns="0" bIns="0" rtlCol="0" anchor="t"/>
          <a:lstStyle/>
          <a:p>
            <a:pPr indent="0" marL="0">
              <a:buNone/>
            </a:pPr>
            <a:r>
              <a:rPr lang="en-US" sz="850" b="1" spc="160" kern="0" dirty="0">
                <a:solidFill>
                  <a:srgbClr val="E8552D"/>
                </a:solidFill>
                <a:latin typeface="Calibri" pitchFamily="34" charset="0"/>
                <a:ea typeface="Calibri" pitchFamily="34" charset="-122"/>
                <a:cs typeface="Calibri" pitchFamily="34" charset="-120"/>
              </a:rPr>
              <a:t>SOURCE PAGES</a:t>
            </a:r>
            <a:endParaRPr lang="en-US" sz="850" dirty="0"/>
          </a:p>
        </p:txBody>
      </p:sp>
      <p:sp>
        <p:nvSpPr>
          <p:cNvPr id="31" name="Text 29"/>
          <p:cNvSpPr txBox="1"/>
          <p:nvPr/>
        </p:nvSpPr>
        <p:spPr>
          <a:xfrm>
            <a:off x="1051560" y="4974336"/>
            <a:ext cx="10058400" cy="777240"/>
          </a:xfrm>
          <a:prstGeom prst="rect">
            <a:avLst/>
          </a:prstGeom>
          <a:noFill/>
          <a:ln/>
        </p:spPr>
        <p:txBody>
          <a:bodyPr wrap="square" lIns="0" tIns="0" rIns="0" bIns="0" rtlCol="0" anchor="t"/>
          <a:lstStyle/>
          <a:p>
            <a:pPr indent="0" marL="0">
              <a:lnSpc>
                <a:spcPts val="1450"/>
              </a:lnSpc>
              <a:buNone/>
            </a:pPr>
            <a:r>
              <a:rPr lang="en-US" sz="1000" dirty="0">
                <a:solidFill>
                  <a:srgbClr val="B7C7D8"/>
                </a:solidFill>
                <a:latin typeface="Calibri" pitchFamily="34" charset="0"/>
                <a:ea typeface="Calibri" pitchFamily="34" charset="-122"/>
                <a:cs typeface="Calibri" pitchFamily="34" charset="-120"/>
              </a:rPr>
              <a:t>OFF-1  Curate an effective Genie Agent  ·  OFF-2  Tune Genie Agent quality  ·  OFF-3  Create and manage a Genie Agent</a:t>
            </a:r>
            <a:endParaRPr lang="en-US" sz="1000" dirty="0"/>
          </a:p>
          <a:p>
            <a:pPr indent="0" marL="0">
              <a:lnSpc>
                <a:spcPts val="1450"/>
              </a:lnSpc>
              <a:buNone/>
            </a:pPr>
            <a:r>
              <a:rPr lang="en-US" sz="1000" dirty="0">
                <a:solidFill>
                  <a:srgbClr val="B7C7D8"/>
                </a:solidFill>
                <a:latin typeface="Calibri" pitchFamily="34" charset="0"/>
                <a:ea typeface="Calibri" pitchFamily="34" charset="-122"/>
                <a:cs typeface="Calibri" pitchFamily="34" charset="-120"/>
              </a:rPr>
              <a:t>OFF-4  Test and monitor a Genie Agent  ·  OFF-5  Troubleshoot Genie Agents  ·  OFF-6  Use the Genie Agents API</a:t>
            </a:r>
            <a:endParaRPr lang="en-US" sz="1000" dirty="0"/>
          </a:p>
          <a:p>
            <a:pPr indent="0" marL="0">
              <a:lnSpc>
                <a:spcPts val="1450"/>
              </a:lnSpc>
              <a:buNone/>
            </a:pPr>
            <a:r>
              <a:rPr lang="en-US" sz="1000" dirty="0">
                <a:solidFill>
                  <a:srgbClr val="B7C7D8"/>
                </a:solidFill>
                <a:latin typeface="Calibri" pitchFamily="34" charset="0"/>
                <a:ea typeface="Calibri" pitchFamily="34" charset="-122"/>
                <a:cs typeface="Calibri" pitchFamily="34" charset="-120"/>
              </a:rPr>
              <a:t>GH-1  create-genie-agent.md — databricks/databricks-agent-skills, skills/databricks-genie-agents/references/</a:t>
            </a:r>
            <a:endParaRPr lang="en-US" sz="1000" dirty="0"/>
          </a:p>
        </p:txBody>
      </p:sp>
      <p:sp>
        <p:nvSpPr>
          <p:cNvPr id="32" name="Text 30"/>
          <p:cNvSpPr txBox="1"/>
          <p:nvPr/>
        </p:nvSpPr>
        <p:spPr>
          <a:xfrm>
            <a:off x="822960" y="6437376"/>
            <a:ext cx="8229600" cy="201168"/>
          </a:xfrm>
          <a:prstGeom prst="rect">
            <a:avLst/>
          </a:prstGeom>
          <a:noFill/>
          <a:ln/>
        </p:spPr>
        <p:txBody>
          <a:bodyPr wrap="square" lIns="0" tIns="0" rIns="0" bIns="0" rtlCol="0" anchor="t"/>
          <a:lstStyle/>
          <a:p>
            <a:pPr indent="0" marL="0">
              <a:buNone/>
            </a:pPr>
            <a:r>
              <a:rPr lang="en-US" sz="800" dirty="0">
                <a:solidFill>
                  <a:srgbClr val="5C7085"/>
                </a:solidFill>
                <a:latin typeface="Calibri" pitchFamily="34" charset="0"/>
                <a:ea typeface="Calibri" pitchFamily="34" charset="-122"/>
                <a:cs typeface="Calibri" pitchFamily="34" charset="-120"/>
              </a:rPr>
              <a:t>Databricks Genie Agents — Enterprise Best Practices  ·  v2, verified 19 September 2026</a:t>
            </a:r>
            <a:endParaRPr lang="en-US" sz="800" dirty="0"/>
          </a:p>
        </p:txBody>
      </p:sp>
      <p:sp>
        <p:nvSpPr>
          <p:cNvPr id="33" name="Text 31"/>
          <p:cNvSpPr txBox="1"/>
          <p:nvPr/>
        </p:nvSpPr>
        <p:spPr>
          <a:xfrm>
            <a:off x="11201400" y="6437376"/>
            <a:ext cx="484632" cy="201168"/>
          </a:xfrm>
          <a:prstGeom prst="rect">
            <a:avLst/>
          </a:prstGeom>
          <a:noFill/>
          <a:ln/>
        </p:spPr>
        <p:txBody>
          <a:bodyPr wrap="square" lIns="0" tIns="0" rIns="0" bIns="0" rtlCol="0" anchor="t"/>
          <a:lstStyle/>
          <a:p>
            <a:pPr algn="r" indent="0" marL="0">
              <a:buNone/>
            </a:pPr>
            <a:r>
              <a:rPr lang="en-US" sz="800" dirty="0">
                <a:solidFill>
                  <a:srgbClr val="5C7085"/>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Genie Agents - Enterprise Best Practices</dc:title>
  <dc:subject>PptxGenJS Presentation</dc:subject>
  <dc:creator>Data Platform Enablement</dc:creator>
  <cp:lastModifiedBy>Data Platform Enablement</cp:lastModifiedBy>
  <cp:revision>1</cp:revision>
  <dcterms:created xsi:type="dcterms:W3CDTF">2026-09-19T21:00:09Z</dcterms:created>
  <dcterms:modified xsi:type="dcterms:W3CDTF">2026-09-19T21:00:09Z</dcterms:modified>
</cp:coreProperties>
</file>